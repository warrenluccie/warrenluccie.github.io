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5" r:id="rId4"/>
    <p:sldId id="266" r:id="rId5"/>
    <p:sldId id="276" r:id="rId6"/>
    <p:sldId id="277" r:id="rId7"/>
    <p:sldId id="258" r:id="rId8"/>
    <p:sldId id="259" r:id="rId9"/>
    <p:sldId id="260" r:id="rId10"/>
    <p:sldId id="261" r:id="rId11"/>
    <p:sldId id="262" r:id="rId12"/>
    <p:sldId id="263" r:id="rId13"/>
    <p:sldId id="275" r:id="rId14"/>
    <p:sldId id="264" r:id="rId15"/>
    <p:sldId id="270" r:id="rId16"/>
    <p:sldId id="269" r:id="rId17"/>
    <p:sldId id="271" r:id="rId18"/>
    <p:sldId id="272" r:id="rId19"/>
    <p:sldId id="273" r:id="rId20"/>
    <p:sldId id="274" r:id="rId2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032"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13F28DD7-2F67-4BCE-B2D9-C881DD109DEC}" type="datetimeFigureOut">
              <a:rPr lang="zh-CN" altLang="en-US" smtClean="0"/>
              <a:pPr/>
              <a:t>2014/5/30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FFCB-1962-4EDC-95A3-16FF5890E3E0}"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3F28DD7-2F67-4BCE-B2D9-C881DD109DEC}" type="datetimeFigureOut">
              <a:rPr lang="zh-CN" altLang="en-US" smtClean="0"/>
              <a:pPr/>
              <a:t>2014/5/30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FFCB-1962-4EDC-95A3-16FF5890E3E0}"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13F28DD7-2F67-4BCE-B2D9-C881DD109DEC}" type="datetimeFigureOut">
              <a:rPr lang="zh-CN" altLang="en-US" smtClean="0"/>
              <a:pPr/>
              <a:t>2014/5/30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FFCB-1962-4EDC-95A3-16FF5890E3E0}"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13F28DD7-2F67-4BCE-B2D9-C881DD109DEC}" type="datetimeFigureOut">
              <a:rPr lang="zh-CN" altLang="en-US" smtClean="0"/>
              <a:pPr/>
              <a:t>2014/5/30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A54FFCB-1962-4EDC-95A3-16FF5890E3E0}"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13F28DD7-2F67-4BCE-B2D9-C881DD109DEC}" type="datetimeFigureOut">
              <a:rPr lang="zh-CN" altLang="en-US" smtClean="0"/>
              <a:pPr/>
              <a:t>2014/5/30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A54FFCB-1962-4EDC-95A3-16FF5890E3E0}"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13F28DD7-2F67-4BCE-B2D9-C881DD109DEC}" type="datetimeFigureOut">
              <a:rPr lang="zh-CN" altLang="en-US" smtClean="0"/>
              <a:pPr/>
              <a:t>2014/5/30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A54FFCB-1962-4EDC-95A3-16FF5890E3E0}"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3F28DD7-2F67-4BCE-B2D9-C881DD109DEC}" type="datetimeFigureOut">
              <a:rPr lang="zh-CN" altLang="en-US" smtClean="0"/>
              <a:pPr/>
              <a:t>2014/5/30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A54FFCB-1962-4EDC-95A3-16FF5890E3E0}"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13F28DD7-2F67-4BCE-B2D9-C881DD109DEC}" type="datetimeFigureOut">
              <a:rPr lang="zh-CN" altLang="en-US" smtClean="0"/>
              <a:pPr/>
              <a:t>2014/5/30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A54FFCB-1962-4EDC-95A3-16FF5890E3E0}"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13F28DD7-2F67-4BCE-B2D9-C881DD109DEC}" type="datetimeFigureOut">
              <a:rPr lang="zh-CN" altLang="en-US" smtClean="0"/>
              <a:pPr/>
              <a:t>2014/5/30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A54FFCB-1962-4EDC-95A3-16FF5890E3E0}"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3F28DD7-2F67-4BCE-B2D9-C881DD109DEC}" type="datetimeFigureOut">
              <a:rPr lang="zh-CN" altLang="en-US" smtClean="0"/>
              <a:pPr/>
              <a:t>2014/5/30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FFCB-1962-4EDC-95A3-16FF5890E3E0}"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3F28DD7-2F67-4BCE-B2D9-C881DD109DEC}" type="datetimeFigureOut">
              <a:rPr lang="zh-CN" altLang="en-US" smtClean="0"/>
              <a:pPr/>
              <a:t>2014/5/30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FFCB-1962-4EDC-95A3-16FF5890E3E0}"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srcRect/>
          <a:tile tx="0" ty="0" sx="100000" sy="100000" flip="none" algn="tl"/>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F28DD7-2F67-4BCE-B2D9-C881DD109DEC}" type="datetimeFigureOut">
              <a:rPr lang="zh-CN" altLang="en-US" smtClean="0"/>
              <a:pPr/>
              <a:t>2014/5/30</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54FFCB-1962-4EDC-95A3-16FF5890E3E0}"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395536" y="116632"/>
            <a:ext cx="7772400" cy="1470025"/>
          </a:xfrm>
        </p:spPr>
        <p:txBody>
          <a:bodyPr/>
          <a:lstStyle/>
          <a:p>
            <a:r>
              <a:rPr lang="zh-CN" altLang="en-US" b="1" dirty="0"/>
              <a:t>金属锌</a:t>
            </a:r>
          </a:p>
        </p:txBody>
      </p:sp>
      <p:sp>
        <p:nvSpPr>
          <p:cNvPr id="5" name="TextBox 4"/>
          <p:cNvSpPr txBox="1"/>
          <p:nvPr/>
        </p:nvSpPr>
        <p:spPr>
          <a:xfrm>
            <a:off x="1547664" y="1412776"/>
            <a:ext cx="4680520" cy="5262979"/>
          </a:xfrm>
          <a:prstGeom prst="rect">
            <a:avLst/>
          </a:prstGeom>
          <a:noFill/>
        </p:spPr>
        <p:txBody>
          <a:bodyPr wrap="square" rtlCol="0">
            <a:spAutoFit/>
          </a:bodyPr>
          <a:lstStyle/>
          <a:p>
            <a:pPr marL="342900" indent="-342900">
              <a:buAutoNum type="arabicPeriod"/>
            </a:pPr>
            <a:r>
              <a:rPr lang="zh-CN" altLang="en-US" sz="2800" dirty="0" smtClean="0"/>
              <a:t>     金属锌性质</a:t>
            </a:r>
            <a:endParaRPr lang="en-US" altLang="zh-CN" sz="2800" dirty="0" smtClean="0"/>
          </a:p>
          <a:p>
            <a:pPr marL="342900" indent="-342900">
              <a:buAutoNum type="arabicPeriod"/>
            </a:pPr>
            <a:endParaRPr lang="en-US" altLang="zh-CN" sz="2800" dirty="0" smtClean="0"/>
          </a:p>
          <a:p>
            <a:pPr marL="342900" indent="-342900">
              <a:buAutoNum type="arabicPeriod"/>
            </a:pPr>
            <a:r>
              <a:rPr lang="en-US" altLang="zh-CN" sz="2800" dirty="0" smtClean="0"/>
              <a:t>      </a:t>
            </a:r>
            <a:r>
              <a:rPr lang="zh-CN" altLang="en-US" sz="2800" dirty="0" smtClean="0"/>
              <a:t>锌的历史及行业发展</a:t>
            </a:r>
            <a:endParaRPr lang="en-US" altLang="zh-CN" sz="2800" dirty="0" smtClean="0"/>
          </a:p>
          <a:p>
            <a:pPr marL="342900" indent="-342900">
              <a:buAutoNum type="arabicPeriod"/>
            </a:pPr>
            <a:endParaRPr lang="en-US" altLang="zh-CN" sz="2800" dirty="0" smtClean="0"/>
          </a:p>
          <a:p>
            <a:pPr marL="342900" indent="-342900">
              <a:buAutoNum type="arabicPeriod"/>
            </a:pPr>
            <a:r>
              <a:rPr lang="zh-CN" altLang="en-US" sz="2800" dirty="0" smtClean="0"/>
              <a:t>      锌的主要用途</a:t>
            </a:r>
            <a:endParaRPr lang="en-US" altLang="zh-CN" sz="2800" dirty="0" smtClean="0"/>
          </a:p>
          <a:p>
            <a:pPr marL="342900" indent="-342900">
              <a:buAutoNum type="arabicPeriod"/>
            </a:pPr>
            <a:endParaRPr lang="en-US" altLang="zh-CN" sz="2800" dirty="0" smtClean="0"/>
          </a:p>
          <a:p>
            <a:pPr marL="342900" indent="-342900">
              <a:buAutoNum type="arabicPeriod"/>
            </a:pPr>
            <a:r>
              <a:rPr lang="zh-CN" altLang="en-US" sz="2800" dirty="0" smtClean="0"/>
              <a:t>     锌矿资源的分布情况</a:t>
            </a:r>
            <a:endParaRPr lang="en-US" altLang="zh-CN" sz="2800" dirty="0" smtClean="0"/>
          </a:p>
          <a:p>
            <a:pPr marL="342900" indent="-342900">
              <a:buAutoNum type="arabicPeriod"/>
            </a:pPr>
            <a:endParaRPr lang="en-US" altLang="zh-CN" sz="2800" dirty="0" smtClean="0"/>
          </a:p>
          <a:p>
            <a:pPr marL="342900" indent="-342900">
              <a:buAutoNum type="arabicPeriod"/>
            </a:pPr>
            <a:r>
              <a:rPr lang="en-US" altLang="zh-CN" sz="2800" dirty="0"/>
              <a:t> </a:t>
            </a:r>
            <a:r>
              <a:rPr lang="en-US" altLang="zh-CN" sz="2800" dirty="0" smtClean="0"/>
              <a:t>    </a:t>
            </a:r>
            <a:r>
              <a:rPr lang="zh-CN" altLang="en-US" sz="2800" dirty="0" smtClean="0"/>
              <a:t>锌金属近年的消费情况</a:t>
            </a:r>
            <a:endParaRPr lang="en-US" altLang="zh-CN" sz="2800" dirty="0" smtClean="0"/>
          </a:p>
          <a:p>
            <a:pPr marL="342900" indent="-342900">
              <a:buAutoNum type="arabicPeriod"/>
            </a:pPr>
            <a:endParaRPr lang="en-US" altLang="zh-CN" sz="2800" dirty="0" smtClean="0"/>
          </a:p>
          <a:p>
            <a:pPr marL="342900" indent="-342900">
              <a:buAutoNum type="arabicPeriod"/>
            </a:pPr>
            <a:r>
              <a:rPr lang="zh-CN" altLang="en-US" sz="2800" dirty="0" smtClean="0"/>
              <a:t>      再生锌行业发展现状</a:t>
            </a:r>
            <a:endParaRPr lang="en-US" altLang="zh-CN" sz="2800" dirty="0" smtClean="0"/>
          </a:p>
          <a:p>
            <a:pPr marL="342900" indent="-342900"/>
            <a:r>
              <a:rPr lang="en-US" altLang="zh-CN" sz="2800" dirty="0" smtClean="0"/>
              <a:t>    </a:t>
            </a:r>
            <a:endParaRPr lang="zh-CN" altLang="en-US" sz="2800"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par>
                          <p:cTn id="8" fill="hold">
                            <p:stCondLst>
                              <p:cond delay="2000"/>
                            </p:stCondLst>
                            <p:childTnLst>
                              <p:par>
                                <p:cTn id="9" presetID="22" presetClass="entr" presetSubtype="4"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down)">
                                      <p:cBhvr>
                                        <p:cTn id="11" dur="500"/>
                                        <p:tgtEl>
                                          <p:spTgt spid="5">
                                            <p:txEl>
                                              <p:pRg st="0" end="0"/>
                                            </p:txEl>
                                          </p:spTgt>
                                        </p:tgtEl>
                                      </p:cBhvr>
                                    </p:animEffect>
                                  </p:childTnLst>
                                </p:cTn>
                              </p:par>
                            </p:childTnLst>
                          </p:cTn>
                        </p:par>
                        <p:par>
                          <p:cTn id="12" fill="hold">
                            <p:stCondLst>
                              <p:cond delay="2500"/>
                            </p:stCondLst>
                            <p:childTnLst>
                              <p:par>
                                <p:cTn id="13" presetID="22" presetClass="entr" presetSubtype="4" fill="hold" grpId="0" nodeType="after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wipe(down)">
                                      <p:cBhvr>
                                        <p:cTn id="15" dur="500"/>
                                        <p:tgtEl>
                                          <p:spTgt spid="5">
                                            <p:txEl>
                                              <p:pRg st="2" end="2"/>
                                            </p:txEl>
                                          </p:spTgt>
                                        </p:tgtEl>
                                      </p:cBhvr>
                                    </p:animEffect>
                                  </p:childTnLst>
                                </p:cTn>
                              </p:par>
                            </p:childTnLst>
                          </p:cTn>
                        </p:par>
                        <p:par>
                          <p:cTn id="16" fill="hold">
                            <p:stCondLst>
                              <p:cond delay="3000"/>
                            </p:stCondLst>
                            <p:childTnLst>
                              <p:par>
                                <p:cTn id="17" presetID="22" presetClass="entr" presetSubtype="4" fill="hold" grpId="0" nodeType="after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wipe(down)">
                                      <p:cBhvr>
                                        <p:cTn id="19" dur="500"/>
                                        <p:tgtEl>
                                          <p:spTgt spid="5">
                                            <p:txEl>
                                              <p:pRg st="4" end="4"/>
                                            </p:txEl>
                                          </p:spTgt>
                                        </p:tgtEl>
                                      </p:cBhvr>
                                    </p:animEffect>
                                  </p:childTnLst>
                                </p:cTn>
                              </p:par>
                            </p:childTnLst>
                          </p:cTn>
                        </p:par>
                        <p:par>
                          <p:cTn id="20" fill="hold">
                            <p:stCondLst>
                              <p:cond delay="3500"/>
                            </p:stCondLst>
                            <p:childTnLst>
                              <p:par>
                                <p:cTn id="21" presetID="22" presetClass="entr" presetSubtype="4" fill="hold" grpId="0" nodeType="after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animEffect transition="in" filter="wipe(down)">
                                      <p:cBhvr>
                                        <p:cTn id="23" dur="500"/>
                                        <p:tgtEl>
                                          <p:spTgt spid="5">
                                            <p:txEl>
                                              <p:pRg st="6" end="6"/>
                                            </p:txEl>
                                          </p:spTgt>
                                        </p:tgtEl>
                                      </p:cBhvr>
                                    </p:animEffect>
                                  </p:childTnLst>
                                </p:cTn>
                              </p:par>
                            </p:childTnLst>
                          </p:cTn>
                        </p:par>
                        <p:par>
                          <p:cTn id="24" fill="hold">
                            <p:stCondLst>
                              <p:cond delay="4000"/>
                            </p:stCondLst>
                            <p:childTnLst>
                              <p:par>
                                <p:cTn id="25" presetID="22" presetClass="entr" presetSubtype="4" fill="hold" grpId="0" nodeType="after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animEffect transition="in" filter="wipe(down)">
                                      <p:cBhvr>
                                        <p:cTn id="27" dur="500"/>
                                        <p:tgtEl>
                                          <p:spTgt spid="5">
                                            <p:txEl>
                                              <p:pRg st="8" end="8"/>
                                            </p:txEl>
                                          </p:spTgt>
                                        </p:tgtEl>
                                      </p:cBhvr>
                                    </p:animEffect>
                                  </p:childTnLst>
                                </p:cTn>
                              </p:par>
                            </p:childTnLst>
                          </p:cTn>
                        </p:par>
                        <p:par>
                          <p:cTn id="28" fill="hold">
                            <p:stCondLst>
                              <p:cond delay="4500"/>
                            </p:stCondLst>
                            <p:childTnLst>
                              <p:par>
                                <p:cTn id="29" presetID="22" presetClass="entr" presetSubtype="4" fill="hold" grpId="0" nodeType="afterEffect">
                                  <p:stCondLst>
                                    <p:cond delay="0"/>
                                  </p:stCondLst>
                                  <p:childTnLst>
                                    <p:set>
                                      <p:cBhvr>
                                        <p:cTn id="30" dur="1" fill="hold">
                                          <p:stCondLst>
                                            <p:cond delay="0"/>
                                          </p:stCondLst>
                                        </p:cTn>
                                        <p:tgtEl>
                                          <p:spTgt spid="5">
                                            <p:txEl>
                                              <p:pRg st="10" end="10"/>
                                            </p:txEl>
                                          </p:spTgt>
                                        </p:tgtEl>
                                        <p:attrNameLst>
                                          <p:attrName>style.visibility</p:attrName>
                                        </p:attrNameLst>
                                      </p:cBhvr>
                                      <p:to>
                                        <p:strVal val="visible"/>
                                      </p:to>
                                    </p:set>
                                    <p:animEffect transition="in" filter="wipe(down)">
                                      <p:cBhvr>
                                        <p:cTn id="31" dur="500"/>
                                        <p:tgtEl>
                                          <p:spTgt spid="5">
                                            <p:txEl>
                                              <p:pRg st="10" end="10"/>
                                            </p:txEl>
                                          </p:spTgt>
                                        </p:tgtEl>
                                      </p:cBhvr>
                                    </p:animEffect>
                                  </p:childTnLst>
                                </p:cTn>
                              </p:par>
                            </p:childTnLst>
                          </p:cTn>
                        </p:par>
                        <p:par>
                          <p:cTn id="32" fill="hold">
                            <p:stCondLst>
                              <p:cond delay="5000"/>
                            </p:stCondLst>
                            <p:childTnLst>
                              <p:par>
                                <p:cTn id="33" presetID="22" presetClass="entr" presetSubtype="4" fill="hold" grpId="0" nodeType="afterEffect">
                                  <p:stCondLst>
                                    <p:cond delay="0"/>
                                  </p:stCondLst>
                                  <p:childTnLst>
                                    <p:set>
                                      <p:cBhvr>
                                        <p:cTn id="34" dur="1" fill="hold">
                                          <p:stCondLst>
                                            <p:cond delay="0"/>
                                          </p:stCondLst>
                                        </p:cTn>
                                        <p:tgtEl>
                                          <p:spTgt spid="5">
                                            <p:txEl>
                                              <p:pRg st="11" end="11"/>
                                            </p:txEl>
                                          </p:spTgt>
                                        </p:tgtEl>
                                        <p:attrNameLst>
                                          <p:attrName>style.visibility</p:attrName>
                                        </p:attrNameLst>
                                      </p:cBhvr>
                                      <p:to>
                                        <p:strVal val="visible"/>
                                      </p:to>
                                    </p:set>
                                    <p:animEffect transition="in" filter="wipe(down)">
                                      <p:cBhvr>
                                        <p:cTn id="35" dur="500"/>
                                        <p:tgtEl>
                                          <p:spTgt spid="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16632"/>
            <a:ext cx="8229600" cy="1301006"/>
          </a:xfrm>
        </p:spPr>
        <p:txBody>
          <a:bodyPr/>
          <a:lstStyle/>
          <a:p>
            <a:r>
              <a:rPr lang="zh-CN" altLang="en-US" b="1" dirty="0" smtClean="0"/>
              <a:t>锌</a:t>
            </a:r>
            <a:endParaRPr lang="zh-CN" altLang="en-US" b="1" dirty="0"/>
          </a:p>
        </p:txBody>
      </p:sp>
      <p:sp>
        <p:nvSpPr>
          <p:cNvPr id="3" name="内容占位符 2"/>
          <p:cNvSpPr>
            <a:spLocks noGrp="1"/>
          </p:cNvSpPr>
          <p:nvPr>
            <p:ph idx="1"/>
          </p:nvPr>
        </p:nvSpPr>
        <p:spPr>
          <a:xfrm>
            <a:off x="107504" y="1196752"/>
            <a:ext cx="4392488" cy="5661248"/>
          </a:xfrm>
        </p:spPr>
        <p:txBody>
          <a:bodyPr>
            <a:normAutofit fontScale="55000" lnSpcReduction="20000"/>
          </a:bodyPr>
          <a:lstStyle/>
          <a:p>
            <a:pPr>
              <a:buNone/>
            </a:pPr>
            <a:r>
              <a:rPr lang="zh-CN" altLang="en-US" sz="1400" dirty="0" smtClean="0"/>
              <a:t>   </a:t>
            </a:r>
            <a:r>
              <a:rPr lang="zh-CN" altLang="en-US" sz="3000" dirty="0" smtClean="0"/>
              <a:t>  </a:t>
            </a:r>
            <a:r>
              <a:rPr lang="zh-CN" altLang="en-US" sz="4000" dirty="0" smtClean="0"/>
              <a:t>   </a:t>
            </a:r>
            <a:r>
              <a:rPr lang="zh-CN" altLang="en-US" sz="5100" dirty="0" smtClean="0"/>
              <a:t>锌是一种化学元素，它的化学符号是</a:t>
            </a:r>
            <a:r>
              <a:rPr lang="en-US" altLang="zh-CN" sz="5100" dirty="0" smtClean="0"/>
              <a:t>Zn</a:t>
            </a:r>
            <a:r>
              <a:rPr lang="zh-CN" altLang="en-US" sz="5100" dirty="0" smtClean="0"/>
              <a:t>，它的原子序数是</a:t>
            </a:r>
            <a:r>
              <a:rPr lang="en-US" altLang="zh-CN" sz="5100" dirty="0" smtClean="0"/>
              <a:t>30</a:t>
            </a:r>
            <a:r>
              <a:rPr lang="zh-CN" altLang="en-US" sz="5100" dirty="0" smtClean="0"/>
              <a:t>，在化学元素周期表中位于第</a:t>
            </a:r>
            <a:r>
              <a:rPr lang="en-US" altLang="zh-CN" sz="5100" dirty="0" smtClean="0"/>
              <a:t>4</a:t>
            </a:r>
            <a:r>
              <a:rPr lang="zh-CN" altLang="en-US" sz="5100" dirty="0" smtClean="0"/>
              <a:t>周期、第</a:t>
            </a:r>
            <a:r>
              <a:rPr lang="en-US" altLang="zh-CN" sz="5100" dirty="0" smtClean="0"/>
              <a:t>IIB</a:t>
            </a:r>
            <a:r>
              <a:rPr lang="zh-CN" altLang="en-US" sz="5100" dirty="0" smtClean="0"/>
              <a:t>族 。是一种浅灰色的过渡金属。锌（</a:t>
            </a:r>
            <a:r>
              <a:rPr lang="en-US" altLang="zh-CN" sz="5100" dirty="0" smtClean="0"/>
              <a:t>Zinc</a:t>
            </a:r>
            <a:r>
              <a:rPr lang="zh-CN" altLang="en-US" sz="5100" dirty="0" smtClean="0"/>
              <a:t>）是第四</a:t>
            </a:r>
            <a:r>
              <a:rPr lang="en-US" altLang="zh-CN" sz="5100" dirty="0" smtClean="0"/>
              <a:t>"</a:t>
            </a:r>
            <a:r>
              <a:rPr lang="zh-CN" altLang="en-US" sz="5100" dirty="0" smtClean="0"/>
              <a:t>常见</a:t>
            </a:r>
            <a:r>
              <a:rPr lang="en-US" altLang="zh-CN" sz="5100" dirty="0" smtClean="0"/>
              <a:t>"</a:t>
            </a:r>
            <a:r>
              <a:rPr lang="zh-CN" altLang="en-US" sz="5100" dirty="0" smtClean="0"/>
              <a:t>的金属，仅次于铁、铝及铜，不过地壳含量最丰富的元素前几名分别是氧、硅、铝、铁、钙、钠、钾、镁。外观呈现银白色，在现代工业中对于电池制造上有不可磨灭的地位，为一相当重要的金属。</a:t>
            </a:r>
            <a:endParaRPr lang="zh-CN" altLang="en-US" sz="5100" dirty="0"/>
          </a:p>
        </p:txBody>
      </p:sp>
      <p:pic>
        <p:nvPicPr>
          <p:cNvPr id="4" name="图片 3" descr="u=2217868038,320221774&amp;fm=23&amp;gp=0.jpg"/>
          <p:cNvPicPr>
            <a:picLocks noChangeAspect="1"/>
          </p:cNvPicPr>
          <p:nvPr/>
        </p:nvPicPr>
        <p:blipFill>
          <a:blip r:embed="rId2" cstate="print"/>
          <a:stretch>
            <a:fillRect/>
          </a:stretch>
        </p:blipFill>
        <p:spPr>
          <a:xfrm>
            <a:off x="6804248" y="692696"/>
            <a:ext cx="1594808" cy="1440160"/>
          </a:xfrm>
          <a:prstGeom prst="rect">
            <a:avLst/>
          </a:prstGeom>
        </p:spPr>
      </p:pic>
      <p:pic>
        <p:nvPicPr>
          <p:cNvPr id="5" name="图片 4" descr="u=3081447350,2015577275&amp;fm=21&amp;gp=0.jpg"/>
          <p:cNvPicPr>
            <a:picLocks noChangeAspect="1"/>
          </p:cNvPicPr>
          <p:nvPr/>
        </p:nvPicPr>
        <p:blipFill>
          <a:blip r:embed="rId3" cstate="print"/>
          <a:stretch>
            <a:fillRect/>
          </a:stretch>
        </p:blipFill>
        <p:spPr>
          <a:xfrm>
            <a:off x="4572000" y="2204864"/>
            <a:ext cx="3184467" cy="1951484"/>
          </a:xfrm>
          <a:prstGeom prst="rect">
            <a:avLst/>
          </a:prstGeom>
        </p:spPr>
      </p:pic>
      <p:pic>
        <p:nvPicPr>
          <p:cNvPr id="6" name="图片 5" descr="u=3675160549,1381209771&amp;fm=23&amp;gp=0.jpg"/>
          <p:cNvPicPr>
            <a:picLocks noChangeAspect="1"/>
          </p:cNvPicPr>
          <p:nvPr/>
        </p:nvPicPr>
        <p:blipFill>
          <a:blip r:embed="rId4" cstate="print"/>
          <a:stretch>
            <a:fillRect/>
          </a:stretch>
        </p:blipFill>
        <p:spPr>
          <a:xfrm>
            <a:off x="5652120" y="4221088"/>
            <a:ext cx="3074742" cy="25202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diamond(in)">
                                      <p:cBhvr>
                                        <p:cTn id="13" dur="20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12"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strips(downLeft)">
                                      <p:cBhvr>
                                        <p:cTn id="18" dur="1000"/>
                                        <p:tgtEl>
                                          <p:spTgt spid="4"/>
                                        </p:tgtEl>
                                      </p:cBhvr>
                                    </p:animEffect>
                                  </p:childTnLst>
                                </p:cTn>
                              </p:par>
                            </p:childTnLst>
                          </p:cTn>
                        </p:par>
                        <p:par>
                          <p:cTn id="19" fill="hold">
                            <p:stCondLst>
                              <p:cond delay="1000"/>
                            </p:stCondLst>
                            <p:childTnLst>
                              <p:par>
                                <p:cTn id="20" presetID="4" presetClass="entr" presetSubtype="16"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ox(in)">
                                      <p:cBhvr>
                                        <p:cTn id="22" dur="1000"/>
                                        <p:tgtEl>
                                          <p:spTgt spid="5"/>
                                        </p:tgtEl>
                                      </p:cBhvr>
                                    </p:animEffect>
                                  </p:childTnLst>
                                </p:cTn>
                              </p:par>
                            </p:childTnLst>
                          </p:cTn>
                        </p:par>
                        <p:par>
                          <p:cTn id="23" fill="hold">
                            <p:stCondLst>
                              <p:cond delay="2000"/>
                            </p:stCondLst>
                            <p:childTnLst>
                              <p:par>
                                <p:cTn id="24" presetID="6" presetClass="entr" presetSubtype="16" fill="hold"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circle(in)">
                                      <p:cBhvr>
                                        <p:cTn id="2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锌的发展历史</a:t>
            </a:r>
            <a:endParaRPr lang="zh-CN" altLang="en-US" b="1" dirty="0"/>
          </a:p>
        </p:txBody>
      </p:sp>
      <p:sp>
        <p:nvSpPr>
          <p:cNvPr id="3" name="内容占位符 2"/>
          <p:cNvSpPr>
            <a:spLocks noGrp="1"/>
          </p:cNvSpPr>
          <p:nvPr>
            <p:ph idx="1"/>
          </p:nvPr>
        </p:nvSpPr>
        <p:spPr>
          <a:xfrm>
            <a:off x="457200" y="1600200"/>
            <a:ext cx="5915000" cy="5257800"/>
          </a:xfrm>
        </p:spPr>
        <p:txBody>
          <a:bodyPr>
            <a:normAutofit fontScale="85000" lnSpcReduction="10000"/>
          </a:bodyPr>
          <a:lstStyle/>
          <a:p>
            <a:r>
              <a:rPr lang="zh-CN" altLang="en-US" dirty="0" smtClean="0"/>
              <a:t>锌是人类自远古时就知道其化合物的元素之一。世界上最早发现并使用锌的国家是中国</a:t>
            </a:r>
          </a:p>
          <a:p>
            <a:r>
              <a:rPr lang="zh-CN" altLang="en-US" dirty="0" smtClean="0"/>
              <a:t>在古代最先被人们所利用的是锌矿石和铜熔化制得的合金</a:t>
            </a:r>
            <a:r>
              <a:rPr lang="en-US" altLang="zh-CN" dirty="0" smtClean="0"/>
              <a:t>-</a:t>
            </a:r>
            <a:r>
              <a:rPr lang="zh-CN" altLang="en-US" dirty="0" smtClean="0"/>
              <a:t>黄铜。金属状锌的获得比铜、铁、锡、铅要晚得多，一般认为是由于碳和锌矿供热时，温度很快高达</a:t>
            </a:r>
            <a:r>
              <a:rPr lang="en-US" altLang="zh-CN" dirty="0" smtClean="0"/>
              <a:t>1000℃</a:t>
            </a:r>
            <a:r>
              <a:rPr lang="zh-CN" altLang="en-US" dirty="0" smtClean="0"/>
              <a:t>以上，而金属锌的沸点是</a:t>
            </a:r>
            <a:r>
              <a:rPr lang="en-US" altLang="zh-CN" dirty="0" smtClean="0"/>
              <a:t>906℃</a:t>
            </a:r>
            <a:r>
              <a:rPr lang="zh-CN" altLang="en-US" dirty="0" smtClean="0"/>
              <a:t>，故锌即成为蒸气状态，随烟散失，不易被古代人们所察觉，只有当人们掌握了冷凝气体的方法后，单质锌才有可能被取得。</a:t>
            </a:r>
          </a:p>
        </p:txBody>
      </p:sp>
      <p:pic>
        <p:nvPicPr>
          <p:cNvPr id="4" name="图片 3" descr="his1.jpg"/>
          <p:cNvPicPr>
            <a:picLocks noChangeAspect="1"/>
          </p:cNvPicPr>
          <p:nvPr/>
        </p:nvPicPr>
        <p:blipFill>
          <a:blip r:embed="rId2" cstate="print"/>
          <a:stretch>
            <a:fillRect/>
          </a:stretch>
        </p:blipFill>
        <p:spPr>
          <a:xfrm>
            <a:off x="6372200" y="1772816"/>
            <a:ext cx="1905000" cy="1323975"/>
          </a:xfrm>
          <a:prstGeom prst="rect">
            <a:avLst/>
          </a:prstGeom>
        </p:spPr>
      </p:pic>
      <p:pic>
        <p:nvPicPr>
          <p:cNvPr id="5" name="图片 4" descr="u=2923119076,2302364139&amp;fm=23&amp;gp=0.jpg"/>
          <p:cNvPicPr>
            <a:picLocks noChangeAspect="1"/>
          </p:cNvPicPr>
          <p:nvPr/>
        </p:nvPicPr>
        <p:blipFill>
          <a:blip r:embed="rId3" cstate="print"/>
          <a:stretch>
            <a:fillRect/>
          </a:stretch>
        </p:blipFill>
        <p:spPr>
          <a:xfrm>
            <a:off x="6372200" y="3356992"/>
            <a:ext cx="2476500" cy="2857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1" dur="500"/>
                                        <p:tgtEl>
                                          <p:spTgt spid="3">
                                            <p:txEl>
                                              <p:pRg st="0" end="0"/>
                                            </p:txEl>
                                          </p:spTgt>
                                        </p:tgtEl>
                                      </p:cBhvr>
                                    </p:animEffect>
                                  </p:childTnLst>
                                </p:cTn>
                              </p:par>
                            </p:childTnLst>
                          </p:cTn>
                        </p:par>
                        <p:par>
                          <p:cTn id="12" fill="hold">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6"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Horizontal)">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p:cTn id="25" dur="1000" fill="hold"/>
                                        <p:tgtEl>
                                          <p:spTgt spid="5"/>
                                        </p:tgtEl>
                                        <p:attrNameLst>
                                          <p:attrName>ppt_w</p:attrName>
                                        </p:attrNameLst>
                                      </p:cBhvr>
                                      <p:tavLst>
                                        <p:tav tm="0">
                                          <p:val>
                                            <p:strVal val="#ppt_w*0.70"/>
                                          </p:val>
                                        </p:tav>
                                        <p:tav tm="100000">
                                          <p:val>
                                            <p:strVal val="#ppt_w"/>
                                          </p:val>
                                        </p:tav>
                                      </p:tavLst>
                                    </p:anim>
                                    <p:anim calcmode="lin" valueType="num">
                                      <p:cBhvr>
                                        <p:cTn id="26" dur="1000" fill="hold"/>
                                        <p:tgtEl>
                                          <p:spTgt spid="5"/>
                                        </p:tgtEl>
                                        <p:attrNameLst>
                                          <p:attrName>ppt_h</p:attrName>
                                        </p:attrNameLst>
                                      </p:cBhvr>
                                      <p:tavLst>
                                        <p:tav tm="0">
                                          <p:val>
                                            <p:strVal val="#ppt_h"/>
                                          </p:val>
                                        </p:tav>
                                        <p:tav tm="100000">
                                          <p:val>
                                            <p:strVal val="#ppt_h"/>
                                          </p:val>
                                        </p:tav>
                                      </p:tavLst>
                                    </p:anim>
                                    <p:animEffect transition="in" filter="fade">
                                      <p:cBhvr>
                                        <p:cTn id="2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075240" cy="706090"/>
          </a:xfrm>
        </p:spPr>
        <p:txBody>
          <a:bodyPr>
            <a:normAutofit fontScale="90000"/>
          </a:bodyPr>
          <a:lstStyle/>
          <a:p>
            <a:r>
              <a:rPr lang="zh-CN" altLang="en-US" b="1" dirty="0" smtClean="0"/>
              <a:t>锌冶炼史</a:t>
            </a:r>
            <a:endParaRPr lang="zh-CN" altLang="en-US" b="1" dirty="0"/>
          </a:p>
        </p:txBody>
      </p:sp>
      <p:sp>
        <p:nvSpPr>
          <p:cNvPr id="3" name="内容占位符 2"/>
          <p:cNvSpPr>
            <a:spLocks noGrp="1"/>
          </p:cNvSpPr>
          <p:nvPr>
            <p:ph idx="1"/>
          </p:nvPr>
        </p:nvSpPr>
        <p:spPr>
          <a:xfrm>
            <a:off x="179512" y="1052736"/>
            <a:ext cx="8748464" cy="6021288"/>
          </a:xfrm>
        </p:spPr>
        <p:txBody>
          <a:bodyPr>
            <a:normAutofit fontScale="62500" lnSpcReduction="20000"/>
          </a:bodyPr>
          <a:lstStyle/>
          <a:p>
            <a:r>
              <a:rPr lang="zh-CN" altLang="en-US" sz="3800" dirty="0" smtClean="0"/>
              <a:t>据文献记载，印度是世界上最早炼锌的国家，可追溯到公元</a:t>
            </a:r>
            <a:r>
              <a:rPr lang="en-US" altLang="zh-CN" sz="3800" dirty="0" smtClean="0"/>
              <a:t>1025</a:t>
            </a:r>
            <a:r>
              <a:rPr lang="zh-CN" altLang="en-US" sz="3800" dirty="0" smtClean="0"/>
              <a:t>年</a:t>
            </a:r>
            <a:r>
              <a:rPr lang="en-US" altLang="zh-CN" sz="3800" dirty="0" smtClean="0"/>
              <a:t>——1280</a:t>
            </a:r>
            <a:r>
              <a:rPr lang="zh-CN" altLang="en-US" sz="3800" dirty="0" smtClean="0"/>
              <a:t>年，方法是与中国完全相反的“上火下凝”式的蒸馏法。</a:t>
            </a:r>
            <a:endParaRPr lang="en-US" altLang="zh-CN" sz="3800" dirty="0" smtClean="0"/>
          </a:p>
          <a:p>
            <a:endParaRPr lang="en-US" altLang="zh-CN" sz="3800" dirty="0" smtClean="0"/>
          </a:p>
          <a:p>
            <a:r>
              <a:rPr lang="zh-CN" altLang="en-US" sz="3800" dirty="0" smtClean="0"/>
              <a:t>明朝末年宋应星所著的</a:t>
            </a:r>
            <a:r>
              <a:rPr lang="en-US" altLang="zh-CN" sz="3800" dirty="0" smtClean="0"/>
              <a:t>《</a:t>
            </a:r>
            <a:r>
              <a:rPr lang="zh-CN" altLang="en-US" sz="3800" dirty="0" smtClean="0"/>
              <a:t>天工开物</a:t>
            </a:r>
            <a:r>
              <a:rPr lang="en-US" altLang="zh-CN" sz="3800" dirty="0" smtClean="0"/>
              <a:t>》</a:t>
            </a:r>
            <a:r>
              <a:rPr lang="zh-CN" altLang="en-US" sz="3800" dirty="0" smtClean="0"/>
              <a:t>中记载了世界上最早的炼锌技术。生产过程非常简单，将炉甘石（菱锌矿石）装满在陶罐内密封，堆成锥形，用木炭填充罐与罐之间的空隙，将罐打破，就可以得到提取出来的金属锌锭。另外，我国化学史和分析化学研究的开拓者王链（</a:t>
            </a:r>
            <a:r>
              <a:rPr lang="en-US" altLang="zh-CN" sz="3800" dirty="0" smtClean="0"/>
              <a:t>1888—1966</a:t>
            </a:r>
            <a:r>
              <a:rPr lang="zh-CN" altLang="en-US" sz="3800" dirty="0" smtClean="0"/>
              <a:t>）在</a:t>
            </a:r>
            <a:r>
              <a:rPr lang="en-US" altLang="zh-CN" sz="3800" dirty="0" smtClean="0"/>
              <a:t>1956</a:t>
            </a:r>
            <a:r>
              <a:rPr lang="zh-CN" altLang="en-US" sz="3800" dirty="0" smtClean="0"/>
              <a:t>年分析了唐、宋、明、清等古钱后，发现宋朝的绍圣钱中含锌量高，提出中国用锌开始于明朝嘉庆年间的正确的科学结论。锌的实际应用可能比</a:t>
            </a:r>
            <a:r>
              <a:rPr lang="en-US" altLang="zh-CN" sz="3800" dirty="0" smtClean="0"/>
              <a:t>《</a:t>
            </a:r>
            <a:r>
              <a:rPr lang="zh-CN" altLang="en-US" sz="3800" dirty="0" smtClean="0"/>
              <a:t>天工开物</a:t>
            </a:r>
            <a:r>
              <a:rPr lang="en-US" altLang="zh-CN" sz="3800" dirty="0" smtClean="0"/>
              <a:t>》</a:t>
            </a:r>
            <a:r>
              <a:rPr lang="zh-CN" altLang="en-US" sz="3800" dirty="0" smtClean="0"/>
              <a:t>成书年代还早。在</a:t>
            </a:r>
            <a:r>
              <a:rPr lang="en-US" altLang="zh-CN" sz="3800" dirty="0" smtClean="0"/>
              <a:t>10~11</a:t>
            </a:r>
            <a:r>
              <a:rPr lang="zh-CN" altLang="en-US" sz="3800" dirty="0" smtClean="0"/>
              <a:t>世纪中国是首先大规模生产锌的国家。</a:t>
            </a:r>
            <a:endParaRPr lang="en-US" altLang="zh-CN" sz="3800" dirty="0" smtClean="0"/>
          </a:p>
          <a:p>
            <a:endParaRPr lang="zh-CN" altLang="en-US" sz="3800" dirty="0" smtClean="0"/>
          </a:p>
          <a:p>
            <a:r>
              <a:rPr lang="en-US" altLang="zh-CN" sz="3800" dirty="0" smtClean="0"/>
              <a:t>1745</a:t>
            </a:r>
            <a:r>
              <a:rPr lang="zh-CN" altLang="en-US" sz="3800" dirty="0" smtClean="0"/>
              <a:t>年，在瑞典海岸沉没的东印度公司的船，经证实运载的货物是中国的锌，经过分析回收的铸锭得知它们是几乎纯净的金属锌。</a:t>
            </a:r>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500" accel="50000" decel="50000" autoRev="1" fill="hold">
                                          <p:stCondLst>
                                            <p:cond delay="0"/>
                                          </p:stCondLst>
                                        </p:cTn>
                                        <p:tgtEl>
                                          <p:spTgt spid="2"/>
                                        </p:tgtEl>
                                        <p:attrNameLst>
                                          <p:attrName>ppt_x</p:attrName>
                                          <p:attrName>ppt_y</p:attrName>
                                        </p:attrNameLst>
                                      </p:cBhvr>
                                    </p:animMotion>
                                    <p:animRot by="1500000">
                                      <p:cBhvr>
                                        <p:cTn id="7" dur="250" fill="hold">
                                          <p:stCondLst>
                                            <p:cond delay="0"/>
                                          </p:stCondLst>
                                        </p:cTn>
                                        <p:tgtEl>
                                          <p:spTgt spid="2"/>
                                        </p:tgtEl>
                                        <p:attrNameLst>
                                          <p:attrName>r</p:attrName>
                                        </p:attrNameLst>
                                      </p:cBhvr>
                                    </p:animRot>
                                    <p:animRot by="-1500000">
                                      <p:cBhvr>
                                        <p:cTn id="8" dur="250" fill="hold">
                                          <p:stCondLst>
                                            <p:cond delay="250"/>
                                          </p:stCondLst>
                                        </p:cTn>
                                        <p:tgtEl>
                                          <p:spTgt spid="2"/>
                                        </p:tgtEl>
                                        <p:attrNameLst>
                                          <p:attrName>r</p:attrName>
                                        </p:attrNameLst>
                                      </p:cBhvr>
                                    </p:animRot>
                                    <p:animRot by="-1500000">
                                      <p:cBhvr>
                                        <p:cTn id="9" dur="250" fill="hold">
                                          <p:stCondLst>
                                            <p:cond delay="500"/>
                                          </p:stCondLst>
                                        </p:cTn>
                                        <p:tgtEl>
                                          <p:spTgt spid="2"/>
                                        </p:tgtEl>
                                        <p:attrNameLst>
                                          <p:attrName>r</p:attrName>
                                        </p:attrNameLst>
                                      </p:cBhvr>
                                    </p:animRot>
                                    <p:animRot by="1500000">
                                      <p:cBhvr>
                                        <p:cTn id="10" dur="250" fill="hold">
                                          <p:stCondLst>
                                            <p:cond delay="750"/>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7787208" cy="1143000"/>
          </a:xfrm>
        </p:spPr>
        <p:txBody>
          <a:bodyPr>
            <a:normAutofit/>
          </a:bodyPr>
          <a:lstStyle/>
          <a:p>
            <a:r>
              <a:rPr lang="zh-CN" altLang="en-US" sz="2800" b="1" dirty="0" smtClean="0"/>
              <a:t>现代锌的冶炼有两种工艺：火法冶炼和湿法冶炼。</a:t>
            </a:r>
            <a:endParaRPr lang="zh-CN" altLang="en-US" sz="2800" b="1" dirty="0"/>
          </a:p>
        </p:txBody>
      </p:sp>
      <p:sp>
        <p:nvSpPr>
          <p:cNvPr id="3" name="内容占位符 2"/>
          <p:cNvSpPr>
            <a:spLocks noGrp="1"/>
          </p:cNvSpPr>
          <p:nvPr>
            <p:ph idx="1"/>
          </p:nvPr>
        </p:nvSpPr>
        <p:spPr>
          <a:xfrm>
            <a:off x="611560" y="1600200"/>
            <a:ext cx="7499176" cy="5257800"/>
          </a:xfrm>
        </p:spPr>
        <p:txBody>
          <a:bodyPr>
            <a:normAutofit/>
          </a:bodyPr>
          <a:lstStyle/>
          <a:p>
            <a:r>
              <a:rPr lang="zh-CN" altLang="en-US" dirty="0" smtClean="0"/>
              <a:t>火法炼锌中的竖罐蒸馏炼锌已趋淘汰，电炉炼锌规模小且未见新的发展。密闭鼓风炉炼铅锌是世界上最主要的几乎是唯一的火法炼锌方法。世界上总共有</a:t>
            </a:r>
            <a:r>
              <a:rPr lang="en-US" altLang="zh-CN" dirty="0" smtClean="0"/>
              <a:t>15</a:t>
            </a:r>
            <a:r>
              <a:rPr lang="zh-CN" altLang="en-US" dirty="0" smtClean="0"/>
              <a:t>台（包括国内</a:t>
            </a:r>
            <a:r>
              <a:rPr lang="en-US" altLang="zh-CN" dirty="0" smtClean="0"/>
              <a:t>ISP</a:t>
            </a:r>
            <a:r>
              <a:rPr lang="zh-CN" altLang="en-US" dirty="0" smtClean="0"/>
              <a:t>工厂）密闭鼓风炉在进行锌的生产，占锌的总产量</a:t>
            </a:r>
            <a:r>
              <a:rPr lang="en-US" altLang="zh-CN" dirty="0" smtClean="0"/>
              <a:t>12%-13%</a:t>
            </a:r>
            <a:r>
              <a:rPr lang="zh-CN" altLang="en-US" dirty="0" smtClean="0"/>
              <a:t>，其技术发展主要是增加二次含铅锌物料的处理措施；改进冷凝效率；富氧技术的运用等。</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5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Scale>
                                      <p:cBhvr>
                                        <p:cTn id="14" dur="1000" decel="50000" fill="hold">
                                          <p:stCondLst>
                                            <p:cond delay="0"/>
                                          </p:stCondLst>
                                        </p:cTn>
                                        <p:tgtEl>
                                          <p:spTgt spid="3">
                                            <p:txEl>
                                              <p:pRg st="0" end="0"/>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5" dur="1000" decel="50000" fill="hold">
                                          <p:stCondLst>
                                            <p:cond delay="0"/>
                                          </p:stCondLst>
                                        </p:cTn>
                                        <p:tgtEl>
                                          <p:spTgt spid="3">
                                            <p:txEl>
                                              <p:pRg st="0" end="0"/>
                                            </p:txEl>
                                          </p:spTgt>
                                        </p:tgtEl>
                                        <p:attrNameLst>
                                          <p:attrName>ppt_x</p:attrName>
                                          <p:attrName>ppt_y</p:attrName>
                                        </p:attrNameLst>
                                      </p:cBhvr>
                                    </p:animMotion>
                                    <p:animEffect transition="in" filter="fade">
                                      <p:cBhvr>
                                        <p:cTn id="16"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湿法炼锌</a:t>
            </a:r>
            <a:endParaRPr lang="zh-CN" altLang="en-US" b="1" dirty="0"/>
          </a:p>
        </p:txBody>
      </p:sp>
      <p:sp>
        <p:nvSpPr>
          <p:cNvPr id="3" name="内容占位符 2"/>
          <p:cNvSpPr>
            <a:spLocks noGrp="1"/>
          </p:cNvSpPr>
          <p:nvPr>
            <p:ph idx="1"/>
          </p:nvPr>
        </p:nvSpPr>
        <p:spPr>
          <a:xfrm>
            <a:off x="457200" y="1600200"/>
            <a:ext cx="4834880" cy="4997152"/>
          </a:xfrm>
        </p:spPr>
        <p:txBody>
          <a:bodyPr>
            <a:normAutofit fontScale="92500" lnSpcReduction="20000"/>
          </a:bodyPr>
          <a:lstStyle/>
          <a:p>
            <a:r>
              <a:rPr lang="zh-CN" altLang="en-US" dirty="0" smtClean="0"/>
              <a:t>湿法炼锌是当今世界最主要的炼锌方法，其产量占世界总锌产量的</a:t>
            </a:r>
            <a:r>
              <a:rPr lang="en-US" altLang="zh-CN" dirty="0" smtClean="0"/>
              <a:t>85%</a:t>
            </a:r>
            <a:r>
              <a:rPr lang="zh-CN" altLang="en-US" dirty="0" smtClean="0"/>
              <a:t>以上。近期世界新建和扩建的生产能力均采用湿法炼锌工艺。湿法炼锌技术发展很快，主要表现在：硫化锌精矿的直接氧压浸出；硫化锌精矿的常压富氧直接浸出；设备大型化，高效化；浸出渣综合回收及无害化处理；工艺过程自动控制系统等几个方面。</a:t>
            </a:r>
            <a:endParaRPr lang="zh-CN" altLang="en-US" dirty="0"/>
          </a:p>
        </p:txBody>
      </p:sp>
      <p:pic>
        <p:nvPicPr>
          <p:cNvPr id="4" name="图片 3" descr="u=1597503106,2191466701&amp;fm=21&amp;gp=0.jpg"/>
          <p:cNvPicPr>
            <a:picLocks noChangeAspect="1"/>
          </p:cNvPicPr>
          <p:nvPr/>
        </p:nvPicPr>
        <p:blipFill>
          <a:blip r:embed="rId2" cstate="print"/>
          <a:stretch>
            <a:fillRect/>
          </a:stretch>
        </p:blipFill>
        <p:spPr>
          <a:xfrm>
            <a:off x="5580112" y="1628800"/>
            <a:ext cx="3096344" cy="3600400"/>
          </a:xfrm>
          <a:prstGeom prst="rect">
            <a:avLst/>
          </a:prstGeom>
        </p:spPr>
      </p:pic>
      <p:sp>
        <p:nvSpPr>
          <p:cNvPr id="5" name="TextBox 4"/>
          <p:cNvSpPr txBox="1"/>
          <p:nvPr/>
        </p:nvSpPr>
        <p:spPr>
          <a:xfrm>
            <a:off x="6300192" y="5445224"/>
            <a:ext cx="2843808" cy="369332"/>
          </a:xfrm>
          <a:prstGeom prst="rect">
            <a:avLst/>
          </a:prstGeom>
          <a:noFill/>
        </p:spPr>
        <p:txBody>
          <a:bodyPr wrap="square" rtlCol="0">
            <a:spAutoFit/>
          </a:bodyPr>
          <a:lstStyle/>
          <a:p>
            <a:r>
              <a:rPr lang="zh-CN" altLang="en-US" b="1" dirty="0" smtClean="0"/>
              <a:t>（课本</a:t>
            </a:r>
            <a:r>
              <a:rPr lang="en-US" altLang="zh-CN" b="1" dirty="0" smtClean="0"/>
              <a:t>110P</a:t>
            </a:r>
            <a:r>
              <a:rPr lang="zh-CN" altLang="en-US" b="1" dirty="0" smtClean="0"/>
              <a:t>）</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9" presetClass="entr" presetSubtype="0" accel="10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2"/>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2"/>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2"/>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18" presetClass="entr" presetSubtype="12" fill="hold" grpId="0" nodeType="after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strips(downLeft)">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8" presetClass="entr" presetSubtype="0" accel="10000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strVal val="#ppt_w*2.5"/>
                                          </p:val>
                                        </p:tav>
                                        <p:tav tm="100000">
                                          <p:val>
                                            <p:strVal val="#ppt_w"/>
                                          </p:val>
                                        </p:tav>
                                      </p:tavLst>
                                    </p:anim>
                                    <p:anim calcmode="lin" valueType="num">
                                      <p:cBhvr>
                                        <p:cTn id="20" dur="500" fill="hold"/>
                                        <p:tgtEl>
                                          <p:spTgt spid="4"/>
                                        </p:tgtEl>
                                        <p:attrNameLst>
                                          <p:attrName>ppt_h</p:attrName>
                                        </p:attrNameLst>
                                      </p:cBhvr>
                                      <p:tavLst>
                                        <p:tav tm="0">
                                          <p:val>
                                            <p:strVal val="#ppt_h*0.01"/>
                                          </p:val>
                                        </p:tav>
                                        <p:tav tm="100000">
                                          <p:val>
                                            <p:strVal val="#ppt_h"/>
                                          </p:val>
                                        </p:tav>
                                      </p:tavLst>
                                    </p:anim>
                                    <p:anim calcmode="lin" valueType="num">
                                      <p:cBhvr>
                                        <p:cTn id="21" dur="500" fill="hold"/>
                                        <p:tgtEl>
                                          <p:spTgt spid="4"/>
                                        </p:tgtEl>
                                        <p:attrNameLst>
                                          <p:attrName>ppt_x</p:attrName>
                                        </p:attrNameLst>
                                      </p:cBhvr>
                                      <p:tavLst>
                                        <p:tav tm="0">
                                          <p:val>
                                            <p:strVal val="#ppt_x"/>
                                          </p:val>
                                        </p:tav>
                                        <p:tav tm="100000">
                                          <p:val>
                                            <p:strVal val="#ppt_x"/>
                                          </p:val>
                                        </p:tav>
                                      </p:tavLst>
                                    </p:anim>
                                    <p:anim calcmode="lin" valueType="num">
                                      <p:cBhvr>
                                        <p:cTn id="22" dur="500" fill="hold"/>
                                        <p:tgtEl>
                                          <p:spTgt spid="4"/>
                                        </p:tgtEl>
                                        <p:attrNameLst>
                                          <p:attrName>ppt_y</p:attrName>
                                        </p:attrNameLst>
                                      </p:cBhvr>
                                      <p:tavLst>
                                        <p:tav tm="0">
                                          <p:val>
                                            <p:strVal val="#ppt_h+1"/>
                                          </p:val>
                                        </p:tav>
                                        <p:tav tm="100000">
                                          <p:val>
                                            <p:strVal val="#ppt_y"/>
                                          </p:val>
                                        </p:tav>
                                      </p:tavLst>
                                    </p:anim>
                                    <p:animEffect transition="in" filter="fade">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52" presetClass="entr" presetSubtype="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Scale>
                                      <p:cBhvr>
                                        <p:cTn id="28"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9" dur="1000" decel="50000" fill="hold">
                                          <p:stCondLst>
                                            <p:cond delay="0"/>
                                          </p:stCondLst>
                                        </p:cTn>
                                        <p:tgtEl>
                                          <p:spTgt spid="5"/>
                                        </p:tgtEl>
                                        <p:attrNameLst>
                                          <p:attrName>ppt_x</p:attrName>
                                          <p:attrName>ppt_y</p:attrName>
                                        </p:attrNameLst>
                                      </p:cBhvr>
                                    </p:animMotion>
                                    <p:animEffect transition="in" filter="fade">
                                      <p:cBhvr>
                                        <p:cTn id="3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980728"/>
            <a:ext cx="7128792" cy="1296144"/>
          </a:xfrm>
        </p:spPr>
        <p:txBody>
          <a:bodyPr>
            <a:normAutofit/>
          </a:bodyPr>
          <a:lstStyle/>
          <a:p>
            <a:pPr>
              <a:buNone/>
            </a:pPr>
            <a:r>
              <a:rPr lang="zh-CN" altLang="en-US" sz="1800" dirty="0" smtClean="0"/>
              <a:t>    </a:t>
            </a:r>
            <a:endParaRPr lang="en-US" altLang="zh-CN" sz="1800" dirty="0" smtClean="0"/>
          </a:p>
          <a:p>
            <a:pPr>
              <a:buNone/>
            </a:pPr>
            <a:r>
              <a:rPr lang="zh-CN" altLang="en-US" sz="1800" dirty="0" smtClean="0"/>
              <a:t>       </a:t>
            </a:r>
            <a:r>
              <a:rPr lang="zh-CN" altLang="en-US" sz="1800" b="1" dirty="0" smtClean="0"/>
              <a:t>世界上锌的全部消费中大约有一半用于镀锌，约</a:t>
            </a:r>
            <a:r>
              <a:rPr lang="en-US" altLang="zh-CN" sz="1800" b="1" dirty="0" smtClean="0"/>
              <a:t>10%</a:t>
            </a:r>
            <a:r>
              <a:rPr lang="zh-CN" altLang="en-US" sz="1800" b="1" dirty="0" smtClean="0"/>
              <a:t>用于黄铜和青铜，不到</a:t>
            </a:r>
            <a:r>
              <a:rPr lang="en-US" altLang="zh-CN" sz="1800" b="1" dirty="0" smtClean="0"/>
              <a:t>10%</a:t>
            </a:r>
            <a:r>
              <a:rPr lang="zh-CN" altLang="en-US" sz="1800" b="1" dirty="0" smtClean="0"/>
              <a:t>用于锌基合金，约</a:t>
            </a:r>
            <a:r>
              <a:rPr lang="en-US" altLang="zh-CN" sz="1800" b="1" dirty="0" smtClean="0"/>
              <a:t>7.5%</a:t>
            </a:r>
            <a:r>
              <a:rPr lang="zh-CN" altLang="en-US" sz="1800" b="1" dirty="0" smtClean="0"/>
              <a:t>用于化学制品，约</a:t>
            </a:r>
            <a:r>
              <a:rPr lang="en-US" altLang="zh-CN" sz="1800" b="1" dirty="0" smtClean="0"/>
              <a:t>13%</a:t>
            </a:r>
            <a:r>
              <a:rPr lang="zh-CN" altLang="en-US" sz="1800" b="1" dirty="0" smtClean="0"/>
              <a:t>用于制造干电池，以锌饼、锌板形式出现。</a:t>
            </a:r>
            <a:endParaRPr lang="en-US" altLang="zh-CN" sz="1800" b="1" dirty="0" smtClean="0"/>
          </a:p>
        </p:txBody>
      </p:sp>
      <p:sp>
        <p:nvSpPr>
          <p:cNvPr id="5" name="TextBox 4"/>
          <p:cNvSpPr txBox="1"/>
          <p:nvPr/>
        </p:nvSpPr>
        <p:spPr>
          <a:xfrm>
            <a:off x="827584" y="2348880"/>
            <a:ext cx="6912768" cy="1231106"/>
          </a:xfrm>
          <a:prstGeom prst="rect">
            <a:avLst/>
          </a:prstGeom>
          <a:noFill/>
        </p:spPr>
        <p:txBody>
          <a:bodyPr wrap="square" rtlCol="0">
            <a:spAutoFit/>
          </a:bodyPr>
          <a:lstStyle/>
          <a:p>
            <a:r>
              <a:rPr lang="zh-CN" altLang="en-US" dirty="0"/>
              <a:t>（</a:t>
            </a:r>
            <a:r>
              <a:rPr lang="en-US" altLang="zh-CN" dirty="0"/>
              <a:t>1</a:t>
            </a:r>
            <a:r>
              <a:rPr lang="zh-CN" altLang="en-US" dirty="0"/>
              <a:t>）镀</a:t>
            </a:r>
            <a:r>
              <a:rPr lang="zh-CN" altLang="en-US" dirty="0" smtClean="0"/>
              <a:t>锌，锌</a:t>
            </a:r>
            <a:r>
              <a:rPr lang="zh-CN" altLang="en-US" dirty="0"/>
              <a:t>具有优良的抗大气腐蚀性能，在常温下表面易生成一层保护膜，因此锌最大的用途是用</a:t>
            </a:r>
            <a:r>
              <a:rPr lang="zh-CN" altLang="en-US" dirty="0" smtClean="0"/>
              <a:t>于镀锌工</a:t>
            </a:r>
            <a:r>
              <a:rPr lang="zh-CN" altLang="en-US" dirty="0"/>
              <a:t>业。被主要用于钢材和钢结构件的表面镀层</a:t>
            </a:r>
            <a:r>
              <a:rPr lang="en-US" altLang="zh-CN" dirty="0"/>
              <a:t>(</a:t>
            </a:r>
            <a:r>
              <a:rPr lang="zh-CN" altLang="en-US" dirty="0"/>
              <a:t>如镀锌板</a:t>
            </a:r>
            <a:r>
              <a:rPr lang="en-US" altLang="zh-CN" dirty="0"/>
              <a:t>)</a:t>
            </a:r>
            <a:r>
              <a:rPr lang="zh-CN" altLang="en-US" dirty="0"/>
              <a:t>，广泛用于汽车、建筑、船舶、轻工等行业</a:t>
            </a:r>
            <a:r>
              <a:rPr lang="zh-CN" altLang="en-US" sz="2000" dirty="0"/>
              <a:t>。</a:t>
            </a:r>
          </a:p>
        </p:txBody>
      </p:sp>
      <p:sp>
        <p:nvSpPr>
          <p:cNvPr id="7" name="TextBox 6"/>
          <p:cNvSpPr txBox="1"/>
          <p:nvPr/>
        </p:nvSpPr>
        <p:spPr>
          <a:xfrm>
            <a:off x="2339752" y="188640"/>
            <a:ext cx="4104456" cy="769441"/>
          </a:xfrm>
          <a:prstGeom prst="rect">
            <a:avLst/>
          </a:prstGeom>
          <a:noFill/>
        </p:spPr>
        <p:txBody>
          <a:bodyPr wrap="square" rtlCol="0">
            <a:spAutoFit/>
          </a:bodyPr>
          <a:lstStyle/>
          <a:p>
            <a:r>
              <a:rPr lang="zh-CN" altLang="en-US" sz="4400" b="1" dirty="0" smtClean="0"/>
              <a:t>锌的主要用途</a:t>
            </a:r>
            <a:endParaRPr lang="en-US" altLang="zh-CN" sz="4400" b="1" dirty="0" smtClean="0"/>
          </a:p>
        </p:txBody>
      </p:sp>
      <p:sp>
        <p:nvSpPr>
          <p:cNvPr id="8" name="矩形 7"/>
          <p:cNvSpPr/>
          <p:nvPr/>
        </p:nvSpPr>
        <p:spPr>
          <a:xfrm>
            <a:off x="827584" y="3645024"/>
            <a:ext cx="6552728" cy="1477328"/>
          </a:xfrm>
          <a:prstGeom prst="rect">
            <a:avLst/>
          </a:prstGeom>
        </p:spPr>
        <p:txBody>
          <a:bodyPr wrap="square">
            <a:spAutoFit/>
          </a:bodyPr>
          <a:lstStyle/>
          <a:p>
            <a:r>
              <a:rPr lang="zh-CN" altLang="en-US" dirty="0" smtClean="0"/>
              <a:t>（</a:t>
            </a:r>
            <a:r>
              <a:rPr lang="en-US" altLang="zh-CN" dirty="0" smtClean="0"/>
              <a:t>2</a:t>
            </a:r>
            <a:r>
              <a:rPr lang="zh-CN" altLang="en-US" dirty="0" smtClean="0"/>
              <a:t>）</a:t>
            </a:r>
            <a:r>
              <a:rPr lang="zh-CN" altLang="en-US" b="1" dirty="0" smtClean="0"/>
              <a:t>锌合金</a:t>
            </a:r>
            <a:r>
              <a:rPr lang="zh-CN" altLang="en-US" dirty="0" smtClean="0"/>
              <a:t>用于汽车制造和机械行业。锌具有适用的机械性能。锌本身的强度和硬度不高，但加入铝、铜等合金元素后，其强度和硬度均大为提高，尤其是锌铜钛合金的出现，其综合机械性能已接近或达到铝合金、黄铜、灰铸铁的水平，其抗蠕变性能也大幅度被提高。</a:t>
            </a:r>
            <a:endParaRPr lang="zh-CN" altLang="en-US" dirty="0"/>
          </a:p>
        </p:txBody>
      </p:sp>
      <p:sp>
        <p:nvSpPr>
          <p:cNvPr id="9" name="矩形 8"/>
          <p:cNvSpPr/>
          <p:nvPr/>
        </p:nvSpPr>
        <p:spPr>
          <a:xfrm>
            <a:off x="827584" y="5301208"/>
            <a:ext cx="5832648" cy="646331"/>
          </a:xfrm>
          <a:prstGeom prst="rect">
            <a:avLst/>
          </a:prstGeom>
        </p:spPr>
        <p:txBody>
          <a:bodyPr wrap="square">
            <a:spAutoFit/>
          </a:bodyPr>
          <a:lstStyle/>
          <a:p>
            <a:r>
              <a:rPr lang="zh-CN" altLang="en-US" dirty="0" smtClean="0"/>
              <a:t>（</a:t>
            </a:r>
            <a:r>
              <a:rPr lang="en-US" altLang="zh-CN" dirty="0" smtClean="0"/>
              <a:t>3</a:t>
            </a:r>
            <a:r>
              <a:rPr lang="zh-CN" altLang="en-US" dirty="0" smtClean="0"/>
              <a:t>）锌可以用来制作电池。例如：锌锰电池以及最新研究的锌空气蓄电池。</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Scale>
                                      <p:cBhvr>
                                        <p:cTn id="7" dur="1000" decel="50000" fill="hold">
                                          <p:stCondLst>
                                            <p:cond delay="0"/>
                                          </p:stCondLst>
                                        </p:cTn>
                                        <p:tgtEl>
                                          <p:spTgt spid="3">
                                            <p:txEl>
                                              <p:pRg st="0" end="0"/>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3">
                                            <p:txEl>
                                              <p:pRg st="0" end="0"/>
                                            </p:txEl>
                                          </p:spTgt>
                                        </p:tgtEl>
                                        <p:attrNameLst>
                                          <p:attrName>ppt_x</p:attrName>
                                          <p:attrName>ppt_y</p:attrName>
                                        </p:attrNameLst>
                                      </p:cBhvr>
                                    </p:animMotion>
                                    <p:animEffect transition="in" filter="fade">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Scale>
                                      <p:cBhvr>
                                        <p:cTn id="14" dur="1000" decel="50000" fill="hold">
                                          <p:stCondLst>
                                            <p:cond delay="0"/>
                                          </p:stCondLst>
                                        </p:cTn>
                                        <p:tgtEl>
                                          <p:spTgt spid="3">
                                            <p:txEl>
                                              <p:pRg st="1" end="1"/>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5" dur="1000" decel="50000" fill="hold">
                                          <p:stCondLst>
                                            <p:cond delay="0"/>
                                          </p:stCondLst>
                                        </p:cTn>
                                        <p:tgtEl>
                                          <p:spTgt spid="3">
                                            <p:txEl>
                                              <p:pRg st="1" end="1"/>
                                            </p:txEl>
                                          </p:spTgt>
                                        </p:tgtEl>
                                        <p:attrNameLst>
                                          <p:attrName>ppt_x</p:attrName>
                                          <p:attrName>ppt_y</p:attrName>
                                        </p:attrNameLst>
                                      </p:cBhvr>
                                    </p:animMotion>
                                    <p:animEffect transition="in" filter="fade">
                                      <p:cBhvr>
                                        <p:cTn id="16" dur="10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ox(in)">
                                      <p:cBhvr>
                                        <p:cTn id="21" dur="500"/>
                                        <p:tgtEl>
                                          <p:spTgt spid="5"/>
                                        </p:tgtEl>
                                      </p:cBhvr>
                                    </p:animEffect>
                                  </p:childTnLst>
                                </p:cTn>
                              </p:par>
                            </p:childTnLst>
                          </p:cTn>
                        </p:par>
                        <p:par>
                          <p:cTn id="22" fill="hold">
                            <p:stCondLst>
                              <p:cond delay="500"/>
                            </p:stCondLst>
                            <p:childTnLst>
                              <p:par>
                                <p:cTn id="23" presetID="16" presetClass="entr" presetSubtype="26"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arn(inHorizontal)">
                                      <p:cBhvr>
                                        <p:cTn id="25" dur="500"/>
                                        <p:tgtEl>
                                          <p:spTgt spid="8"/>
                                        </p:tgtEl>
                                      </p:cBhvr>
                                    </p:animEffect>
                                  </p:childTnLst>
                                </p:cTn>
                              </p:par>
                            </p:childTnLst>
                          </p:cTn>
                        </p:par>
                        <p:par>
                          <p:cTn id="26" fill="hold">
                            <p:stCondLst>
                              <p:cond delay="1000"/>
                            </p:stCondLst>
                            <p:childTnLst>
                              <p:par>
                                <p:cTn id="27" presetID="3" presetClass="entr" presetSubtype="10" fill="hold" grpId="0"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blinds(horizontal)">
                                      <p:cBhvr>
                                        <p:cTn id="2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8"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镀锌</a:t>
            </a:r>
            <a:endParaRPr lang="zh-CN" altLang="en-US" b="1" dirty="0"/>
          </a:p>
        </p:txBody>
      </p:sp>
      <p:sp>
        <p:nvSpPr>
          <p:cNvPr id="3" name="内容占位符 2"/>
          <p:cNvSpPr>
            <a:spLocks noGrp="1"/>
          </p:cNvSpPr>
          <p:nvPr>
            <p:ph idx="1"/>
          </p:nvPr>
        </p:nvSpPr>
        <p:spPr>
          <a:xfrm>
            <a:off x="179512" y="1412776"/>
            <a:ext cx="3456384" cy="5112568"/>
          </a:xfrm>
        </p:spPr>
        <p:txBody>
          <a:bodyPr>
            <a:normAutofit fontScale="85000" lnSpcReduction="10000"/>
          </a:bodyPr>
          <a:lstStyle/>
          <a:p>
            <a:r>
              <a:rPr lang="en-US" altLang="zh-CN" sz="2400" dirty="0" smtClean="0"/>
              <a:t>21</a:t>
            </a:r>
            <a:r>
              <a:rPr lang="zh-CN" altLang="en-US" sz="2400" dirty="0" smtClean="0"/>
              <a:t>世纪后西方国家开始尝试直接用锌合金板做屋顶覆盖材料，其使用年限可长达</a:t>
            </a:r>
            <a:r>
              <a:rPr lang="en-US" altLang="zh-CN" sz="2400" dirty="0" smtClean="0"/>
              <a:t>120-140</a:t>
            </a:r>
            <a:r>
              <a:rPr lang="zh-CN" altLang="en-US" sz="2400" dirty="0" smtClean="0"/>
              <a:t>年，而且可回收再用，而用镀锌铁板作屋顶材料的使用寿命一般为</a:t>
            </a:r>
            <a:r>
              <a:rPr lang="en-US" altLang="zh-CN" sz="2400" dirty="0" smtClean="0"/>
              <a:t>5-10</a:t>
            </a:r>
            <a:r>
              <a:rPr lang="zh-CN" altLang="en-US" sz="2400" dirty="0" smtClean="0"/>
              <a:t>年。</a:t>
            </a:r>
            <a:r>
              <a:rPr lang="en-US" altLang="zh-CN" sz="2400" dirty="0" smtClean="0"/>
              <a:t>21</a:t>
            </a:r>
            <a:r>
              <a:rPr lang="zh-CN" altLang="en-US" sz="2400" dirty="0" smtClean="0"/>
              <a:t>世纪后，钢带热浸镀锌量有显著增长。电镀锌也有使用，但该法一般用于较薄的镀层和不同的表面光洁度。使用含锌粉的涂料是涂层的另一种方法；对于与水连续接触的物体，如用于船舶、桥梁和近海油气井架的大的钢构件，只须和大的锌块连接，便可得到保护，不过锌块要定期更换。</a:t>
            </a:r>
            <a:endParaRPr lang="zh-CN" altLang="en-US" sz="2400" dirty="0"/>
          </a:p>
        </p:txBody>
      </p:sp>
      <p:pic>
        <p:nvPicPr>
          <p:cNvPr id="4" name="图片 3" descr="u=2718231551,2674832156&amp;fm=23&amp;gp=0.jpg"/>
          <p:cNvPicPr>
            <a:picLocks noChangeAspect="1"/>
          </p:cNvPicPr>
          <p:nvPr/>
        </p:nvPicPr>
        <p:blipFill>
          <a:blip r:embed="rId2" cstate="print"/>
          <a:stretch>
            <a:fillRect/>
          </a:stretch>
        </p:blipFill>
        <p:spPr>
          <a:xfrm>
            <a:off x="3851920" y="1628800"/>
            <a:ext cx="1728192" cy="1296144"/>
          </a:xfrm>
          <a:prstGeom prst="rect">
            <a:avLst/>
          </a:prstGeom>
        </p:spPr>
      </p:pic>
      <p:pic>
        <p:nvPicPr>
          <p:cNvPr id="5" name="图片 4" descr="u=3324005727,3074363784&amp;fm=23&amp;gp=0.jpg"/>
          <p:cNvPicPr>
            <a:picLocks noChangeAspect="1"/>
          </p:cNvPicPr>
          <p:nvPr/>
        </p:nvPicPr>
        <p:blipFill>
          <a:blip r:embed="rId3" cstate="print"/>
          <a:stretch>
            <a:fillRect/>
          </a:stretch>
        </p:blipFill>
        <p:spPr>
          <a:xfrm>
            <a:off x="4860032" y="3717032"/>
            <a:ext cx="3240360" cy="2430270"/>
          </a:xfrm>
          <a:prstGeom prst="rect">
            <a:avLst/>
          </a:prstGeom>
        </p:spPr>
      </p:pic>
      <p:pic>
        <p:nvPicPr>
          <p:cNvPr id="6" name="图片 5" descr="u=1611873891,1182115726&amp;fm=21&amp;gp=0.jpg"/>
          <p:cNvPicPr>
            <a:picLocks noChangeAspect="1"/>
          </p:cNvPicPr>
          <p:nvPr/>
        </p:nvPicPr>
        <p:blipFill>
          <a:blip r:embed="rId4" cstate="print"/>
          <a:stretch>
            <a:fillRect/>
          </a:stretch>
        </p:blipFill>
        <p:spPr>
          <a:xfrm>
            <a:off x="6300192" y="1484784"/>
            <a:ext cx="2187501" cy="16424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1000" fill="hold"/>
                                        <p:tgtEl>
                                          <p:spTgt spid="4"/>
                                        </p:tgtEl>
                                        <p:attrNameLst>
                                          <p:attrName>ppt_w</p:attrName>
                                        </p:attrNameLst>
                                      </p:cBhvr>
                                      <p:tavLst>
                                        <p:tav tm="0">
                                          <p:val>
                                            <p:strVal val="#ppt_w*0.70"/>
                                          </p:val>
                                        </p:tav>
                                        <p:tav tm="100000">
                                          <p:val>
                                            <p:strVal val="#ppt_w"/>
                                          </p:val>
                                        </p:tav>
                                      </p:tavLst>
                                    </p:anim>
                                    <p:anim calcmode="lin" valueType="num">
                                      <p:cBhvr>
                                        <p:cTn id="13" dur="1000" fill="hold"/>
                                        <p:tgtEl>
                                          <p:spTgt spid="4"/>
                                        </p:tgtEl>
                                        <p:attrNameLst>
                                          <p:attrName>ppt_h</p:attrName>
                                        </p:attrNameLst>
                                      </p:cBhvr>
                                      <p:tavLst>
                                        <p:tav tm="0">
                                          <p:val>
                                            <p:strVal val="#ppt_h"/>
                                          </p:val>
                                        </p:tav>
                                        <p:tav tm="100000">
                                          <p:val>
                                            <p:strVal val="#ppt_h"/>
                                          </p:val>
                                        </p:tav>
                                      </p:tavLst>
                                    </p:anim>
                                    <p:animEffect transition="in" filter="fade">
                                      <p:cBhvr>
                                        <p:cTn id="14" dur="1000"/>
                                        <p:tgtEl>
                                          <p:spTgt spid="4"/>
                                        </p:tgtEl>
                                      </p:cBhvr>
                                    </p:animEffect>
                                  </p:childTnLst>
                                </p:cTn>
                              </p:par>
                            </p:childTnLst>
                          </p:cTn>
                        </p:par>
                        <p:par>
                          <p:cTn id="15" fill="hold">
                            <p:stCondLst>
                              <p:cond delay="1000"/>
                            </p:stCondLst>
                            <p:childTnLst>
                              <p:par>
                                <p:cTn id="16" presetID="55" presetClass="entr" presetSubtype="0" fill="hold" nodeType="after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p:cTn id="18" dur="1000" fill="hold"/>
                                        <p:tgtEl>
                                          <p:spTgt spid="6"/>
                                        </p:tgtEl>
                                        <p:attrNameLst>
                                          <p:attrName>ppt_w</p:attrName>
                                        </p:attrNameLst>
                                      </p:cBhvr>
                                      <p:tavLst>
                                        <p:tav tm="0">
                                          <p:val>
                                            <p:strVal val="#ppt_w*0.70"/>
                                          </p:val>
                                        </p:tav>
                                        <p:tav tm="100000">
                                          <p:val>
                                            <p:strVal val="#ppt_w"/>
                                          </p:val>
                                        </p:tav>
                                      </p:tavLst>
                                    </p:anim>
                                    <p:anim calcmode="lin" valueType="num">
                                      <p:cBhvr>
                                        <p:cTn id="19" dur="1000" fill="hold"/>
                                        <p:tgtEl>
                                          <p:spTgt spid="6"/>
                                        </p:tgtEl>
                                        <p:attrNameLst>
                                          <p:attrName>ppt_h</p:attrName>
                                        </p:attrNameLst>
                                      </p:cBhvr>
                                      <p:tavLst>
                                        <p:tav tm="0">
                                          <p:val>
                                            <p:strVal val="#ppt_h"/>
                                          </p:val>
                                        </p:tav>
                                        <p:tav tm="100000">
                                          <p:val>
                                            <p:strVal val="#ppt_h"/>
                                          </p:val>
                                        </p:tav>
                                      </p:tavLst>
                                    </p:anim>
                                    <p:animEffect transition="in" filter="fade">
                                      <p:cBhvr>
                                        <p:cTn id="20" dur="1000"/>
                                        <p:tgtEl>
                                          <p:spTgt spid="6"/>
                                        </p:tgtEl>
                                      </p:cBhvr>
                                    </p:animEffect>
                                  </p:childTnLst>
                                </p:cTn>
                              </p:par>
                            </p:childTnLst>
                          </p:cTn>
                        </p:par>
                        <p:par>
                          <p:cTn id="21" fill="hold">
                            <p:stCondLst>
                              <p:cond delay="2000"/>
                            </p:stCondLst>
                            <p:childTnLst>
                              <p:par>
                                <p:cTn id="22" presetID="55" presetClass="entr" presetSubtype="0"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1000" fill="hold"/>
                                        <p:tgtEl>
                                          <p:spTgt spid="5"/>
                                        </p:tgtEl>
                                        <p:attrNameLst>
                                          <p:attrName>ppt_w</p:attrName>
                                        </p:attrNameLst>
                                      </p:cBhvr>
                                      <p:tavLst>
                                        <p:tav tm="0">
                                          <p:val>
                                            <p:strVal val="#ppt_w*0.70"/>
                                          </p:val>
                                        </p:tav>
                                        <p:tav tm="100000">
                                          <p:val>
                                            <p:strVal val="#ppt_w"/>
                                          </p:val>
                                        </p:tav>
                                      </p:tavLst>
                                    </p:anim>
                                    <p:anim calcmode="lin" valueType="num">
                                      <p:cBhvr>
                                        <p:cTn id="25" dur="1000" fill="hold"/>
                                        <p:tgtEl>
                                          <p:spTgt spid="5"/>
                                        </p:tgtEl>
                                        <p:attrNameLst>
                                          <p:attrName>ppt_h</p:attrName>
                                        </p:attrNameLst>
                                      </p:cBhvr>
                                      <p:tavLst>
                                        <p:tav tm="0">
                                          <p:val>
                                            <p:strVal val="#ppt_h"/>
                                          </p:val>
                                        </p:tav>
                                        <p:tav tm="100000">
                                          <p:val>
                                            <p:strVal val="#ppt_h"/>
                                          </p:val>
                                        </p:tav>
                                      </p:tavLst>
                                    </p:anim>
                                    <p:animEffect transition="in" filter="fade">
                                      <p:cBhvr>
                                        <p:cTn id="2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锌合金</a:t>
            </a:r>
            <a:endParaRPr lang="zh-CN" altLang="en-US" b="1" dirty="0"/>
          </a:p>
        </p:txBody>
      </p:sp>
      <p:sp>
        <p:nvSpPr>
          <p:cNvPr id="3" name="内容占位符 2"/>
          <p:cNvSpPr>
            <a:spLocks noGrp="1"/>
          </p:cNvSpPr>
          <p:nvPr>
            <p:ph idx="1"/>
          </p:nvPr>
        </p:nvSpPr>
        <p:spPr>
          <a:xfrm>
            <a:off x="0" y="1484784"/>
            <a:ext cx="3779912" cy="5069160"/>
          </a:xfrm>
        </p:spPr>
        <p:txBody>
          <a:bodyPr>
            <a:normAutofit/>
          </a:bodyPr>
          <a:lstStyle/>
          <a:p>
            <a:r>
              <a:rPr lang="zh-CN" altLang="en-US" sz="2000" dirty="0" smtClean="0"/>
              <a:t>锌铜钛合金已被广泛应用于小五金生产中。主要为压铸件，用于汽车、建筑、部分电气设备、家用电器、玩具等的零部件生产。许多锌合金的加工性能都比较优良，道次加工率可达</a:t>
            </a:r>
            <a:r>
              <a:rPr lang="en-US" altLang="zh-CN" sz="2000" dirty="0" smtClean="0"/>
              <a:t>60%-80%</a:t>
            </a:r>
            <a:r>
              <a:rPr lang="zh-CN" altLang="en-US" sz="2000" dirty="0" smtClean="0"/>
              <a:t>。中压性能优越，可进行深拉延，并具有自润滑性，延长了模具寿命，可用钎焊或电阻焊或电弧焊进行焊接，表面可进行电镀、涂漆处理，切削加工性能良好。在一定条件下具有优越的超塑性能。</a:t>
            </a:r>
            <a:endParaRPr lang="zh-CN" altLang="en-US" sz="2000" dirty="0"/>
          </a:p>
        </p:txBody>
      </p:sp>
      <p:pic>
        <p:nvPicPr>
          <p:cNvPr id="4" name="图片 3" descr="u=2051802028,2391152912&amp;fm=23&amp;gp=0.jpg"/>
          <p:cNvPicPr>
            <a:picLocks noChangeAspect="1"/>
          </p:cNvPicPr>
          <p:nvPr/>
        </p:nvPicPr>
        <p:blipFill>
          <a:blip r:embed="rId2" cstate="print"/>
          <a:stretch>
            <a:fillRect/>
          </a:stretch>
        </p:blipFill>
        <p:spPr>
          <a:xfrm>
            <a:off x="3851920" y="1844824"/>
            <a:ext cx="2880320" cy="1924490"/>
          </a:xfrm>
          <a:prstGeom prst="rect">
            <a:avLst/>
          </a:prstGeom>
        </p:spPr>
      </p:pic>
      <p:pic>
        <p:nvPicPr>
          <p:cNvPr id="5" name="图片 4" descr="u=3610972163,975482335&amp;fm=23&amp;gp=0.jpg"/>
          <p:cNvPicPr>
            <a:picLocks noChangeAspect="1"/>
          </p:cNvPicPr>
          <p:nvPr/>
        </p:nvPicPr>
        <p:blipFill>
          <a:blip r:embed="rId3" cstate="print"/>
          <a:stretch>
            <a:fillRect/>
          </a:stretch>
        </p:blipFill>
        <p:spPr>
          <a:xfrm>
            <a:off x="6804248" y="1196752"/>
            <a:ext cx="2046312" cy="1777380"/>
          </a:xfrm>
          <a:prstGeom prst="rect">
            <a:avLst/>
          </a:prstGeom>
        </p:spPr>
      </p:pic>
      <p:pic>
        <p:nvPicPr>
          <p:cNvPr id="6" name="图片 5" descr="u=996485042,3265786752&amp;fm=23&amp;gp=0.jpg"/>
          <p:cNvPicPr>
            <a:picLocks noChangeAspect="1"/>
          </p:cNvPicPr>
          <p:nvPr/>
        </p:nvPicPr>
        <p:blipFill>
          <a:blip r:embed="rId4" cstate="print"/>
          <a:stretch>
            <a:fillRect/>
          </a:stretch>
        </p:blipFill>
        <p:spPr>
          <a:xfrm>
            <a:off x="4932040" y="3861048"/>
            <a:ext cx="2857500" cy="2857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500"/>
                                        <p:tgtEl>
                                          <p:spTgt spid="4"/>
                                        </p:tgtEl>
                                      </p:cBhvr>
                                    </p:animEffect>
                                  </p:childTnLst>
                                </p:cTn>
                              </p:par>
                            </p:childTnLst>
                          </p:cTn>
                        </p:par>
                        <p:par>
                          <p:cTn id="13" fill="hold">
                            <p:stCondLst>
                              <p:cond delay="500"/>
                            </p:stCondLst>
                            <p:childTnLst>
                              <p:par>
                                <p:cTn id="14" presetID="39" presetClass="entr" presetSubtype="0" accel="100000"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p:cTn id="16" dur="500" fill="hold"/>
                                        <p:tgtEl>
                                          <p:spTgt spid="5"/>
                                        </p:tgtEl>
                                        <p:attrNameLst>
                                          <p:attrName>ppt_h</p:attrName>
                                        </p:attrNameLst>
                                      </p:cBhvr>
                                      <p:tavLst>
                                        <p:tav tm="0">
                                          <p:val>
                                            <p:strVal val="#ppt_h/20"/>
                                          </p:val>
                                        </p:tav>
                                        <p:tav tm="50000">
                                          <p:val>
                                            <p:strVal val="#ppt_h/20"/>
                                          </p:val>
                                        </p:tav>
                                        <p:tav tm="100000">
                                          <p:val>
                                            <p:strVal val="#ppt_h"/>
                                          </p:val>
                                        </p:tav>
                                      </p:tavLst>
                                    </p:anim>
                                    <p:anim calcmode="lin" valueType="num">
                                      <p:cBhvr>
                                        <p:cTn id="17" dur="500" fill="hold"/>
                                        <p:tgtEl>
                                          <p:spTgt spid="5"/>
                                        </p:tgtEl>
                                        <p:attrNameLst>
                                          <p:attrName>ppt_w</p:attrName>
                                        </p:attrNameLst>
                                      </p:cBhvr>
                                      <p:tavLst>
                                        <p:tav tm="0">
                                          <p:val>
                                            <p:strVal val="#ppt_w+.3"/>
                                          </p:val>
                                        </p:tav>
                                        <p:tav tm="50000">
                                          <p:val>
                                            <p:strVal val="#ppt_w+.3"/>
                                          </p:val>
                                        </p:tav>
                                        <p:tav tm="100000">
                                          <p:val>
                                            <p:strVal val="#ppt_w"/>
                                          </p:val>
                                        </p:tav>
                                      </p:tavLst>
                                    </p:anim>
                                    <p:anim calcmode="lin" valueType="num">
                                      <p:cBhvr>
                                        <p:cTn id="18" dur="500" fill="hold"/>
                                        <p:tgtEl>
                                          <p:spTgt spid="5"/>
                                        </p:tgtEl>
                                        <p:attrNameLst>
                                          <p:attrName>ppt_x</p:attrName>
                                        </p:attrNameLst>
                                      </p:cBhvr>
                                      <p:tavLst>
                                        <p:tav tm="0">
                                          <p:val>
                                            <p:strVal val="#ppt_x-.3"/>
                                          </p:val>
                                        </p:tav>
                                        <p:tav tm="50000">
                                          <p:val>
                                            <p:strVal val="#ppt_x"/>
                                          </p:val>
                                        </p:tav>
                                        <p:tav tm="100000">
                                          <p:val>
                                            <p:strVal val="#ppt_x"/>
                                          </p:val>
                                        </p:tav>
                                      </p:tavLst>
                                    </p:anim>
                                    <p:anim calcmode="lin" valueType="num">
                                      <p:cBhvr>
                                        <p:cTn id="19" dur="500" fill="hold"/>
                                        <p:tgtEl>
                                          <p:spTgt spid="5"/>
                                        </p:tgtEl>
                                        <p:attrNameLst>
                                          <p:attrName>ppt_y</p:attrName>
                                        </p:attrNameLst>
                                      </p:cBhvr>
                                      <p:tavLst>
                                        <p:tav tm="0">
                                          <p:val>
                                            <p:strVal val="#ppt_y"/>
                                          </p:val>
                                        </p:tav>
                                        <p:tav tm="100000">
                                          <p:val>
                                            <p:strVal val="#ppt_y"/>
                                          </p:val>
                                        </p:tav>
                                      </p:tavLst>
                                    </p:anim>
                                  </p:childTnLst>
                                </p:cTn>
                              </p:par>
                            </p:childTnLst>
                          </p:cTn>
                        </p:par>
                        <p:par>
                          <p:cTn id="20" fill="hold">
                            <p:stCondLst>
                              <p:cond delay="1000"/>
                            </p:stCondLst>
                            <p:childTnLst>
                              <p:par>
                                <p:cTn id="21" presetID="18" presetClass="entr" presetSubtype="12"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strips(downLeft)">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锌电池</a:t>
            </a:r>
            <a:endParaRPr lang="zh-CN" altLang="en-US" b="1" dirty="0"/>
          </a:p>
        </p:txBody>
      </p:sp>
      <p:sp>
        <p:nvSpPr>
          <p:cNvPr id="3" name="内容占位符 2"/>
          <p:cNvSpPr>
            <a:spLocks noGrp="1"/>
          </p:cNvSpPr>
          <p:nvPr>
            <p:ph idx="1"/>
          </p:nvPr>
        </p:nvSpPr>
        <p:spPr>
          <a:xfrm>
            <a:off x="457200" y="1600200"/>
            <a:ext cx="4474840" cy="4997152"/>
          </a:xfrm>
        </p:spPr>
        <p:txBody>
          <a:bodyPr>
            <a:normAutofit/>
          </a:bodyPr>
          <a:lstStyle/>
          <a:p>
            <a:r>
              <a:rPr lang="zh-CN" altLang="en-US" dirty="0" smtClean="0"/>
              <a:t>锌锰电池：锌作为负极活性物质，兼作电池的容器和负极引电体，是决定电池贮存性能的主要材料。</a:t>
            </a:r>
            <a:endParaRPr lang="en-US" altLang="zh-CN" dirty="0" smtClean="0"/>
          </a:p>
          <a:p>
            <a:r>
              <a:rPr lang="zh-CN" altLang="en-US" dirty="0" smtClean="0"/>
              <a:t>锌空气蓄电池：锌空气电池又称锌氧电池，是金属空气电池的一种。</a:t>
            </a:r>
            <a:endParaRPr lang="zh-CN" altLang="en-US" dirty="0"/>
          </a:p>
        </p:txBody>
      </p:sp>
      <p:pic>
        <p:nvPicPr>
          <p:cNvPr id="5" name="图片 4" descr="u=3675160549,1381209771&amp;fm=23&amp;gp=0.jpg"/>
          <p:cNvPicPr>
            <a:picLocks noChangeAspect="1"/>
          </p:cNvPicPr>
          <p:nvPr/>
        </p:nvPicPr>
        <p:blipFill>
          <a:blip r:embed="rId2" cstate="print"/>
          <a:stretch>
            <a:fillRect/>
          </a:stretch>
        </p:blipFill>
        <p:spPr>
          <a:xfrm>
            <a:off x="5292080" y="1772816"/>
            <a:ext cx="2736304" cy="2242872"/>
          </a:xfrm>
          <a:prstGeom prst="rect">
            <a:avLst/>
          </a:prstGeom>
        </p:spPr>
      </p:pic>
      <p:pic>
        <p:nvPicPr>
          <p:cNvPr id="7" name="图片 6" descr="u=2083735869,205513180&amp;fm=23&amp;gp=0.jpg"/>
          <p:cNvPicPr>
            <a:picLocks noChangeAspect="1"/>
          </p:cNvPicPr>
          <p:nvPr/>
        </p:nvPicPr>
        <p:blipFill>
          <a:blip r:embed="rId3" cstate="print"/>
          <a:stretch>
            <a:fillRect/>
          </a:stretch>
        </p:blipFill>
        <p:spPr>
          <a:xfrm>
            <a:off x="5580112" y="4437112"/>
            <a:ext cx="1851986" cy="206541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2" presetClass="entr" presetSubtype="4" fill="hold" nodeType="after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0"/>
            <a:ext cx="8229600" cy="1143000"/>
          </a:xfrm>
        </p:spPr>
        <p:txBody>
          <a:bodyPr/>
          <a:lstStyle/>
          <a:p>
            <a:r>
              <a:rPr lang="zh-CN" altLang="en-US" b="1" dirty="0" smtClean="0"/>
              <a:t>世界锌矿分布</a:t>
            </a:r>
            <a:endParaRPr lang="zh-CN" altLang="en-US" b="1" dirty="0"/>
          </a:p>
        </p:txBody>
      </p:sp>
      <p:sp>
        <p:nvSpPr>
          <p:cNvPr id="5" name="内容占位符 4"/>
          <p:cNvSpPr>
            <a:spLocks noGrp="1"/>
          </p:cNvSpPr>
          <p:nvPr>
            <p:ph idx="1"/>
          </p:nvPr>
        </p:nvSpPr>
        <p:spPr>
          <a:xfrm>
            <a:off x="0" y="980728"/>
            <a:ext cx="6516216" cy="5877272"/>
          </a:xfrm>
        </p:spPr>
        <p:txBody>
          <a:bodyPr>
            <a:normAutofit fontScale="70000" lnSpcReduction="20000"/>
          </a:bodyPr>
          <a:lstStyle/>
          <a:p>
            <a:r>
              <a:rPr lang="zh-CN" altLang="en-US" dirty="0" smtClean="0"/>
              <a:t>锌是自然界中资源分布较广的金属元素。多以硫化物状态存在，主要含锌矿物是闪锌矿，也有少量氧化矿如菱锌矿、硅锌矿、异极矿、水锌矿等。目前全球探明储量为</a:t>
            </a:r>
            <a:r>
              <a:rPr lang="en-US" altLang="zh-CN" dirty="0" smtClean="0"/>
              <a:t>25000</a:t>
            </a:r>
            <a:r>
              <a:rPr lang="zh-CN" altLang="en-US" dirty="0" smtClean="0"/>
              <a:t>万吨。锌在世界上的资源分布如下：</a:t>
            </a:r>
          </a:p>
          <a:p>
            <a:r>
              <a:rPr lang="zh-CN" altLang="en-US" b="1" dirty="0" smtClean="0"/>
              <a:t>区域分布</a:t>
            </a:r>
            <a:r>
              <a:rPr lang="zh-CN" altLang="en-US" dirty="0" smtClean="0"/>
              <a:t>：世界上锌资源主要分布在亚洲、大洋洲、北美和南美洲。</a:t>
            </a:r>
            <a:endParaRPr lang="en-US" altLang="zh-CN" dirty="0" smtClean="0"/>
          </a:p>
          <a:p>
            <a:endParaRPr lang="zh-CN" altLang="en-US" dirty="0" smtClean="0"/>
          </a:p>
          <a:p>
            <a:r>
              <a:rPr lang="zh-CN" altLang="en-US" b="1" dirty="0" smtClean="0"/>
              <a:t>国家分布</a:t>
            </a:r>
            <a:r>
              <a:rPr lang="zh-CN" altLang="en-US" dirty="0" smtClean="0"/>
              <a:t>：世界上锌储量较多的国家有中国、澳大利亚、美国、加拿大、哈萨克斯坦、秘鲁和墨西哥等。其中澳大利亚、中国、美国、哈萨克斯坦四国的矿石储量占世界锌储量的</a:t>
            </a:r>
            <a:r>
              <a:rPr lang="en-US" altLang="zh-CN" dirty="0" smtClean="0"/>
              <a:t>57%</a:t>
            </a:r>
            <a:r>
              <a:rPr lang="zh-CN" altLang="en-US" dirty="0" smtClean="0"/>
              <a:t>左右，占世界储量基础的</a:t>
            </a:r>
            <a:r>
              <a:rPr lang="en-US" altLang="zh-CN" dirty="0" smtClean="0"/>
              <a:t>64.66%</a:t>
            </a:r>
            <a:r>
              <a:rPr lang="zh-CN" altLang="en-US" dirty="0" smtClean="0"/>
              <a:t>。</a:t>
            </a:r>
            <a:endParaRPr lang="en-US" altLang="zh-CN" dirty="0" smtClean="0"/>
          </a:p>
          <a:p>
            <a:endParaRPr lang="zh-CN" altLang="en-US" dirty="0" smtClean="0"/>
          </a:p>
          <a:p>
            <a:r>
              <a:rPr lang="zh-CN" altLang="en-US" dirty="0" smtClean="0"/>
              <a:t>美国地质调查局</a:t>
            </a:r>
            <a:r>
              <a:rPr lang="en-US" altLang="zh-CN" dirty="0" smtClean="0"/>
              <a:t>2014</a:t>
            </a:r>
            <a:r>
              <a:rPr lang="zh-CN" altLang="en-US" dirty="0" smtClean="0"/>
              <a:t>年发布数据显示，全球锌储量共计约</a:t>
            </a:r>
            <a:r>
              <a:rPr lang="en-US" altLang="zh-CN" dirty="0" smtClean="0"/>
              <a:t>25000</a:t>
            </a:r>
            <a:r>
              <a:rPr lang="zh-CN" altLang="en-US" dirty="0" smtClean="0"/>
              <a:t>万吨，包括澳大利亚</a:t>
            </a:r>
            <a:r>
              <a:rPr lang="en-US" altLang="zh-CN" dirty="0" smtClean="0"/>
              <a:t>6400</a:t>
            </a:r>
            <a:r>
              <a:rPr lang="zh-CN" altLang="en-US" dirty="0" smtClean="0"/>
              <a:t>万吨，中国</a:t>
            </a:r>
            <a:r>
              <a:rPr lang="en-US" altLang="zh-CN" dirty="0" smtClean="0"/>
              <a:t>4300</a:t>
            </a:r>
            <a:r>
              <a:rPr lang="zh-CN" altLang="en-US" dirty="0" smtClean="0"/>
              <a:t>万吨，秘鲁</a:t>
            </a:r>
            <a:r>
              <a:rPr lang="en-US" altLang="zh-CN" dirty="0" smtClean="0"/>
              <a:t>2400</a:t>
            </a:r>
            <a:r>
              <a:rPr lang="zh-CN" altLang="en-US" dirty="0" smtClean="0"/>
              <a:t>万吨，墨西哥</a:t>
            </a:r>
            <a:r>
              <a:rPr lang="en-US" altLang="zh-CN" dirty="0" smtClean="0"/>
              <a:t>1800</a:t>
            </a:r>
            <a:r>
              <a:rPr lang="zh-CN" altLang="en-US" dirty="0" smtClean="0"/>
              <a:t>万吨，印度</a:t>
            </a:r>
            <a:r>
              <a:rPr lang="en-US" altLang="zh-CN" dirty="0" smtClean="0"/>
              <a:t>1100</a:t>
            </a:r>
            <a:r>
              <a:rPr lang="zh-CN" altLang="en-US" dirty="0" smtClean="0"/>
              <a:t>万吨，美国</a:t>
            </a:r>
            <a:r>
              <a:rPr lang="en-US" altLang="zh-CN" dirty="0" smtClean="0"/>
              <a:t>1000</a:t>
            </a:r>
            <a:r>
              <a:rPr lang="zh-CN" altLang="en-US" dirty="0" smtClean="0"/>
              <a:t>万吨，哈萨克斯坦</a:t>
            </a:r>
            <a:r>
              <a:rPr lang="en-US" altLang="zh-CN" dirty="0" smtClean="0"/>
              <a:t>1000</a:t>
            </a:r>
            <a:r>
              <a:rPr lang="zh-CN" altLang="en-US" dirty="0" smtClean="0"/>
              <a:t>万吨，加拿大</a:t>
            </a:r>
            <a:r>
              <a:rPr lang="en-US" altLang="zh-CN" dirty="0" smtClean="0"/>
              <a:t>700</a:t>
            </a:r>
            <a:r>
              <a:rPr lang="zh-CN" altLang="en-US" dirty="0" smtClean="0"/>
              <a:t>万吨，玻利维亚</a:t>
            </a:r>
            <a:r>
              <a:rPr lang="en-US" altLang="zh-CN" dirty="0" smtClean="0"/>
              <a:t>520</a:t>
            </a:r>
            <a:r>
              <a:rPr lang="zh-CN" altLang="en-US" dirty="0" smtClean="0"/>
              <a:t>万吨，爱尔兰</a:t>
            </a:r>
            <a:r>
              <a:rPr lang="en-US" altLang="zh-CN" dirty="0" smtClean="0"/>
              <a:t>130</a:t>
            </a:r>
            <a:r>
              <a:rPr lang="zh-CN" altLang="en-US" dirty="0" smtClean="0"/>
              <a:t>万吨，其他国家</a:t>
            </a:r>
            <a:r>
              <a:rPr lang="en-US" altLang="zh-CN" dirty="0" smtClean="0"/>
              <a:t>5700</a:t>
            </a:r>
            <a:r>
              <a:rPr lang="zh-CN" altLang="en-US" dirty="0" smtClean="0"/>
              <a:t>万吨。</a:t>
            </a:r>
          </a:p>
          <a:p>
            <a:endParaRPr lang="zh-CN" altLang="en-US" dirty="0"/>
          </a:p>
        </p:txBody>
      </p:sp>
      <p:pic>
        <p:nvPicPr>
          <p:cNvPr id="6" name="图片 5" descr="res1.jpg"/>
          <p:cNvPicPr>
            <a:picLocks noChangeAspect="1"/>
          </p:cNvPicPr>
          <p:nvPr/>
        </p:nvPicPr>
        <p:blipFill>
          <a:blip r:embed="rId2" cstate="print"/>
          <a:stretch>
            <a:fillRect/>
          </a:stretch>
        </p:blipFill>
        <p:spPr>
          <a:xfrm>
            <a:off x="6467475" y="1196752"/>
            <a:ext cx="2676525" cy="33123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ox(in)">
                                      <p:cBhvr>
                                        <p:cTn id="7" dur="500"/>
                                        <p:tgtEl>
                                          <p:spTgt spid="5">
                                            <p:txEl>
                                              <p:pRg st="0" end="0"/>
                                            </p:txEl>
                                          </p:spTgt>
                                        </p:tgtEl>
                                      </p:cBhvr>
                                    </p:animEffect>
                                  </p:childTnLst>
                                </p:cTn>
                              </p:par>
                            </p:childTnLst>
                          </p:cTn>
                        </p:par>
                        <p:par>
                          <p:cTn id="8" fill="hold">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box(in)">
                                      <p:cBhvr>
                                        <p:cTn id="11" dur="500"/>
                                        <p:tgtEl>
                                          <p:spTgt spid="5">
                                            <p:txEl>
                                              <p:pRg st="1" end="1"/>
                                            </p:txEl>
                                          </p:spTgt>
                                        </p:tgtEl>
                                      </p:cBhvr>
                                    </p:animEffect>
                                  </p:childTnLst>
                                </p:cTn>
                              </p:par>
                            </p:childTnLst>
                          </p:cTn>
                        </p:par>
                        <p:par>
                          <p:cTn id="12" fill="hold">
                            <p:stCondLst>
                              <p:cond delay="1000"/>
                            </p:stCondLst>
                            <p:childTnLst>
                              <p:par>
                                <p:cTn id="13" presetID="4" presetClass="entr" presetSubtype="16" fill="hold" grpId="0" nodeType="after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animEffect transition="in" filter="box(in)">
                                      <p:cBhvr>
                                        <p:cTn id="15" dur="500"/>
                                        <p:tgtEl>
                                          <p:spTgt spid="5">
                                            <p:txEl>
                                              <p:pRg st="3" end="3"/>
                                            </p:txEl>
                                          </p:spTgt>
                                        </p:tgtEl>
                                      </p:cBhvr>
                                    </p:animEffect>
                                  </p:childTnLst>
                                </p:cTn>
                              </p:par>
                            </p:childTnLst>
                          </p:cTn>
                        </p:par>
                        <p:par>
                          <p:cTn id="16" fill="hold">
                            <p:stCondLst>
                              <p:cond delay="1500"/>
                            </p:stCondLst>
                            <p:childTnLst>
                              <p:par>
                                <p:cTn id="17" presetID="4" presetClass="entr" presetSubtype="16" fill="hold" grpId="0" nodeType="after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animEffect transition="in" filter="box(in)">
                                      <p:cBhvr>
                                        <p:cTn id="19" dur="500"/>
                                        <p:tgtEl>
                                          <p:spTgt spid="5">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p:cTn id="24" dur="1000" fill="hold"/>
                                        <p:tgtEl>
                                          <p:spTgt spid="6"/>
                                        </p:tgtEl>
                                        <p:attrNameLst>
                                          <p:attrName>ppt_w</p:attrName>
                                        </p:attrNameLst>
                                      </p:cBhvr>
                                      <p:tavLst>
                                        <p:tav tm="0">
                                          <p:val>
                                            <p:strVal val="#ppt_w*0.70"/>
                                          </p:val>
                                        </p:tav>
                                        <p:tav tm="100000">
                                          <p:val>
                                            <p:strVal val="#ppt_w"/>
                                          </p:val>
                                        </p:tav>
                                      </p:tavLst>
                                    </p:anim>
                                    <p:anim calcmode="lin" valueType="num">
                                      <p:cBhvr>
                                        <p:cTn id="25" dur="1000" fill="hold"/>
                                        <p:tgtEl>
                                          <p:spTgt spid="6"/>
                                        </p:tgtEl>
                                        <p:attrNameLst>
                                          <p:attrName>ppt_h</p:attrName>
                                        </p:attrNameLst>
                                      </p:cBhvr>
                                      <p:tavLst>
                                        <p:tav tm="0">
                                          <p:val>
                                            <p:strVal val="#ppt_h"/>
                                          </p:val>
                                        </p:tav>
                                        <p:tav tm="100000">
                                          <p:val>
                                            <p:strVal val="#ppt_h"/>
                                          </p:val>
                                        </p:tav>
                                      </p:tavLst>
                                    </p:anim>
                                    <p:animEffect transition="in" filter="fade">
                                      <p:cBhvr>
                                        <p:cTn id="2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922114"/>
          </a:xfrm>
        </p:spPr>
        <p:txBody>
          <a:bodyPr/>
          <a:lstStyle/>
          <a:p>
            <a:r>
              <a:rPr lang="zh-CN" altLang="en-US" b="1" dirty="0" smtClean="0"/>
              <a:t>中国锌资源分布</a:t>
            </a:r>
            <a:endParaRPr lang="zh-CN" altLang="en-US" b="1" dirty="0"/>
          </a:p>
        </p:txBody>
      </p:sp>
      <p:sp>
        <p:nvSpPr>
          <p:cNvPr id="3" name="内容占位符 2"/>
          <p:cNvSpPr>
            <a:spLocks noGrp="1"/>
          </p:cNvSpPr>
          <p:nvPr>
            <p:ph idx="1"/>
          </p:nvPr>
        </p:nvSpPr>
        <p:spPr>
          <a:xfrm>
            <a:off x="-252536" y="1196752"/>
            <a:ext cx="4283968" cy="5661248"/>
          </a:xfrm>
        </p:spPr>
        <p:txBody>
          <a:bodyPr>
            <a:normAutofit fontScale="70000" lnSpcReduction="20000"/>
          </a:bodyPr>
          <a:lstStyle/>
          <a:p>
            <a:r>
              <a:rPr lang="zh-CN" altLang="en-US" dirty="0" smtClean="0"/>
              <a:t>根据美国地质调查局</a:t>
            </a:r>
            <a:r>
              <a:rPr lang="en-US" altLang="zh-CN" dirty="0" smtClean="0"/>
              <a:t>2014</a:t>
            </a:r>
            <a:r>
              <a:rPr lang="zh-CN" altLang="en-US" dirty="0" smtClean="0"/>
              <a:t>年发布数据显示，我国锌储量为</a:t>
            </a:r>
            <a:r>
              <a:rPr lang="en-US" altLang="zh-CN" dirty="0" smtClean="0"/>
              <a:t>4300</a:t>
            </a:r>
            <a:r>
              <a:rPr lang="zh-CN" altLang="en-US" dirty="0" smtClean="0"/>
              <a:t>万吨，全国已探明的锌矿床</a:t>
            </a:r>
            <a:r>
              <a:rPr lang="en-US" altLang="zh-CN" dirty="0" smtClean="0"/>
              <a:t>778</a:t>
            </a:r>
            <a:r>
              <a:rPr lang="zh-CN" altLang="en-US" dirty="0" smtClean="0"/>
              <a:t>处（</a:t>
            </a:r>
            <a:r>
              <a:rPr lang="en-US" altLang="zh-CN" dirty="0" smtClean="0"/>
              <a:t>2007</a:t>
            </a:r>
            <a:r>
              <a:rPr lang="zh-CN" altLang="en-US" dirty="0" smtClean="0"/>
              <a:t>年），保有地质储量较多的省份有云南、广东、湖南、甘肃、广西、内蒙古、四川和青海等地。其中云南为最，占全国</a:t>
            </a:r>
            <a:r>
              <a:rPr lang="en-US" altLang="zh-CN" dirty="0" smtClean="0"/>
              <a:t>21.8%</a:t>
            </a:r>
            <a:r>
              <a:rPr lang="zh-CN" altLang="en-US" dirty="0" smtClean="0"/>
              <a:t>；内蒙古次之，占</a:t>
            </a:r>
            <a:r>
              <a:rPr lang="en-US" altLang="zh-CN" dirty="0" smtClean="0"/>
              <a:t>13.5%</a:t>
            </a:r>
            <a:r>
              <a:rPr lang="zh-CN" altLang="en-US" dirty="0" smtClean="0"/>
              <a:t>；其他如甘肃、广东、广西、湖南等省</a:t>
            </a:r>
            <a:r>
              <a:rPr lang="en-US" altLang="zh-CN" dirty="0" smtClean="0"/>
              <a:t>(</a:t>
            </a:r>
            <a:r>
              <a:rPr lang="zh-CN" altLang="en-US" dirty="0" smtClean="0"/>
              <a:t>区</a:t>
            </a:r>
            <a:r>
              <a:rPr lang="en-US" altLang="zh-CN" dirty="0" smtClean="0"/>
              <a:t>)</a:t>
            </a:r>
            <a:r>
              <a:rPr lang="zh-CN" altLang="en-US" dirty="0" smtClean="0"/>
              <a:t>的锌矿资源也较丰富，均在</a:t>
            </a:r>
            <a:r>
              <a:rPr lang="en-US" altLang="zh-CN" dirty="0" smtClean="0"/>
              <a:t>600</a:t>
            </a:r>
            <a:r>
              <a:rPr lang="zh-CN" altLang="en-US" dirty="0" smtClean="0"/>
              <a:t>万吨以上。</a:t>
            </a:r>
          </a:p>
          <a:p>
            <a:r>
              <a:rPr lang="zh-CN" altLang="en-US" dirty="0" smtClean="0"/>
              <a:t>根据</a:t>
            </a:r>
            <a:r>
              <a:rPr lang="en-US" altLang="zh-CN" dirty="0" smtClean="0"/>
              <a:t>2014</a:t>
            </a:r>
            <a:r>
              <a:rPr lang="zh-CN" altLang="en-US" dirty="0" smtClean="0"/>
              <a:t>年国土资源部数据显示，</a:t>
            </a:r>
            <a:r>
              <a:rPr lang="en-US" altLang="zh-CN" dirty="0" smtClean="0"/>
              <a:t>2013</a:t>
            </a:r>
            <a:r>
              <a:rPr lang="zh-CN" altLang="en-US" dirty="0" smtClean="0"/>
              <a:t>年度我国新探明大中型锌矿产地</a:t>
            </a:r>
            <a:r>
              <a:rPr lang="en-US" altLang="zh-CN" dirty="0" smtClean="0"/>
              <a:t>16</a:t>
            </a:r>
            <a:r>
              <a:rPr lang="zh-CN" altLang="en-US" dirty="0" smtClean="0"/>
              <a:t>处，新增锌矿储量</a:t>
            </a:r>
            <a:r>
              <a:rPr lang="en-US" altLang="zh-CN" dirty="0" smtClean="0"/>
              <a:t>1183.2</a:t>
            </a:r>
            <a:r>
              <a:rPr lang="zh-CN" altLang="en-US" dirty="0" smtClean="0"/>
              <a:t>万吨。 </a:t>
            </a:r>
          </a:p>
          <a:p>
            <a:r>
              <a:rPr lang="zh-CN" altLang="en-US" dirty="0" smtClean="0"/>
              <a:t>我国锌资源的总体特征是：富矿少，低品位矿多；大型矿少，中小型矿多；开采难度较大。</a:t>
            </a:r>
          </a:p>
          <a:p>
            <a:endParaRPr lang="zh-CN" altLang="en-US" dirty="0"/>
          </a:p>
        </p:txBody>
      </p:sp>
      <p:pic>
        <p:nvPicPr>
          <p:cNvPr id="4" name="图片 3" descr="res3.jpg"/>
          <p:cNvPicPr>
            <a:picLocks noChangeAspect="1"/>
          </p:cNvPicPr>
          <p:nvPr/>
        </p:nvPicPr>
        <p:blipFill>
          <a:blip r:embed="rId2" cstate="print"/>
          <a:stretch>
            <a:fillRect/>
          </a:stretch>
        </p:blipFill>
        <p:spPr>
          <a:xfrm>
            <a:off x="4067944" y="1196752"/>
            <a:ext cx="5076056" cy="2857500"/>
          </a:xfrm>
          <a:prstGeom prst="rect">
            <a:avLst/>
          </a:prstGeom>
        </p:spPr>
      </p:pic>
      <p:sp>
        <p:nvSpPr>
          <p:cNvPr id="5" name="TextBox 4"/>
          <p:cNvSpPr txBox="1"/>
          <p:nvPr/>
        </p:nvSpPr>
        <p:spPr>
          <a:xfrm>
            <a:off x="4427984" y="4149080"/>
            <a:ext cx="4248472" cy="2246769"/>
          </a:xfrm>
          <a:prstGeom prst="rect">
            <a:avLst/>
          </a:prstGeom>
          <a:noFill/>
        </p:spPr>
        <p:txBody>
          <a:bodyPr wrap="square" rtlCol="0">
            <a:spAutoFit/>
          </a:bodyPr>
          <a:lstStyle/>
          <a:p>
            <a:r>
              <a:rPr lang="zh-CN" altLang="en-US" sz="1400" b="1" dirty="0" smtClean="0"/>
              <a:t>国内生产基地</a:t>
            </a:r>
            <a:endParaRPr lang="zh-CN" altLang="en-US" sz="1400" dirty="0" smtClean="0"/>
          </a:p>
          <a:p>
            <a:r>
              <a:rPr lang="zh-CN" altLang="en-US" sz="1400" dirty="0" smtClean="0"/>
              <a:t>储量高度集中：主要集中在云南、广西、广东、湖南、内蒙古、江西</a:t>
            </a:r>
            <a:r>
              <a:rPr lang="en-US" altLang="zh-CN" sz="1400" dirty="0" smtClean="0"/>
              <a:t>6</a:t>
            </a:r>
            <a:r>
              <a:rPr lang="zh-CN" altLang="en-US" sz="1400" dirty="0" smtClean="0"/>
              <a:t>个省、区。而云南又主要集中在个旧，广西集中在南丹大厂，个旧和大厂二个地区的储量就占了全国总储量的</a:t>
            </a:r>
            <a:r>
              <a:rPr lang="en-US" altLang="zh-CN" sz="1400" dirty="0" smtClean="0"/>
              <a:t>40%</a:t>
            </a:r>
            <a:r>
              <a:rPr lang="zh-CN" altLang="en-US" sz="1400" dirty="0" smtClean="0"/>
              <a:t>左右。</a:t>
            </a:r>
          </a:p>
          <a:p>
            <a:r>
              <a:rPr lang="zh-CN" altLang="en-US" sz="1400" dirty="0" smtClean="0"/>
              <a:t>根据中国铅锌矿产地的分布和建设条件，经</a:t>
            </a:r>
            <a:r>
              <a:rPr lang="en-US" altLang="zh-CN" sz="1400" dirty="0" smtClean="0"/>
              <a:t>40</a:t>
            </a:r>
            <a:r>
              <a:rPr lang="zh-CN" altLang="en-US" sz="1400" dirty="0" smtClean="0"/>
              <a:t>多年的发展和建设，现已形成东北、湖南、两广、滇川、西北等五大铅锌采选冶和加工配套的生产基地，锌产量占全国总产量的</a:t>
            </a:r>
            <a:r>
              <a:rPr lang="en-US" altLang="zh-CN" sz="1400" dirty="0" smtClean="0"/>
              <a:t>95%</a:t>
            </a:r>
            <a:r>
              <a:rPr lang="zh-CN" altLang="en-US" sz="1400" dirty="0" smtClean="0"/>
              <a:t>，此外，内蒙古、江西、贵州等省区也建设了一批中小型矿山。</a:t>
            </a:r>
            <a:endParaRPr lang="zh-CN"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edge">
                                      <p:cBhvr>
                                        <p:cTn id="7" dur="2000"/>
                                        <p:tgtEl>
                                          <p:spTgt spid="3">
                                            <p:txEl>
                                              <p:pRg st="0" end="0"/>
                                            </p:txEl>
                                          </p:spTgt>
                                        </p:tgtEl>
                                      </p:cBhvr>
                                    </p:animEffect>
                                  </p:childTnLst>
                                </p:cTn>
                              </p:par>
                            </p:childTnLst>
                          </p:cTn>
                        </p:par>
                        <p:par>
                          <p:cTn id="8" fill="hold">
                            <p:stCondLst>
                              <p:cond delay="2000"/>
                            </p:stCondLst>
                            <p:childTnLst>
                              <p:par>
                                <p:cTn id="9" presetID="2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edge">
                                      <p:cBhvr>
                                        <p:cTn id="11" dur="2000"/>
                                        <p:tgtEl>
                                          <p:spTgt spid="3">
                                            <p:txEl>
                                              <p:pRg st="1" end="1"/>
                                            </p:txEl>
                                          </p:spTgt>
                                        </p:tgtEl>
                                      </p:cBhvr>
                                    </p:animEffect>
                                  </p:childTnLst>
                                </p:cTn>
                              </p:par>
                            </p:childTnLst>
                          </p:cTn>
                        </p:par>
                        <p:par>
                          <p:cTn id="12" fill="hold">
                            <p:stCondLst>
                              <p:cond delay="4000"/>
                            </p:stCondLst>
                            <p:childTnLst>
                              <p:par>
                                <p:cTn id="13" presetID="2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edge">
                                      <p:cBhvr>
                                        <p:cTn id="15" dur="20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8" presetClass="entr" presetSubtype="12"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strips(downLeft)">
                                      <p:cBhvr>
                                        <p:cTn id="20" dur="500"/>
                                        <p:tgtEl>
                                          <p:spTgt spid="4"/>
                                        </p:tgtEl>
                                      </p:cBhvr>
                                    </p:animEffect>
                                  </p:childTnLst>
                                </p:cTn>
                              </p:par>
                            </p:childTnLst>
                          </p:cTn>
                        </p:par>
                        <p:par>
                          <p:cTn id="21" fill="hold">
                            <p:stCondLst>
                              <p:cond delay="500"/>
                            </p:stCondLst>
                            <p:childTnLst>
                              <p:par>
                                <p:cTn id="22" presetID="4" presetClass="entr" presetSubtype="16"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ox(in)">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锌矿资源</a:t>
            </a:r>
            <a:endParaRPr lang="zh-CN" altLang="en-US" b="1" dirty="0"/>
          </a:p>
        </p:txBody>
      </p:sp>
      <p:sp>
        <p:nvSpPr>
          <p:cNvPr id="3" name="内容占位符 2"/>
          <p:cNvSpPr>
            <a:spLocks noGrp="1"/>
          </p:cNvSpPr>
          <p:nvPr>
            <p:ph idx="1"/>
          </p:nvPr>
        </p:nvSpPr>
        <p:spPr>
          <a:xfrm>
            <a:off x="467544" y="1556793"/>
            <a:ext cx="3096344" cy="1440159"/>
          </a:xfrm>
        </p:spPr>
        <p:txBody>
          <a:bodyPr/>
          <a:lstStyle/>
          <a:p>
            <a:r>
              <a:rPr lang="zh-CN" altLang="en-US" dirty="0" smtClean="0"/>
              <a:t>闪锌矿</a:t>
            </a:r>
            <a:r>
              <a:rPr lang="en-US" altLang="zh-CN" dirty="0" smtClean="0"/>
              <a:t>(</a:t>
            </a:r>
            <a:r>
              <a:rPr lang="en-US" altLang="zh-CN" dirty="0" err="1" smtClean="0"/>
              <a:t>ZnS</a:t>
            </a:r>
            <a:r>
              <a:rPr lang="en-US" altLang="zh-CN" dirty="0" smtClean="0"/>
              <a:t>):</a:t>
            </a:r>
            <a:endParaRPr lang="zh-CN" altLang="en-US" dirty="0"/>
          </a:p>
        </p:txBody>
      </p:sp>
      <p:pic>
        <p:nvPicPr>
          <p:cNvPr id="4" name="图片 3" descr="u=2780567150,409449976&amp;fm=23&amp;gp=0.jpg"/>
          <p:cNvPicPr>
            <a:picLocks noChangeAspect="1"/>
          </p:cNvPicPr>
          <p:nvPr/>
        </p:nvPicPr>
        <p:blipFill>
          <a:blip r:embed="rId2" cstate="print"/>
          <a:stretch>
            <a:fillRect/>
          </a:stretch>
        </p:blipFill>
        <p:spPr>
          <a:xfrm>
            <a:off x="0" y="2420888"/>
            <a:ext cx="3024336" cy="2513299"/>
          </a:xfrm>
          <a:prstGeom prst="rect">
            <a:avLst/>
          </a:prstGeom>
        </p:spPr>
      </p:pic>
      <p:pic>
        <p:nvPicPr>
          <p:cNvPr id="6" name="图片 5" descr="u=3848202764,963842477&amp;fm=23&amp;gp=0.jpg"/>
          <p:cNvPicPr>
            <a:picLocks noChangeAspect="1"/>
          </p:cNvPicPr>
          <p:nvPr/>
        </p:nvPicPr>
        <p:blipFill>
          <a:blip r:embed="rId3" cstate="print"/>
          <a:stretch>
            <a:fillRect/>
          </a:stretch>
        </p:blipFill>
        <p:spPr>
          <a:xfrm>
            <a:off x="3203848" y="2996952"/>
            <a:ext cx="4314110" cy="2348880"/>
          </a:xfrm>
          <a:prstGeom prst="rect">
            <a:avLst/>
          </a:prstGeom>
        </p:spPr>
      </p:pic>
      <p:pic>
        <p:nvPicPr>
          <p:cNvPr id="7" name="图片 6" descr="u=1650392752,3905870047&amp;fm=23&amp;gp=0.jpg"/>
          <p:cNvPicPr>
            <a:picLocks noChangeAspect="1"/>
          </p:cNvPicPr>
          <p:nvPr/>
        </p:nvPicPr>
        <p:blipFill>
          <a:blip r:embed="rId4" cstate="print"/>
          <a:stretch>
            <a:fillRect/>
          </a:stretch>
        </p:blipFill>
        <p:spPr>
          <a:xfrm>
            <a:off x="5868144" y="2996952"/>
            <a:ext cx="2919204" cy="2373337"/>
          </a:xfrm>
          <a:prstGeom prst="rect">
            <a:avLst/>
          </a:prstGeom>
        </p:spPr>
      </p:pic>
      <p:sp>
        <p:nvSpPr>
          <p:cNvPr id="8" name="TextBox 7"/>
          <p:cNvSpPr txBox="1"/>
          <p:nvPr/>
        </p:nvSpPr>
        <p:spPr>
          <a:xfrm>
            <a:off x="4860032" y="1628800"/>
            <a:ext cx="3096344" cy="584775"/>
          </a:xfrm>
          <a:prstGeom prst="rect">
            <a:avLst/>
          </a:prstGeom>
          <a:noFill/>
        </p:spPr>
        <p:txBody>
          <a:bodyPr wrap="square" rtlCol="0">
            <a:spAutoFit/>
          </a:bodyPr>
          <a:lstStyle/>
          <a:p>
            <a:r>
              <a:rPr lang="zh-CN" altLang="en-US" sz="3200" dirty="0" smtClean="0"/>
              <a:t>菱锌矿</a:t>
            </a:r>
            <a:r>
              <a:rPr lang="en-US" altLang="zh-CN" sz="3200" dirty="0" smtClean="0"/>
              <a:t>(ZnCO3)</a:t>
            </a:r>
            <a:r>
              <a:rPr lang="zh-CN" altLang="en-US" sz="3200" dirty="0" smtClean="0"/>
              <a:t>：</a:t>
            </a:r>
            <a:r>
              <a:rPr lang="en-US" altLang="zh-CN" sz="3200" dirty="0" smtClean="0"/>
              <a:t>    </a:t>
            </a: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par>
                          <p:cTn id="8" fill="hold">
                            <p:stCondLst>
                              <p:cond delay="500"/>
                            </p:stCondLst>
                            <p:childTnLst>
                              <p:par>
                                <p:cTn id="9" presetID="39" presetClass="entr" presetSubtype="0" accel="10000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ppt_h</p:attrName>
                                        </p:attrNameLst>
                                      </p:cBhvr>
                                      <p:tavLst>
                                        <p:tav tm="0">
                                          <p:val>
                                            <p:strVal val="#ppt_h/20"/>
                                          </p:val>
                                        </p:tav>
                                        <p:tav tm="50000">
                                          <p:val>
                                            <p:strVal val="#ppt_h/20"/>
                                          </p:val>
                                        </p:tav>
                                        <p:tav tm="100000">
                                          <p:val>
                                            <p:strVal val="#ppt_h"/>
                                          </p:val>
                                        </p:tav>
                                      </p:tavLst>
                                    </p:anim>
                                    <p:anim calcmode="lin" valueType="num">
                                      <p:cBhvr>
                                        <p:cTn id="12" dur="500" fill="hold"/>
                                        <p:tgtEl>
                                          <p:spTgt spid="4"/>
                                        </p:tgtEl>
                                        <p:attrNameLst>
                                          <p:attrName>ppt_w</p:attrName>
                                        </p:attrNameLst>
                                      </p:cBhvr>
                                      <p:tavLst>
                                        <p:tav tm="0">
                                          <p:val>
                                            <p:strVal val="#ppt_w+.3"/>
                                          </p:val>
                                        </p:tav>
                                        <p:tav tm="50000">
                                          <p:val>
                                            <p:strVal val="#ppt_w+.3"/>
                                          </p:val>
                                        </p:tav>
                                        <p:tav tm="100000">
                                          <p:val>
                                            <p:strVal val="#ppt_w"/>
                                          </p:val>
                                        </p:tav>
                                      </p:tavLst>
                                    </p:anim>
                                    <p:anim calcmode="lin" valueType="num">
                                      <p:cBhvr>
                                        <p:cTn id="13" dur="500" fill="hold"/>
                                        <p:tgtEl>
                                          <p:spTgt spid="4"/>
                                        </p:tgtEl>
                                        <p:attrNameLst>
                                          <p:attrName>ppt_x</p:attrName>
                                        </p:attrNameLst>
                                      </p:cBhvr>
                                      <p:tavLst>
                                        <p:tav tm="0">
                                          <p:val>
                                            <p:strVal val="#ppt_x-.3"/>
                                          </p:val>
                                        </p:tav>
                                        <p:tav tm="50000">
                                          <p:val>
                                            <p:strVal val="#ppt_x"/>
                                          </p:val>
                                        </p:tav>
                                        <p:tav tm="100000">
                                          <p:val>
                                            <p:strVal val="#ppt_x"/>
                                          </p:val>
                                        </p:tav>
                                      </p:tavLst>
                                    </p:anim>
                                    <p:anim calcmode="lin" valueType="num">
                                      <p:cBhvr>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8" presetClass="entr" presetSubtype="12"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strips(downLeft)">
                                      <p:cBhvr>
                                        <p:cTn id="19" dur="500"/>
                                        <p:tgtEl>
                                          <p:spTgt spid="8"/>
                                        </p:tgtEl>
                                      </p:cBhvr>
                                    </p:animEffect>
                                  </p:childTnLst>
                                </p:cTn>
                              </p:par>
                            </p:childTnLst>
                          </p:cTn>
                        </p:par>
                        <p:par>
                          <p:cTn id="20" fill="hold">
                            <p:stCondLst>
                              <p:cond delay="500"/>
                            </p:stCondLst>
                            <p:childTnLst>
                              <p:par>
                                <p:cTn id="21" presetID="39" presetClass="entr" presetSubtype="0" accel="100000"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ppt_h</p:attrName>
                                        </p:attrNameLst>
                                      </p:cBhvr>
                                      <p:tavLst>
                                        <p:tav tm="0">
                                          <p:val>
                                            <p:strVal val="#ppt_h/20"/>
                                          </p:val>
                                        </p:tav>
                                        <p:tav tm="50000">
                                          <p:val>
                                            <p:strVal val="#ppt_h/20"/>
                                          </p:val>
                                        </p:tav>
                                        <p:tav tm="100000">
                                          <p:val>
                                            <p:strVal val="#ppt_h"/>
                                          </p:val>
                                        </p:tav>
                                      </p:tavLst>
                                    </p:anim>
                                    <p:anim calcmode="lin" valueType="num">
                                      <p:cBhvr>
                                        <p:cTn id="24" dur="1000" fill="hold"/>
                                        <p:tgtEl>
                                          <p:spTgt spid="6"/>
                                        </p:tgtEl>
                                        <p:attrNameLst>
                                          <p:attrName>ppt_w</p:attrName>
                                        </p:attrNameLst>
                                      </p:cBhvr>
                                      <p:tavLst>
                                        <p:tav tm="0">
                                          <p:val>
                                            <p:strVal val="#ppt_w+.3"/>
                                          </p:val>
                                        </p:tav>
                                        <p:tav tm="50000">
                                          <p:val>
                                            <p:strVal val="#ppt_w+.3"/>
                                          </p:val>
                                        </p:tav>
                                        <p:tav tm="100000">
                                          <p:val>
                                            <p:strVal val="#ppt_w"/>
                                          </p:val>
                                        </p:tav>
                                      </p:tavLst>
                                    </p:anim>
                                    <p:anim calcmode="lin" valueType="num">
                                      <p:cBhvr>
                                        <p:cTn id="25" dur="1000" fill="hold"/>
                                        <p:tgtEl>
                                          <p:spTgt spid="6"/>
                                        </p:tgtEl>
                                        <p:attrNameLst>
                                          <p:attrName>ppt_x</p:attrName>
                                        </p:attrNameLst>
                                      </p:cBhvr>
                                      <p:tavLst>
                                        <p:tav tm="0">
                                          <p:val>
                                            <p:strVal val="#ppt_x-.3"/>
                                          </p:val>
                                        </p:tav>
                                        <p:tav tm="5000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dissolve">
                                      <p:cBhvr>
                                        <p:cTn id="3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smtClean="0"/>
              <a:t>锌矿消费情况</a:t>
            </a:r>
            <a:endParaRPr lang="zh-CN" altLang="en-US" b="1" dirty="0"/>
          </a:p>
        </p:txBody>
      </p:sp>
      <p:sp>
        <p:nvSpPr>
          <p:cNvPr id="3" name="内容占位符 2"/>
          <p:cNvSpPr>
            <a:spLocks noGrp="1"/>
          </p:cNvSpPr>
          <p:nvPr>
            <p:ph idx="1"/>
          </p:nvPr>
        </p:nvSpPr>
        <p:spPr>
          <a:xfrm>
            <a:off x="467544" y="1484785"/>
            <a:ext cx="7776864" cy="2232247"/>
          </a:xfrm>
        </p:spPr>
        <p:txBody>
          <a:bodyPr/>
          <a:lstStyle/>
          <a:p>
            <a:pPr>
              <a:buNone/>
            </a:pPr>
            <a:r>
              <a:rPr lang="zh-CN" altLang="en-US" dirty="0" smtClean="0"/>
              <a:t>根据美国地址调查局</a:t>
            </a:r>
            <a:r>
              <a:rPr lang="en-US" altLang="zh-CN" dirty="0" smtClean="0"/>
              <a:t>2014</a:t>
            </a:r>
            <a:r>
              <a:rPr lang="zh-CN" altLang="en-US" dirty="0" smtClean="0"/>
              <a:t>年发布数据显示，</a:t>
            </a:r>
            <a:r>
              <a:rPr lang="en-US" altLang="zh-CN" dirty="0" smtClean="0"/>
              <a:t>2012</a:t>
            </a:r>
            <a:r>
              <a:rPr lang="zh-CN" altLang="en-US" dirty="0" smtClean="0"/>
              <a:t>年和</a:t>
            </a:r>
            <a:r>
              <a:rPr lang="en-US" altLang="zh-CN" dirty="0" smtClean="0"/>
              <a:t>2013</a:t>
            </a:r>
            <a:r>
              <a:rPr lang="zh-CN" altLang="en-US" dirty="0" smtClean="0"/>
              <a:t>年锌矿产量如下表所示：</a:t>
            </a:r>
          </a:p>
          <a:p>
            <a:pPr>
              <a:buNone/>
            </a:pPr>
            <a:endParaRPr lang="zh-CN" altLang="en-US" dirty="0"/>
          </a:p>
        </p:txBody>
      </p:sp>
      <p:pic>
        <p:nvPicPr>
          <p:cNvPr id="4" name="图片 3" descr="res2.jpg"/>
          <p:cNvPicPr>
            <a:picLocks noChangeAspect="1"/>
          </p:cNvPicPr>
          <p:nvPr/>
        </p:nvPicPr>
        <p:blipFill>
          <a:blip r:embed="rId2" cstate="print"/>
          <a:stretch>
            <a:fillRect/>
          </a:stretch>
        </p:blipFill>
        <p:spPr>
          <a:xfrm>
            <a:off x="0" y="2492896"/>
            <a:ext cx="4657725" cy="2905125"/>
          </a:xfrm>
          <a:prstGeom prst="rect">
            <a:avLst/>
          </a:prstGeom>
        </p:spPr>
      </p:pic>
      <p:pic>
        <p:nvPicPr>
          <p:cNvPr id="5" name="图片 4" descr="res4.jpg"/>
          <p:cNvPicPr>
            <a:picLocks noChangeAspect="1"/>
          </p:cNvPicPr>
          <p:nvPr/>
        </p:nvPicPr>
        <p:blipFill>
          <a:blip r:embed="rId3" cstate="print"/>
          <a:stretch>
            <a:fillRect/>
          </a:stretch>
        </p:blipFill>
        <p:spPr>
          <a:xfrm>
            <a:off x="5004048" y="2564904"/>
            <a:ext cx="3952875" cy="2781300"/>
          </a:xfrm>
          <a:prstGeom prst="rect">
            <a:avLst/>
          </a:prstGeom>
        </p:spPr>
      </p:pic>
      <p:sp>
        <p:nvSpPr>
          <p:cNvPr id="6" name="TextBox 5"/>
          <p:cNvSpPr txBox="1"/>
          <p:nvPr/>
        </p:nvSpPr>
        <p:spPr>
          <a:xfrm>
            <a:off x="539552" y="5380672"/>
            <a:ext cx="8136904" cy="1477328"/>
          </a:xfrm>
          <a:prstGeom prst="rect">
            <a:avLst/>
          </a:prstGeom>
          <a:noFill/>
        </p:spPr>
        <p:txBody>
          <a:bodyPr wrap="square" rtlCol="0">
            <a:spAutoFit/>
          </a:bodyPr>
          <a:lstStyle/>
          <a:p>
            <a:r>
              <a:rPr lang="zh-CN" altLang="en-US" dirty="0" smtClean="0"/>
              <a:t>锌主产国：美国、澳大利亚、玻利维亚、加拿大、中国、印度、爱尔兰、哈萨克斯坦、墨西哥、秘鲁。</a:t>
            </a:r>
          </a:p>
          <a:p>
            <a:r>
              <a:rPr lang="zh-CN" altLang="en-US" dirty="0" smtClean="0"/>
              <a:t>锌主要消费国：中国、美国、德国、日本、韩国、意大利、印度、比利时等。</a:t>
            </a:r>
          </a:p>
          <a:p>
            <a:r>
              <a:rPr lang="zh-CN" altLang="en-US" dirty="0" smtClean="0"/>
              <a:t>锌主要进口国：美国、德国、日本、韩国等。</a:t>
            </a:r>
          </a:p>
          <a:p>
            <a:r>
              <a:rPr lang="zh-CN" altLang="en-US" dirty="0" smtClean="0"/>
              <a:t>锌主要出口国：加拿大、墨西哥、秘鲁、西班牙等。</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1"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strips(down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2" presetClass="entr" presetSubtype="2"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1+#ppt_w/2"/>
                                          </p:val>
                                        </p:tav>
                                        <p:tav tm="100000">
                                          <p:val>
                                            <p:strVal val="#ppt_x"/>
                                          </p:val>
                                        </p:tav>
                                      </p:tavLst>
                                    </p:anim>
                                    <p:anim calcmode="lin" valueType="num">
                                      <p:cBhvr additive="base">
                                        <p:cTn id="1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box(in)">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build="p"/>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锌行业国内外名企</a:t>
            </a:r>
            <a:endParaRPr lang="zh-CN" altLang="en-US" b="1" dirty="0"/>
          </a:p>
        </p:txBody>
      </p:sp>
      <p:sp>
        <p:nvSpPr>
          <p:cNvPr id="3" name="内容占位符 2"/>
          <p:cNvSpPr>
            <a:spLocks noGrp="1"/>
          </p:cNvSpPr>
          <p:nvPr>
            <p:ph idx="1"/>
          </p:nvPr>
        </p:nvSpPr>
        <p:spPr>
          <a:xfrm>
            <a:off x="395536" y="1052736"/>
            <a:ext cx="8229600" cy="6048672"/>
          </a:xfrm>
        </p:spPr>
        <p:txBody>
          <a:bodyPr>
            <a:normAutofit fontScale="70000" lnSpcReduction="20000"/>
          </a:bodyPr>
          <a:lstStyle/>
          <a:p>
            <a:endParaRPr lang="zh-CN" altLang="en-US" i="1" dirty="0" smtClean="0"/>
          </a:p>
          <a:p>
            <a:r>
              <a:rPr lang="zh-CN" altLang="en-US" b="1" dirty="0" smtClean="0"/>
              <a:t>国内知名企业：</a:t>
            </a:r>
            <a:r>
              <a:rPr lang="zh-CN" altLang="en-US" dirty="0" smtClean="0"/>
              <a:t>驰宏锌锗、株冶集团、紫金矿业、罗平锌电、宏达股份、西部矿业、中色股份、葫芦岛锌业股份有限公司、中金岭南、汉中锌业、济源市金利、水口山有色金属、河南省安阳市豫北金属冶炼厂、焦作东方金铅、柳州锌品股份有限公司、湖南黄沙坪铅锌矿等。</a:t>
            </a:r>
          </a:p>
          <a:p>
            <a:r>
              <a:rPr lang="zh-CN" altLang="en-US" b="1" dirty="0" smtClean="0"/>
              <a:t>国外知名企业：</a:t>
            </a:r>
            <a:endParaRPr lang="zh-CN" altLang="en-US" dirty="0" smtClean="0"/>
          </a:p>
          <a:p>
            <a:r>
              <a:rPr lang="zh-CN" altLang="en-US" dirty="0" smtClean="0"/>
              <a:t>美国：</a:t>
            </a:r>
            <a:r>
              <a:rPr lang="en-US" altLang="zh-CN" dirty="0" smtClean="0"/>
              <a:t>American Zink Company(ASARCO) </a:t>
            </a:r>
            <a:r>
              <a:rPr lang="zh-CN" altLang="en-US" dirty="0" smtClean="0"/>
              <a:t>美国熔炼公司；</a:t>
            </a:r>
          </a:p>
          <a:p>
            <a:r>
              <a:rPr lang="zh-CN" altLang="en-US" dirty="0" smtClean="0"/>
              <a:t>西班牙：</a:t>
            </a:r>
            <a:r>
              <a:rPr lang="en-US" altLang="zh-CN" dirty="0" smtClean="0"/>
              <a:t>Xstrata Zinc </a:t>
            </a:r>
            <a:r>
              <a:rPr lang="zh-CN" altLang="en-US" dirty="0" smtClean="0"/>
              <a:t>斯特拉塔锌业公司；</a:t>
            </a:r>
          </a:p>
          <a:p>
            <a:r>
              <a:rPr lang="zh-CN" altLang="en-US" dirty="0" smtClean="0"/>
              <a:t>加拿大：</a:t>
            </a:r>
            <a:r>
              <a:rPr lang="en-US" altLang="zh-CN" dirty="0" smtClean="0"/>
              <a:t>Canada Zinc Metals Corp. </a:t>
            </a:r>
            <a:r>
              <a:rPr lang="zh-CN" altLang="en-US" dirty="0" smtClean="0"/>
              <a:t>加拿大锌金属集团，</a:t>
            </a:r>
            <a:r>
              <a:rPr lang="en-US" altLang="zh-CN" dirty="0" err="1" smtClean="0"/>
              <a:t>Teck</a:t>
            </a:r>
            <a:r>
              <a:rPr lang="zh-CN" altLang="en-US" dirty="0" smtClean="0"/>
              <a:t>泰克公司；</a:t>
            </a:r>
          </a:p>
          <a:p>
            <a:r>
              <a:rPr lang="zh-CN" altLang="en-US" dirty="0" smtClean="0"/>
              <a:t>澳大利亚：</a:t>
            </a:r>
            <a:r>
              <a:rPr lang="en-US" altLang="zh-CN" dirty="0" err="1" smtClean="0"/>
              <a:t>Angas</a:t>
            </a:r>
            <a:r>
              <a:rPr lang="en-US" altLang="zh-CN" dirty="0" smtClean="0"/>
              <a:t> Zinc Mine </a:t>
            </a:r>
            <a:r>
              <a:rPr lang="zh-CN" altLang="en-US" dirty="0" smtClean="0"/>
              <a:t>安加斯锌矿，</a:t>
            </a:r>
            <a:r>
              <a:rPr lang="en-US" altLang="zh-CN" dirty="0" err="1" smtClean="0"/>
              <a:t>VMZinc</a:t>
            </a:r>
            <a:r>
              <a:rPr lang="en-US" altLang="zh-CN" dirty="0" smtClean="0"/>
              <a:t> Sun Metals Corporation </a:t>
            </a:r>
            <a:r>
              <a:rPr lang="en-US" altLang="zh-CN" dirty="0" err="1" smtClean="0"/>
              <a:t>Umicore</a:t>
            </a:r>
            <a:r>
              <a:rPr lang="en-US" altLang="zh-CN" dirty="0" smtClean="0"/>
              <a:t> Zinc Chemicals</a:t>
            </a:r>
            <a:r>
              <a:rPr lang="zh-CN" altLang="en-US" dirty="0" smtClean="0"/>
              <a:t>优美科锌业有限公司；</a:t>
            </a:r>
          </a:p>
          <a:p>
            <a:r>
              <a:rPr lang="zh-CN" altLang="en-US" dirty="0" smtClean="0"/>
              <a:t>法国：</a:t>
            </a:r>
            <a:r>
              <a:rPr lang="en-US" altLang="zh-CN" dirty="0" err="1" smtClean="0"/>
              <a:t>Nyrstar</a:t>
            </a:r>
            <a:r>
              <a:rPr lang="en-US" altLang="zh-CN" dirty="0" smtClean="0"/>
              <a:t> </a:t>
            </a:r>
            <a:r>
              <a:rPr lang="zh-CN" altLang="en-US" dirty="0" smtClean="0"/>
              <a:t>新星公司；</a:t>
            </a:r>
          </a:p>
          <a:p>
            <a:r>
              <a:rPr lang="zh-CN" altLang="en-US" dirty="0" smtClean="0"/>
              <a:t>哈萨克斯坦：</a:t>
            </a:r>
            <a:r>
              <a:rPr lang="en-US" altLang="zh-CN" dirty="0" err="1" smtClean="0"/>
              <a:t>Shalkiya</a:t>
            </a:r>
            <a:r>
              <a:rPr lang="en-US" altLang="zh-CN" dirty="0" smtClean="0"/>
              <a:t> Zinc Group </a:t>
            </a:r>
            <a:r>
              <a:rPr lang="en-US" altLang="zh-CN" dirty="0" err="1" smtClean="0"/>
              <a:t>Shalkiya</a:t>
            </a:r>
            <a:r>
              <a:rPr lang="zh-CN" altLang="en-US" dirty="0" smtClean="0"/>
              <a:t>锌业公司；</a:t>
            </a:r>
          </a:p>
          <a:p>
            <a:r>
              <a:rPr lang="zh-CN" altLang="en-US" dirty="0" smtClean="0"/>
              <a:t>秘鲁：</a:t>
            </a:r>
            <a:r>
              <a:rPr lang="en-US" altLang="zh-CN" dirty="0" smtClean="0"/>
              <a:t>The </a:t>
            </a:r>
            <a:r>
              <a:rPr lang="en-US" altLang="zh-CN" dirty="0" err="1" smtClean="0"/>
              <a:t>Antamina</a:t>
            </a:r>
            <a:r>
              <a:rPr lang="en-US" altLang="zh-CN" dirty="0" smtClean="0"/>
              <a:t> copper-zinc mine</a:t>
            </a:r>
            <a:r>
              <a:rPr lang="zh-CN" altLang="en-US" dirty="0" smtClean="0"/>
              <a:t>安塔米娜铜锌矿业；</a:t>
            </a:r>
          </a:p>
          <a:p>
            <a:r>
              <a:rPr lang="zh-CN" altLang="en-US" dirty="0" smtClean="0"/>
              <a:t>韩国</a:t>
            </a:r>
            <a:r>
              <a:rPr lang="en-US" altLang="zh-CN" dirty="0" smtClean="0"/>
              <a:t>: Korea Zinc </a:t>
            </a:r>
            <a:r>
              <a:rPr lang="zh-CN" altLang="en-US" dirty="0" smtClean="0"/>
              <a:t>韩国高丽亚铅公司；</a:t>
            </a:r>
          </a:p>
          <a:p>
            <a:r>
              <a:rPr lang="zh-CN" altLang="en-US" dirty="0" smtClean="0"/>
              <a:t>英国：</a:t>
            </a:r>
            <a:r>
              <a:rPr lang="en-US" altLang="zh-CN" dirty="0" smtClean="0"/>
              <a:t>Vedanta Resources</a:t>
            </a:r>
            <a:r>
              <a:rPr lang="zh-CN" altLang="en-US" dirty="0" smtClean="0"/>
              <a:t>（</a:t>
            </a:r>
            <a:r>
              <a:rPr lang="en-US" altLang="zh-CN" dirty="0" smtClean="0"/>
              <a:t>UK</a:t>
            </a:r>
            <a:r>
              <a:rPr lang="zh-CN" altLang="en-US" dirty="0" smtClean="0"/>
              <a:t>）万达塔资源公司。</a:t>
            </a:r>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blinds(horizontal)">
                                      <p:cBhvr>
                                        <p:cTn id="11" dur="500"/>
                                        <p:tgtEl>
                                          <p:spTgt spid="3">
                                            <p:txEl>
                                              <p:pRg st="2" end="2"/>
                                            </p:txEl>
                                          </p:spTgt>
                                        </p:tgtEl>
                                      </p:cBhvr>
                                    </p:animEffect>
                                  </p:childTnLst>
                                </p:cTn>
                              </p:par>
                            </p:childTnLst>
                          </p:cTn>
                        </p:par>
                        <p:par>
                          <p:cTn id="12" fill="hold">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linds(horizontal)">
                                      <p:cBhvr>
                                        <p:cTn id="15" dur="500"/>
                                        <p:tgtEl>
                                          <p:spTgt spid="3">
                                            <p:txEl>
                                              <p:pRg st="3" end="3"/>
                                            </p:txEl>
                                          </p:spTgt>
                                        </p:tgtEl>
                                      </p:cBhvr>
                                    </p:animEffect>
                                  </p:childTnLst>
                                </p:cTn>
                              </p:par>
                            </p:childTnLst>
                          </p:cTn>
                        </p:par>
                        <p:par>
                          <p:cTn id="16" fill="hold">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linds(horizontal)">
                                      <p:cBhvr>
                                        <p:cTn id="19" dur="500"/>
                                        <p:tgtEl>
                                          <p:spTgt spid="3">
                                            <p:txEl>
                                              <p:pRg st="4" end="4"/>
                                            </p:txEl>
                                          </p:spTgt>
                                        </p:tgtEl>
                                      </p:cBhvr>
                                    </p:animEffect>
                                  </p:childTnLst>
                                </p:cTn>
                              </p:par>
                            </p:childTnLst>
                          </p:cTn>
                        </p:par>
                        <p:par>
                          <p:cTn id="20" fill="hold">
                            <p:stCondLst>
                              <p:cond delay="2000"/>
                            </p:stCondLst>
                            <p:childTnLst>
                              <p:par>
                                <p:cTn id="21" presetID="3" presetClass="entr" presetSubtype="10" fill="hold" grpId="0" nodeType="after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blinds(horizontal)">
                                      <p:cBhvr>
                                        <p:cTn id="23" dur="500"/>
                                        <p:tgtEl>
                                          <p:spTgt spid="3">
                                            <p:txEl>
                                              <p:pRg st="5" end="5"/>
                                            </p:txEl>
                                          </p:spTgt>
                                        </p:tgtEl>
                                      </p:cBhvr>
                                    </p:animEffect>
                                  </p:childTnLst>
                                </p:cTn>
                              </p:par>
                            </p:childTnLst>
                          </p:cTn>
                        </p:par>
                        <p:par>
                          <p:cTn id="24" fill="hold">
                            <p:stCondLst>
                              <p:cond delay="2500"/>
                            </p:stCondLst>
                            <p:childTnLst>
                              <p:par>
                                <p:cTn id="25" presetID="3" presetClass="entr" presetSubtype="10" fill="hold" grpId="0" nodeType="after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blinds(horizontal)">
                                      <p:cBhvr>
                                        <p:cTn id="27" dur="500"/>
                                        <p:tgtEl>
                                          <p:spTgt spid="3">
                                            <p:txEl>
                                              <p:pRg st="6" end="6"/>
                                            </p:txEl>
                                          </p:spTgt>
                                        </p:tgtEl>
                                      </p:cBhvr>
                                    </p:animEffect>
                                  </p:childTnLst>
                                </p:cTn>
                              </p:par>
                            </p:childTnLst>
                          </p:cTn>
                        </p:par>
                        <p:par>
                          <p:cTn id="28" fill="hold">
                            <p:stCondLst>
                              <p:cond delay="3000"/>
                            </p:stCondLst>
                            <p:childTnLst>
                              <p:par>
                                <p:cTn id="29" presetID="3" presetClass="entr" presetSubtype="10" fill="hold" grpId="0" nodeType="after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blinds(horizontal)">
                                      <p:cBhvr>
                                        <p:cTn id="31" dur="500"/>
                                        <p:tgtEl>
                                          <p:spTgt spid="3">
                                            <p:txEl>
                                              <p:pRg st="7" end="7"/>
                                            </p:txEl>
                                          </p:spTgt>
                                        </p:tgtEl>
                                      </p:cBhvr>
                                    </p:animEffect>
                                  </p:childTnLst>
                                </p:cTn>
                              </p:par>
                            </p:childTnLst>
                          </p:cTn>
                        </p:par>
                        <p:par>
                          <p:cTn id="32" fill="hold">
                            <p:stCondLst>
                              <p:cond delay="3500"/>
                            </p:stCondLst>
                            <p:childTnLst>
                              <p:par>
                                <p:cTn id="33" presetID="3" presetClass="entr" presetSubtype="10" fill="hold" grpId="0" nodeType="after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blinds(horizontal)">
                                      <p:cBhvr>
                                        <p:cTn id="35" dur="500"/>
                                        <p:tgtEl>
                                          <p:spTgt spid="3">
                                            <p:txEl>
                                              <p:pRg st="8" end="8"/>
                                            </p:txEl>
                                          </p:spTgt>
                                        </p:tgtEl>
                                      </p:cBhvr>
                                    </p:animEffect>
                                  </p:childTnLst>
                                </p:cTn>
                              </p:par>
                            </p:childTnLst>
                          </p:cTn>
                        </p:par>
                        <p:par>
                          <p:cTn id="36" fill="hold">
                            <p:stCondLst>
                              <p:cond delay="4000"/>
                            </p:stCondLst>
                            <p:childTnLst>
                              <p:par>
                                <p:cTn id="37" presetID="3" presetClass="entr" presetSubtype="10" fill="hold" grpId="0" nodeType="after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Effect transition="in" filter="blinds(horizontal)">
                                      <p:cBhvr>
                                        <p:cTn id="39" dur="500"/>
                                        <p:tgtEl>
                                          <p:spTgt spid="3">
                                            <p:txEl>
                                              <p:pRg st="9" end="9"/>
                                            </p:txEl>
                                          </p:spTgt>
                                        </p:tgtEl>
                                      </p:cBhvr>
                                    </p:animEffect>
                                  </p:childTnLst>
                                </p:cTn>
                              </p:par>
                            </p:childTnLst>
                          </p:cTn>
                        </p:par>
                        <p:par>
                          <p:cTn id="40" fill="hold">
                            <p:stCondLst>
                              <p:cond delay="4500"/>
                            </p:stCondLst>
                            <p:childTnLst>
                              <p:par>
                                <p:cTn id="41" presetID="3" presetClass="entr" presetSubtype="10" fill="hold" grpId="0" nodeType="after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Effect transition="in" filter="blinds(horizontal)">
                                      <p:cBhvr>
                                        <p:cTn id="43" dur="500"/>
                                        <p:tgtEl>
                                          <p:spTgt spid="3">
                                            <p:txEl>
                                              <p:pRg st="10" end="10"/>
                                            </p:txEl>
                                          </p:spTgt>
                                        </p:tgtEl>
                                      </p:cBhvr>
                                    </p:animEffect>
                                  </p:childTnLst>
                                </p:cTn>
                              </p:par>
                            </p:childTnLst>
                          </p:cTn>
                        </p:par>
                        <p:par>
                          <p:cTn id="44" fill="hold">
                            <p:stCondLst>
                              <p:cond delay="5000"/>
                            </p:stCondLst>
                            <p:childTnLst>
                              <p:par>
                                <p:cTn id="45" presetID="3" presetClass="entr" presetSubtype="10" fill="hold" grpId="0" nodeType="after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animEffect transition="in" filter="blinds(horizontal)">
                                      <p:cBhvr>
                                        <p:cTn id="47"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锌行业发展</a:t>
            </a:r>
            <a:endParaRPr lang="zh-CN" altLang="en-US" b="1" dirty="0"/>
          </a:p>
        </p:txBody>
      </p:sp>
      <p:sp>
        <p:nvSpPr>
          <p:cNvPr id="3" name="内容占位符 2"/>
          <p:cNvSpPr>
            <a:spLocks noGrp="1"/>
          </p:cNvSpPr>
          <p:nvPr>
            <p:ph idx="1"/>
          </p:nvPr>
        </p:nvSpPr>
        <p:spPr>
          <a:xfrm>
            <a:off x="179512" y="1340768"/>
            <a:ext cx="8640960" cy="5517232"/>
          </a:xfrm>
        </p:spPr>
        <p:txBody>
          <a:bodyPr>
            <a:normAutofit/>
          </a:bodyPr>
          <a:lstStyle/>
          <a:p>
            <a:r>
              <a:rPr lang="zh-CN" altLang="en-US" dirty="0" smtClean="0"/>
              <a:t>自</a:t>
            </a:r>
            <a:r>
              <a:rPr lang="en-US" altLang="zh-CN" dirty="0" smtClean="0"/>
              <a:t>2000</a:t>
            </a:r>
            <a:r>
              <a:rPr lang="zh-CN" altLang="en-US" dirty="0" smtClean="0"/>
              <a:t>年以来，中国一直是全球最大的锌生产国和消费国，中国铅锌工业的发展受到国际铅锌行业的关注。然而当前无论是中国市场还是全球市场都普遍存在着锌产能严重过剩的问题。当前我国锌行业急需调整产业结构、加强锌行业技术创新、加快锌企业兼并重组工作。全球锌产业发展至今已经达到高峰，随着中国经济增速放缓，对于锌的需求也将逐步稳定下来，未来锌产业发展也将更多通过技术水平提升来改善产品质量和产业结构。</a:t>
            </a:r>
            <a:endParaRPr lang="zh-CN" alt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0"/>
            <a:ext cx="8229600" cy="1143000"/>
          </a:xfrm>
        </p:spPr>
        <p:txBody>
          <a:bodyPr/>
          <a:lstStyle/>
          <a:p>
            <a:r>
              <a:rPr lang="zh-CN" altLang="en-US" b="1" dirty="0" smtClean="0"/>
              <a:t>再生锌行业发展现状</a:t>
            </a:r>
            <a:endParaRPr lang="zh-CN" altLang="en-US" b="1" dirty="0"/>
          </a:p>
        </p:txBody>
      </p:sp>
      <p:sp>
        <p:nvSpPr>
          <p:cNvPr id="3" name="内容占位符 2"/>
          <p:cNvSpPr>
            <a:spLocks noGrp="1"/>
          </p:cNvSpPr>
          <p:nvPr>
            <p:ph idx="1"/>
          </p:nvPr>
        </p:nvSpPr>
        <p:spPr>
          <a:xfrm>
            <a:off x="0" y="1284784"/>
            <a:ext cx="4680520" cy="5573216"/>
          </a:xfrm>
        </p:spPr>
        <p:txBody>
          <a:bodyPr>
            <a:normAutofit fontScale="77500" lnSpcReduction="20000"/>
          </a:bodyPr>
          <a:lstStyle/>
          <a:p>
            <a:r>
              <a:rPr lang="zh-CN" altLang="en-US" dirty="0" smtClean="0"/>
              <a:t>近些年随着炼锌技术不断提升，锌原料消耗巨大，锌矿资源越采越少，金属锌面临着原料供应短缺的局面，未来将有更多地区可能出现无矿可采的情形。因此合理的利用资源及资源回收再利用成为人们日渐关注的焦点。目前世界上的锌</a:t>
            </a:r>
            <a:r>
              <a:rPr lang="en-US" altLang="zh-CN" dirty="0" smtClean="0"/>
              <a:t>70%</a:t>
            </a:r>
            <a:r>
              <a:rPr lang="zh-CN" altLang="en-US" dirty="0" smtClean="0"/>
              <a:t>来自于开采的锌矿石，而</a:t>
            </a:r>
            <a:r>
              <a:rPr lang="en-US" altLang="zh-CN" dirty="0" smtClean="0"/>
              <a:t>30%</a:t>
            </a:r>
            <a:r>
              <a:rPr lang="zh-CN" altLang="en-US" dirty="0" smtClean="0"/>
              <a:t>源于回收锌或二次锌。随着锌生产和锌回收技术的进步，现在</a:t>
            </a:r>
            <a:r>
              <a:rPr lang="en-US" altLang="zh-CN" dirty="0" smtClean="0"/>
              <a:t>80%</a:t>
            </a:r>
            <a:r>
              <a:rPr lang="zh-CN" altLang="en-US" dirty="0" smtClean="0"/>
              <a:t>的可回收锌已经被回收了，而且锌可以在生产和使用的各个阶段进行回收，例如，回收生产镀锌钢板时产生的废料，制造和安装过程中产生的废料及终端产品废料等</a:t>
            </a:r>
            <a:endParaRPr lang="zh-CN" altLang="en-US" dirty="0"/>
          </a:p>
        </p:txBody>
      </p:sp>
      <p:pic>
        <p:nvPicPr>
          <p:cNvPr id="4" name="图片 3" descr="recy1.jpg"/>
          <p:cNvPicPr>
            <a:picLocks noChangeAspect="1"/>
          </p:cNvPicPr>
          <p:nvPr/>
        </p:nvPicPr>
        <p:blipFill>
          <a:blip r:embed="rId2" cstate="print"/>
          <a:stretch>
            <a:fillRect/>
          </a:stretch>
        </p:blipFill>
        <p:spPr>
          <a:xfrm>
            <a:off x="5076056" y="1340768"/>
            <a:ext cx="3333750" cy="3352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par>
                          <p:cTn id="8" fill="hold">
                            <p:stCondLst>
                              <p:cond delay="500"/>
                            </p:stCondLst>
                            <p:childTnLst>
                              <p:par>
                                <p:cTn id="9" presetID="2" presetClass="entr" presetSubtype="2"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1+#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908720"/>
            <a:ext cx="7272808" cy="5069160"/>
          </a:xfrm>
        </p:spPr>
        <p:txBody>
          <a:bodyPr>
            <a:normAutofit/>
          </a:bodyPr>
          <a:lstStyle/>
          <a:p>
            <a:r>
              <a:rPr lang="zh-CN" altLang="en-US" dirty="0" smtClean="0"/>
              <a:t>再生锌是由废旧铝，废锌合金材料或含锌的废料，经重新熔化提炼而得到的锌合金或锌金属，是金属锌的一个重要来源。再生锌产量按原料来源主要分为新废料和旧废料。新废料是在冶炼及加工过程产生的废料，主要包括来自镀锌行业、铜材厂、锌压铸作业、锌材加工行业、电池生产工业的锌渣、灰、边角料以及铅、铜冶炼系统的锌渣等。</a:t>
            </a:r>
            <a:endParaRPr lang="zh-CN" alt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我国再生锌产业面临的问题</a:t>
            </a:r>
            <a:endParaRPr lang="zh-CN" altLang="en-US" dirty="0"/>
          </a:p>
        </p:txBody>
      </p:sp>
      <p:sp>
        <p:nvSpPr>
          <p:cNvPr id="3" name="内容占位符 2"/>
          <p:cNvSpPr>
            <a:spLocks noGrp="1"/>
          </p:cNvSpPr>
          <p:nvPr>
            <p:ph idx="1"/>
          </p:nvPr>
        </p:nvSpPr>
        <p:spPr/>
        <p:txBody>
          <a:bodyPr/>
          <a:lstStyle/>
          <a:p>
            <a:r>
              <a:rPr lang="en-US" altLang="zh-CN" dirty="0" smtClean="0"/>
              <a:t>1</a:t>
            </a:r>
            <a:r>
              <a:rPr lang="zh-CN" altLang="en-US" dirty="0" smtClean="0"/>
              <a:t>、生产工艺和装备水平低，环境保护措施不到位</a:t>
            </a:r>
            <a:endParaRPr lang="en-US" altLang="zh-CN" dirty="0" smtClean="0"/>
          </a:p>
          <a:p>
            <a:endParaRPr lang="en-US" altLang="zh-CN" dirty="0" smtClean="0"/>
          </a:p>
          <a:p>
            <a:r>
              <a:rPr lang="en-US" altLang="zh-CN" dirty="0" smtClean="0"/>
              <a:t>2</a:t>
            </a:r>
            <a:r>
              <a:rPr lang="zh-CN" altLang="en-US" dirty="0" smtClean="0"/>
              <a:t>、再生锌产业原料没有保障</a:t>
            </a:r>
            <a:endParaRPr lang="en-US" altLang="zh-CN" dirty="0" smtClean="0"/>
          </a:p>
          <a:p>
            <a:endParaRPr lang="en-US" altLang="zh-CN" dirty="0" smtClean="0"/>
          </a:p>
          <a:p>
            <a:r>
              <a:rPr lang="en-US" altLang="zh-CN" dirty="0" smtClean="0"/>
              <a:t>3</a:t>
            </a:r>
            <a:r>
              <a:rPr lang="zh-CN" altLang="en-US" dirty="0" smtClean="0"/>
              <a:t>、工业生产中对再生锌产业缺少应有的重视</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strips(downRight)">
                                      <p:cBhvr>
                                        <p:cTn id="7" dur="500"/>
                                        <p:tgtEl>
                                          <p:spTgt spid="3">
                                            <p:txEl>
                                              <p:pRg st="0" end="0"/>
                                            </p:txEl>
                                          </p:spTgt>
                                        </p:tgtEl>
                                      </p:cBhvr>
                                    </p:animEffect>
                                  </p:childTnLst>
                                </p:cTn>
                              </p:par>
                            </p:childTnLst>
                          </p:cTn>
                        </p:par>
                        <p:par>
                          <p:cTn id="8" fill="hold">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strips(downRight)">
                                      <p:cBhvr>
                                        <p:cTn id="11" dur="500"/>
                                        <p:tgtEl>
                                          <p:spTgt spid="3">
                                            <p:txEl>
                                              <p:pRg st="2" end="2"/>
                                            </p:txEl>
                                          </p:spTgt>
                                        </p:tgtEl>
                                      </p:cBhvr>
                                    </p:animEffect>
                                  </p:childTnLst>
                                </p:cTn>
                              </p:par>
                            </p:childTnLst>
                          </p:cTn>
                        </p:par>
                        <p:par>
                          <p:cTn id="12" fill="hold">
                            <p:stCondLst>
                              <p:cond delay="1000"/>
                            </p:stCondLst>
                            <p:childTnLst>
                              <p:par>
                                <p:cTn id="13" presetID="18" presetClass="entr" presetSubtype="6" fill="hold" grpId="0" nodeType="after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strips(downRight)">
                                      <p:cBhvr>
                                        <p:cTn id="1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298</TotalTime>
  <Words>3689</Words>
  <Application>Microsoft Office PowerPoint</Application>
  <PresentationFormat>全屏显示(4:3)</PresentationFormat>
  <Paragraphs>89</Paragraphs>
  <Slides>20</Slides>
  <Notes>0</Notes>
  <HiddenSlides>0</HiddenSlides>
  <MMClips>0</MMClips>
  <ScaleCrop>false</ScaleCrop>
  <HeadingPairs>
    <vt:vector size="4" baseType="variant">
      <vt:variant>
        <vt:lpstr>主题</vt:lpstr>
      </vt:variant>
      <vt:variant>
        <vt:i4>1</vt:i4>
      </vt:variant>
      <vt:variant>
        <vt:lpstr>幻灯片标题</vt:lpstr>
      </vt:variant>
      <vt:variant>
        <vt:i4>20</vt:i4>
      </vt:variant>
    </vt:vector>
  </HeadingPairs>
  <TitlesOfParts>
    <vt:vector size="21" baseType="lpstr">
      <vt:lpstr>Office 主题</vt:lpstr>
      <vt:lpstr>金属锌</vt:lpstr>
      <vt:lpstr>锌</vt:lpstr>
      <vt:lpstr>锌的发展历史</vt:lpstr>
      <vt:lpstr>锌冶炼史</vt:lpstr>
      <vt:lpstr>现代锌的冶炼有两种工艺：火法冶炼和湿法冶炼。</vt:lpstr>
      <vt:lpstr>湿法炼锌</vt:lpstr>
      <vt:lpstr>幻灯片 7</vt:lpstr>
      <vt:lpstr>镀锌</vt:lpstr>
      <vt:lpstr>锌合金</vt:lpstr>
      <vt:lpstr>锌电池</vt:lpstr>
      <vt:lpstr>世界锌矿分布</vt:lpstr>
      <vt:lpstr>中国锌资源分布</vt:lpstr>
      <vt:lpstr>锌矿资源</vt:lpstr>
      <vt:lpstr>锌矿消费情况</vt:lpstr>
      <vt:lpstr>锌行业国内外名企</vt:lpstr>
      <vt:lpstr>锌行业发展</vt:lpstr>
      <vt:lpstr>再生锌行业发展现状</vt:lpstr>
      <vt:lpstr>幻灯片 18</vt:lpstr>
      <vt:lpstr>我国再生锌产业面临的问题</vt:lpstr>
      <vt:lpstr>幻灯片 20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金属锌</dc:title>
  <dc:creator>Administrator</dc:creator>
  <cp:lastModifiedBy>Administrator</cp:lastModifiedBy>
  <cp:revision>33</cp:revision>
  <dcterms:created xsi:type="dcterms:W3CDTF">2014-05-29T07:53:39Z</dcterms:created>
  <dcterms:modified xsi:type="dcterms:W3CDTF">2014-05-30T09:06:17Z</dcterms:modified>
</cp:coreProperties>
</file>