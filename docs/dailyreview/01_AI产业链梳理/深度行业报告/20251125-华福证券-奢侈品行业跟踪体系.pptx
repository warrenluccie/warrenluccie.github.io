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charts/chart2.xml" ContentType="application/vnd.openxmlformats-officedocument.drawingml.chart+xml"/>
  <Override PartName="/ppt/theme/themeOverride2.xml" ContentType="application/vnd.openxmlformats-officedocument.themeOverride+xml"/>
  <Override PartName="/ppt/drawings/drawing1.xml" ContentType="application/vnd.openxmlformats-officedocument.drawingml.chartshapes+xml"/>
  <Override PartName="/ppt/charts/chart3.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3.xml" ContentType="application/vnd.openxmlformats-officedocument.themeOverride+xml"/>
  <Override PartName="/ppt/charts/chart4.xml" ContentType="application/vnd.openxmlformats-officedocument.drawingml.chart+xml"/>
  <Override PartName="/ppt/theme/themeOverride4.xml" ContentType="application/vnd.openxmlformats-officedocument.themeOverride+xml"/>
  <Override PartName="/ppt/charts/chart5.xml" ContentType="application/vnd.openxmlformats-officedocument.drawingml.chart+xml"/>
  <Override PartName="/ppt/theme/themeOverride5.xml" ContentType="application/vnd.openxmlformats-officedocument.themeOverride+xml"/>
  <Override PartName="/ppt/charts/chart6.xml" ContentType="application/vnd.openxmlformats-officedocument.drawingml.chart+xml"/>
  <Override PartName="/ppt/theme/themeOverride6.xml" ContentType="application/vnd.openxmlformats-officedocument.themeOverride+xml"/>
  <Override PartName="/ppt/charts/chart7.xml" ContentType="application/vnd.openxmlformats-officedocument.drawingml.chart+xml"/>
  <Override PartName="/ppt/charts/style3.xml" ContentType="application/vnd.ms-office.chartstyle+xml"/>
  <Override PartName="/ppt/charts/colors3.xml" ContentType="application/vnd.ms-office.chartcolorstyle+xml"/>
  <Override PartName="/ppt/theme/themeOverride7.xml" ContentType="application/vnd.openxmlformats-officedocument.themeOverride+xml"/>
  <Override PartName="/ppt/charts/chart8.xml" ContentType="application/vnd.openxmlformats-officedocument.drawingml.chart+xml"/>
  <Override PartName="/ppt/theme/themeOverride8.xml" ContentType="application/vnd.openxmlformats-officedocument.themeOverride+xml"/>
  <Override PartName="/ppt/charts/chart9.xml" ContentType="application/vnd.openxmlformats-officedocument.drawingml.chart+xml"/>
  <Override PartName="/ppt/theme/themeOverride9.xml" ContentType="application/vnd.openxmlformats-officedocument.themeOverride+xml"/>
  <Override PartName="/ppt/charts/chart10.xml" ContentType="application/vnd.openxmlformats-officedocument.drawingml.chart+xml"/>
  <Override PartName="/ppt/charts/style4.xml" ContentType="application/vnd.ms-office.chartstyle+xml"/>
  <Override PartName="/ppt/charts/colors4.xml" ContentType="application/vnd.ms-office.chartcolorstyle+xml"/>
  <Override PartName="/ppt/theme/themeOverride10.xml" ContentType="application/vnd.openxmlformats-officedocument.themeOverride+xml"/>
  <Override PartName="/ppt/tags/tag3.xml" ContentType="application/vnd.openxmlformats-officedocument.presentationml.tags+xml"/>
  <Override PartName="/ppt/charts/chart11.xml" ContentType="application/vnd.openxmlformats-officedocument.drawingml.chart+xml"/>
  <Override PartName="/ppt/charts/style5.xml" ContentType="application/vnd.ms-office.chartstyle+xml"/>
  <Override PartName="/ppt/charts/colors5.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autoCompressPictures="0">
  <p:sldMasterIdLst>
    <p:sldMasterId id="2147483648" r:id="rId1"/>
  </p:sldMasterIdLst>
  <p:notesMasterIdLst>
    <p:notesMasterId r:id="rId16"/>
  </p:notesMasterIdLst>
  <p:handoutMasterIdLst>
    <p:handoutMasterId r:id="rId17"/>
  </p:handoutMasterIdLst>
  <p:sldIdLst>
    <p:sldId id="256" r:id="rId2"/>
    <p:sldId id="261" r:id="rId3"/>
    <p:sldId id="315" r:id="rId4"/>
    <p:sldId id="1884" r:id="rId5"/>
    <p:sldId id="1888" r:id="rId6"/>
    <p:sldId id="1885" r:id="rId7"/>
    <p:sldId id="1837" r:id="rId8"/>
    <p:sldId id="1839" r:id="rId9"/>
    <p:sldId id="1886" r:id="rId10"/>
    <p:sldId id="1566" r:id="rId11"/>
    <p:sldId id="1836" r:id="rId12"/>
    <p:sldId id="1824" r:id="rId13"/>
    <p:sldId id="1826" r:id="rId14"/>
    <p:sldId id="1832" r:id="rId15"/>
  </p:sldIdLst>
  <p:sldSz cx="9144000" cy="5143500" type="screen16x9"/>
  <p:notesSz cx="6858000" cy="9144000"/>
  <p:custDataLst>
    <p:tags r:id="rId18"/>
  </p:custDataLst>
  <p:defaultTextStyle>
    <a:defPPr>
      <a:defRPr lang="zh-CN"/>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无标题的节" id="{4C0C9521-5331-0049-8220-8BF19EB46E50}">
          <p14:sldIdLst>
            <p14:sldId id="256"/>
            <p14:sldId id="261"/>
            <p14:sldId id="315"/>
            <p14:sldId id="1884"/>
            <p14:sldId id="1888"/>
            <p14:sldId id="1885"/>
            <p14:sldId id="1837"/>
            <p14:sldId id="1839"/>
            <p14:sldId id="1886"/>
            <p14:sldId id="1566"/>
            <p14:sldId id="1836"/>
            <p14:sldId id="1824"/>
            <p14:sldId id="1826"/>
            <p14:sldId id="1832"/>
          </p14:sldIdLst>
        </p14:section>
      </p14:sectionLst>
    </p:ext>
    <p:ext uri="{EFAFB233-063F-42B5-8137-9DF3F51BA10A}">
      <p15:sldGuideLst xmlns:p15="http://schemas.microsoft.com/office/powerpoint/2012/main">
        <p15:guide id="1" orient="horz" pos="1636" userDrawn="1">
          <p15:clr>
            <a:srgbClr val="A4A3A4"/>
          </p15:clr>
        </p15:guide>
        <p15:guide id="2" pos="2934"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望 张" initials="望张" lastIdx="3"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99CCFF"/>
    <a:srgbClr val="F4C20C"/>
    <a:srgbClr val="C5B1D0"/>
    <a:srgbClr val="403990"/>
    <a:srgbClr val="CEBDD7"/>
    <a:srgbClr val="FBDD85"/>
    <a:srgbClr val="E6E6E6"/>
    <a:srgbClr val="F46F43"/>
    <a:srgbClr val="D4C29A"/>
    <a:srgbClr val="A7845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376" autoAdjust="0"/>
    <p:restoredTop sz="80477" autoAdjust="0"/>
  </p:normalViewPr>
  <p:slideViewPr>
    <p:cSldViewPr snapToGrid="0" snapToObjects="1" showGuides="1">
      <p:cViewPr varScale="1">
        <p:scale>
          <a:sx n="82" d="100"/>
          <a:sy n="82" d="100"/>
        </p:scale>
        <p:origin x="48" y="380"/>
      </p:cViewPr>
      <p:guideLst>
        <p:guide orient="horz" pos="1636"/>
        <p:guide pos="2934"/>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gs" Target="tags/tag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oleObject" Target="/Users/hanting/Desktop/&#21103;&#26412;&#22882;&#20360;&#21697;&#38598;&#22242;2010&#36215;&#20122;&#22826;&#21306;&#22686;&#36895;&#21464;&#21270;.xlsx" TargetMode="External"/></Relationships>
</file>

<file path=ppt/charts/_rels/chart2.xml.rels><?xml version="1.0" encoding="UTF-8" standalone="yes"?>
<Relationships xmlns="http://schemas.openxmlformats.org/package/2006/relationships"><Relationship Id="rId3" Type="http://schemas.openxmlformats.org/officeDocument/2006/relationships/chartUserShapes" Target="../drawings/drawing1.xml"/><Relationship Id="rId2" Type="http://schemas.openxmlformats.org/officeDocument/2006/relationships/oleObject" Target="https://d.docs.live.net/6e269493225f21ca/&#30005;&#21830;/&#23567;&#30830;&#24184;&#28040;&#36153;/&#12304;&#21326;&#31119;&#21830;&#31038;&#12305;&#22882;&#20360;&#21697;&#19982;&#21326;&#28070;&#25968;&#25454;&#19982;&#23621;&#27665;&#36164;&#20135;&#22686;&#36895;v2.xlsx" TargetMode="External"/><Relationship Id="rId1" Type="http://schemas.openxmlformats.org/officeDocument/2006/relationships/themeOverride" Target="../theme/themeOverride2.xml"/></Relationships>
</file>

<file path=ppt/charts/_rels/chart3.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oleObject" Target="/Users/hanting/Desktop/&#21103;&#26412;&#22882;&#20360;&#21697;&#38598;&#22242;2010&#36215;&#20122;&#22826;&#21306;&#22686;&#36895;&#21464;&#21270;.xlsx" TargetMode="External"/></Relationships>
</file>

<file path=ppt/charts/_rels/chart4.xml.rels><?xml version="1.0" encoding="UTF-8" standalone="yes"?>
<Relationships xmlns="http://schemas.openxmlformats.org/package/2006/relationships"><Relationship Id="rId2" Type="http://schemas.openxmlformats.org/officeDocument/2006/relationships/oleObject" Target="file:///C:\Users\Administrator\Desktop\&#21326;&#28070;&#25968;&#25454;\10&#26376;&#21326;&#28070;&#25968;&#25454;.xlsx" TargetMode="External"/><Relationship Id="rId1" Type="http://schemas.openxmlformats.org/officeDocument/2006/relationships/themeOverride" Target="../theme/themeOverride4.xml"/></Relationships>
</file>

<file path=ppt/charts/_rels/chart5.xml.rels><?xml version="1.0" encoding="UTF-8" standalone="yes"?>
<Relationships xmlns="http://schemas.openxmlformats.org/package/2006/relationships"><Relationship Id="rId2" Type="http://schemas.openxmlformats.org/officeDocument/2006/relationships/oleObject" Target="file:///C:\Users\Administrator\Desktop\&#24037;&#20316;&#31807;1.xlsx" TargetMode="External"/><Relationship Id="rId1" Type="http://schemas.openxmlformats.org/officeDocument/2006/relationships/themeOverride" Target="../theme/themeOverride5.xml"/></Relationships>
</file>

<file path=ppt/charts/_rels/chart6.xml.rels><?xml version="1.0" encoding="UTF-8" standalone="yes"?>
<Relationships xmlns="http://schemas.openxmlformats.org/package/2006/relationships"><Relationship Id="rId2" Type="http://schemas.openxmlformats.org/officeDocument/2006/relationships/oleObject" Target="file:///C:\Users\jinzh\xwechat_files\wxid_soluvb96fclj12_af0c\msg\file\2025-11\&#28023;&#21335;&#31163;&#23707;&#20813;&#31246;&#25968;&#25454;&#24211;.xlsx" TargetMode="External"/><Relationship Id="rId1" Type="http://schemas.openxmlformats.org/officeDocument/2006/relationships/themeOverride" Target="../theme/themeOverride6.xml"/></Relationships>
</file>

<file path=ppt/charts/_rels/chart7.xml.rels><?xml version="1.0" encoding="UTF-8" standalone="yes"?>
<Relationships xmlns="http://schemas.openxmlformats.org/package/2006/relationships"><Relationship Id="rId3" Type="http://schemas.openxmlformats.org/officeDocument/2006/relationships/themeOverride" Target="../theme/themeOverride7.xm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oleObject" Target="/Users/hanting/Desktop/&#21103;&#26412;&#22882;&#20360;&#21697;&#38598;&#22242;2010&#36215;&#20122;&#22826;&#21306;&#22686;&#36895;&#21464;&#21270;.xlsx" TargetMode="External"/></Relationships>
</file>

<file path=ppt/charts/_rels/chart8.xml.rels><?xml version="1.0" encoding="UTF-8" standalone="yes"?>
<Relationships xmlns="http://schemas.openxmlformats.org/package/2006/relationships"><Relationship Id="rId2" Type="http://schemas.openxmlformats.org/officeDocument/2006/relationships/oleObject" Target="file:///C:\Users\&#26446;&#25991;&#20339;\Desktop\&#21270;&#22918;&#21697;-&#39640;&#31471;&#22797;&#33487;&#35838;&#39064;.xlsx" TargetMode="External"/><Relationship Id="rId1" Type="http://schemas.openxmlformats.org/officeDocument/2006/relationships/themeOverride" Target="../theme/themeOverride8.xml"/></Relationships>
</file>

<file path=ppt/charts/_rels/chart9.xml.rels><?xml version="1.0" encoding="UTF-8" standalone="yes"?>
<Relationships xmlns="http://schemas.openxmlformats.org/package/2006/relationships"><Relationship Id="rId2" Type="http://schemas.openxmlformats.org/officeDocument/2006/relationships/oleObject" Target="file:///C:\Users\&#26446;&#25991;&#20339;\Desktop\&#21270;&#22918;&#21697;-&#39640;&#31471;&#22797;&#33487;&#35838;&#39064;.xlsx" TargetMode="External"/><Relationship Id="rId1" Type="http://schemas.openxmlformats.org/officeDocument/2006/relationships/themeOverride" Target="../theme/themeOverride9.xml"/></Relationships>
</file>

<file path=ppt/charts/_rels/chart10.xml.rels><?xml version="1.0" encoding="UTF-8" standalone="yes"?>
<Relationships xmlns="http://schemas.openxmlformats.org/package/2006/relationships"><Relationship Id="rId3" Type="http://schemas.openxmlformats.org/officeDocument/2006/relationships/themeOverride" Target="../theme/themeOverride10.xml"/><Relationship Id="rId2" Type="http://schemas.microsoft.com/office/2011/relationships/chartColorStyle" Target="colors4.xml"/><Relationship Id="rId1" Type="http://schemas.microsoft.com/office/2011/relationships/chartStyle" Target="style4.xml"/><Relationship Id="rId4" Type="http://schemas.openxmlformats.org/officeDocument/2006/relationships/oleObject" Target="file:///C:\Users\&#26446;&#25991;&#20339;\Documents\WeChat%20Files\wxid_97xjcigguqp22\FileStorage\File\2025-11\1011&#21326;&#28070;&#19975;&#35937;&#21516;&#27604;&#25968;&#25454;10v1.xlsx" TargetMode="External"/></Relationships>
</file>

<file path=ppt/charts/_rels/chart11.xml.rels><?xml version="1.0" encoding="UTF-8" standalone="yes"?>
<Relationships xmlns="http://schemas.openxmlformats.org/package/2006/relationships"><Relationship Id="rId3" Type="http://schemas.openxmlformats.org/officeDocument/2006/relationships/oleObject" Target="/Users/hanting/Desktop/&#34013;&#39046;&#29992;&#21151;&#19982;&#31038;&#38646;&#25968;&#25454;&#23545;&#27604;.xlsx" TargetMode="External"/><Relationship Id="rId2" Type="http://schemas.microsoft.com/office/2011/relationships/chartColorStyle" Target="colors5.xml"/><Relationship Id="rId1" Type="http://schemas.microsoft.com/office/2011/relationships/chartStyle" Target="style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9.6880222841225605E-2"/>
          <c:y val="5.1857949200376299E-2"/>
          <c:w val="0.88041782729804996"/>
          <c:h val="0.67448259642521202"/>
        </c:manualLayout>
      </c:layout>
      <c:lineChart>
        <c:grouping val="standard"/>
        <c:varyColors val="0"/>
        <c:ser>
          <c:idx val="0"/>
          <c:order val="0"/>
          <c:tx>
            <c:strRef>
              <c:f>'[副本奢侈品集团2010起亚太区增速变化.xlsx]奢侈品亚太&amp;资产增速'!$D$130</c:f>
              <c:strCache>
                <c:ptCount val="1"/>
                <c:pt idx="0">
                  <c:v>LVMH亚太yoy</c:v>
                </c:pt>
              </c:strCache>
            </c:strRef>
          </c:tx>
          <c:spPr>
            <a:ln w="28575" cap="rnd">
              <a:solidFill>
                <a:schemeClr val="accent1"/>
              </a:solidFill>
              <a:round/>
            </a:ln>
            <a:effectLst/>
          </c:spPr>
          <c:marker>
            <c:symbol val="none"/>
          </c:marker>
          <c:cat>
            <c:strRef>
              <c:f>'[副本奢侈品集团2010起亚太区增速变化.xlsx]奢侈品亚太&amp;资产增速'!$E$129:$W$129</c:f>
              <c:strCache>
                <c:ptCount val="19"/>
                <c:pt idx="0">
                  <c:v>1Q21</c:v>
                </c:pt>
                <c:pt idx="1">
                  <c:v>2Q21</c:v>
                </c:pt>
                <c:pt idx="2">
                  <c:v>3Q21</c:v>
                </c:pt>
                <c:pt idx="3">
                  <c:v>4Q21</c:v>
                </c:pt>
                <c:pt idx="4">
                  <c:v>1Q22</c:v>
                </c:pt>
                <c:pt idx="5">
                  <c:v>2Q22</c:v>
                </c:pt>
                <c:pt idx="6">
                  <c:v>3Q22</c:v>
                </c:pt>
                <c:pt idx="7">
                  <c:v>4Q22</c:v>
                </c:pt>
                <c:pt idx="8">
                  <c:v>1Q23</c:v>
                </c:pt>
                <c:pt idx="9">
                  <c:v>2Q23</c:v>
                </c:pt>
                <c:pt idx="10">
                  <c:v>3Q23</c:v>
                </c:pt>
                <c:pt idx="11">
                  <c:v>4Q23</c:v>
                </c:pt>
                <c:pt idx="12">
                  <c:v>1Q24</c:v>
                </c:pt>
                <c:pt idx="13">
                  <c:v>2Q24</c:v>
                </c:pt>
                <c:pt idx="14">
                  <c:v>3Q24</c:v>
                </c:pt>
                <c:pt idx="15">
                  <c:v>4Q24</c:v>
                </c:pt>
                <c:pt idx="16">
                  <c:v>1Q25</c:v>
                </c:pt>
                <c:pt idx="17">
                  <c:v>2Q25</c:v>
                </c:pt>
                <c:pt idx="18">
                  <c:v>3Q25</c:v>
                </c:pt>
              </c:strCache>
            </c:strRef>
          </c:cat>
          <c:val>
            <c:numRef>
              <c:f>'[副本奢侈品集团2010起亚太区增速变化.xlsx]奢侈品亚太&amp;资产增速'!$E$130:$W$130</c:f>
              <c:numCache>
                <c:formatCode>General</c:formatCode>
                <c:ptCount val="19"/>
                <c:pt idx="0">
                  <c:v>86</c:v>
                </c:pt>
                <c:pt idx="1">
                  <c:v>54</c:v>
                </c:pt>
                <c:pt idx="2">
                  <c:v>12</c:v>
                </c:pt>
                <c:pt idx="3">
                  <c:v>16</c:v>
                </c:pt>
                <c:pt idx="4">
                  <c:v>8</c:v>
                </c:pt>
                <c:pt idx="5">
                  <c:v>-8</c:v>
                </c:pt>
                <c:pt idx="6">
                  <c:v>6</c:v>
                </c:pt>
                <c:pt idx="7">
                  <c:v>-8</c:v>
                </c:pt>
                <c:pt idx="8">
                  <c:v>14</c:v>
                </c:pt>
                <c:pt idx="9">
                  <c:v>34</c:v>
                </c:pt>
                <c:pt idx="10">
                  <c:v>11</c:v>
                </c:pt>
                <c:pt idx="11">
                  <c:v>15</c:v>
                </c:pt>
                <c:pt idx="12">
                  <c:v>-6</c:v>
                </c:pt>
                <c:pt idx="13">
                  <c:v>-14</c:v>
                </c:pt>
                <c:pt idx="14">
                  <c:v>-16</c:v>
                </c:pt>
                <c:pt idx="15">
                  <c:v>-10</c:v>
                </c:pt>
                <c:pt idx="16">
                  <c:v>-11</c:v>
                </c:pt>
                <c:pt idx="17">
                  <c:v>-6</c:v>
                </c:pt>
                <c:pt idx="18">
                  <c:v>2</c:v>
                </c:pt>
              </c:numCache>
            </c:numRef>
          </c:val>
          <c:smooth val="0"/>
          <c:extLst>
            <c:ext xmlns:c16="http://schemas.microsoft.com/office/drawing/2014/chart" uri="{C3380CC4-5D6E-409C-BE32-E72D297353CC}">
              <c16:uniqueId val="{00000000-8D51-4F31-B8A6-6810100FD046}"/>
            </c:ext>
          </c:extLst>
        </c:ser>
        <c:ser>
          <c:idx val="1"/>
          <c:order val="1"/>
          <c:tx>
            <c:strRef>
              <c:f>'[副本奢侈品集团2010起亚太区增速变化.xlsx]奢侈品亚太&amp;资产增速'!$D$131</c:f>
              <c:strCache>
                <c:ptCount val="1"/>
                <c:pt idx="0">
                  <c:v>爱马仕亚太yoy</c:v>
                </c:pt>
              </c:strCache>
            </c:strRef>
          </c:tx>
          <c:spPr>
            <a:ln w="28575" cap="rnd">
              <a:solidFill>
                <a:schemeClr val="accent2"/>
              </a:solidFill>
              <a:round/>
            </a:ln>
            <a:effectLst/>
          </c:spPr>
          <c:marker>
            <c:symbol val="none"/>
          </c:marker>
          <c:cat>
            <c:strRef>
              <c:f>'[副本奢侈品集团2010起亚太区增速变化.xlsx]奢侈品亚太&amp;资产增速'!$E$129:$W$129</c:f>
              <c:strCache>
                <c:ptCount val="19"/>
                <c:pt idx="0">
                  <c:v>1Q21</c:v>
                </c:pt>
                <c:pt idx="1">
                  <c:v>2Q21</c:v>
                </c:pt>
                <c:pt idx="2">
                  <c:v>3Q21</c:v>
                </c:pt>
                <c:pt idx="3">
                  <c:v>4Q21</c:v>
                </c:pt>
                <c:pt idx="4">
                  <c:v>1Q22</c:v>
                </c:pt>
                <c:pt idx="5">
                  <c:v>2Q22</c:v>
                </c:pt>
                <c:pt idx="6">
                  <c:v>3Q22</c:v>
                </c:pt>
                <c:pt idx="7">
                  <c:v>4Q22</c:v>
                </c:pt>
                <c:pt idx="8">
                  <c:v>1Q23</c:v>
                </c:pt>
                <c:pt idx="9">
                  <c:v>2Q23</c:v>
                </c:pt>
                <c:pt idx="10">
                  <c:v>3Q23</c:v>
                </c:pt>
                <c:pt idx="11">
                  <c:v>4Q23</c:v>
                </c:pt>
                <c:pt idx="12">
                  <c:v>1Q24</c:v>
                </c:pt>
                <c:pt idx="13">
                  <c:v>2Q24</c:v>
                </c:pt>
                <c:pt idx="14">
                  <c:v>3Q24</c:v>
                </c:pt>
                <c:pt idx="15">
                  <c:v>4Q24</c:v>
                </c:pt>
                <c:pt idx="16">
                  <c:v>1Q25</c:v>
                </c:pt>
                <c:pt idx="17">
                  <c:v>2Q25</c:v>
                </c:pt>
                <c:pt idx="18">
                  <c:v>3Q25</c:v>
                </c:pt>
              </c:strCache>
            </c:strRef>
          </c:cat>
          <c:val>
            <c:numRef>
              <c:f>'[副本奢侈品集团2010起亚太区增速变化.xlsx]奢侈品亚太&amp;资产增速'!$E$131:$W$131</c:f>
              <c:numCache>
                <c:formatCode>0.0_ </c:formatCode>
                <c:ptCount val="19"/>
                <c:pt idx="0">
                  <c:v>93.6</c:v>
                </c:pt>
                <c:pt idx="1">
                  <c:v>79.2</c:v>
                </c:pt>
                <c:pt idx="2">
                  <c:v>29.3</c:v>
                </c:pt>
                <c:pt idx="3">
                  <c:v>5.5</c:v>
                </c:pt>
                <c:pt idx="4">
                  <c:v>19.8</c:v>
                </c:pt>
                <c:pt idx="5">
                  <c:v>9.6</c:v>
                </c:pt>
                <c:pt idx="6">
                  <c:v>33.700000000000003</c:v>
                </c:pt>
                <c:pt idx="7">
                  <c:v>24.7</c:v>
                </c:pt>
                <c:pt idx="8">
                  <c:v>22.5</c:v>
                </c:pt>
                <c:pt idx="9">
                  <c:v>33.700000000000003</c:v>
                </c:pt>
                <c:pt idx="10">
                  <c:v>10.199999999999999</c:v>
                </c:pt>
                <c:pt idx="11">
                  <c:v>12.3</c:v>
                </c:pt>
                <c:pt idx="12">
                  <c:v>13.9</c:v>
                </c:pt>
                <c:pt idx="13">
                  <c:v>5.5</c:v>
                </c:pt>
                <c:pt idx="14">
                  <c:v>1</c:v>
                </c:pt>
                <c:pt idx="15">
                  <c:v>8.9</c:v>
                </c:pt>
                <c:pt idx="16">
                  <c:v>1.2</c:v>
                </c:pt>
                <c:pt idx="17">
                  <c:v>5.2</c:v>
                </c:pt>
                <c:pt idx="18">
                  <c:v>6.2</c:v>
                </c:pt>
              </c:numCache>
            </c:numRef>
          </c:val>
          <c:smooth val="0"/>
          <c:extLst>
            <c:ext xmlns:c16="http://schemas.microsoft.com/office/drawing/2014/chart" uri="{C3380CC4-5D6E-409C-BE32-E72D297353CC}">
              <c16:uniqueId val="{00000001-8D51-4F31-B8A6-6810100FD046}"/>
            </c:ext>
          </c:extLst>
        </c:ser>
        <c:ser>
          <c:idx val="2"/>
          <c:order val="2"/>
          <c:tx>
            <c:strRef>
              <c:f>'[副本奢侈品集团2010起亚太区增速变化.xlsx]奢侈品亚太&amp;资产增速'!$D$132</c:f>
              <c:strCache>
                <c:ptCount val="1"/>
                <c:pt idx="0">
                  <c:v>开云集团亚太yoy</c:v>
                </c:pt>
              </c:strCache>
            </c:strRef>
          </c:tx>
          <c:spPr>
            <a:ln w="28575" cap="rnd">
              <a:solidFill>
                <a:schemeClr val="accent3"/>
              </a:solidFill>
              <a:round/>
            </a:ln>
            <a:effectLst/>
          </c:spPr>
          <c:marker>
            <c:symbol val="none"/>
          </c:marker>
          <c:cat>
            <c:strRef>
              <c:f>'[副本奢侈品集团2010起亚太区增速变化.xlsx]奢侈品亚太&amp;资产增速'!$E$129:$W$129</c:f>
              <c:strCache>
                <c:ptCount val="19"/>
                <c:pt idx="0">
                  <c:v>1Q21</c:v>
                </c:pt>
                <c:pt idx="1">
                  <c:v>2Q21</c:v>
                </c:pt>
                <c:pt idx="2">
                  <c:v>3Q21</c:v>
                </c:pt>
                <c:pt idx="3">
                  <c:v>4Q21</c:v>
                </c:pt>
                <c:pt idx="4">
                  <c:v>1Q22</c:v>
                </c:pt>
                <c:pt idx="5">
                  <c:v>2Q22</c:v>
                </c:pt>
                <c:pt idx="6">
                  <c:v>3Q22</c:v>
                </c:pt>
                <c:pt idx="7">
                  <c:v>4Q22</c:v>
                </c:pt>
                <c:pt idx="8">
                  <c:v>1Q23</c:v>
                </c:pt>
                <c:pt idx="9">
                  <c:v>2Q23</c:v>
                </c:pt>
                <c:pt idx="10">
                  <c:v>3Q23</c:v>
                </c:pt>
                <c:pt idx="11">
                  <c:v>4Q23</c:v>
                </c:pt>
                <c:pt idx="12">
                  <c:v>1Q24</c:v>
                </c:pt>
                <c:pt idx="13">
                  <c:v>2Q24</c:v>
                </c:pt>
                <c:pt idx="14">
                  <c:v>3Q24</c:v>
                </c:pt>
                <c:pt idx="15">
                  <c:v>4Q24</c:v>
                </c:pt>
                <c:pt idx="16">
                  <c:v>1Q25</c:v>
                </c:pt>
                <c:pt idx="17">
                  <c:v>2Q25</c:v>
                </c:pt>
                <c:pt idx="18">
                  <c:v>3Q25</c:v>
                </c:pt>
              </c:strCache>
            </c:strRef>
          </c:cat>
          <c:val>
            <c:numRef>
              <c:f>'[副本奢侈品集团2010起亚太区增速变化.xlsx]奢侈品亚太&amp;资产增速'!$E$132:$W$132</c:f>
              <c:numCache>
                <c:formatCode>General</c:formatCode>
                <c:ptCount val="19"/>
                <c:pt idx="0">
                  <c:v>83</c:v>
                </c:pt>
                <c:pt idx="1">
                  <c:v>53</c:v>
                </c:pt>
                <c:pt idx="2">
                  <c:v>1</c:v>
                </c:pt>
                <c:pt idx="3">
                  <c:v>18</c:v>
                </c:pt>
                <c:pt idx="4">
                  <c:v>0</c:v>
                </c:pt>
                <c:pt idx="5">
                  <c:v>15</c:v>
                </c:pt>
                <c:pt idx="6">
                  <c:v>7</c:v>
                </c:pt>
                <c:pt idx="7">
                  <c:v>-19</c:v>
                </c:pt>
                <c:pt idx="8">
                  <c:v>10</c:v>
                </c:pt>
                <c:pt idx="9">
                  <c:v>16</c:v>
                </c:pt>
                <c:pt idx="10">
                  <c:v>1</c:v>
                </c:pt>
                <c:pt idx="11">
                  <c:v>8</c:v>
                </c:pt>
                <c:pt idx="12">
                  <c:v>-19</c:v>
                </c:pt>
                <c:pt idx="13">
                  <c:v>-25</c:v>
                </c:pt>
                <c:pt idx="14">
                  <c:v>-30</c:v>
                </c:pt>
                <c:pt idx="15">
                  <c:v>-24</c:v>
                </c:pt>
                <c:pt idx="16">
                  <c:v>-25</c:v>
                </c:pt>
                <c:pt idx="17">
                  <c:v>-19</c:v>
                </c:pt>
                <c:pt idx="18">
                  <c:v>-10</c:v>
                </c:pt>
              </c:numCache>
            </c:numRef>
          </c:val>
          <c:smooth val="0"/>
          <c:extLst>
            <c:ext xmlns:c16="http://schemas.microsoft.com/office/drawing/2014/chart" uri="{C3380CC4-5D6E-409C-BE32-E72D297353CC}">
              <c16:uniqueId val="{00000002-8D51-4F31-B8A6-6810100FD046}"/>
            </c:ext>
          </c:extLst>
        </c:ser>
        <c:ser>
          <c:idx val="3"/>
          <c:order val="3"/>
          <c:tx>
            <c:strRef>
              <c:f>'[副本奢侈品集团2010起亚太区增速变化.xlsx]奢侈品亚太&amp;资产增速'!$D$133</c:f>
              <c:strCache>
                <c:ptCount val="1"/>
                <c:pt idx="0">
                  <c:v>历峰集团亚太yoy</c:v>
                </c:pt>
              </c:strCache>
            </c:strRef>
          </c:tx>
          <c:spPr>
            <a:ln w="28575" cap="rnd">
              <a:solidFill>
                <a:schemeClr val="accent4"/>
              </a:solidFill>
              <a:round/>
            </a:ln>
            <a:effectLst/>
          </c:spPr>
          <c:marker>
            <c:symbol val="none"/>
          </c:marker>
          <c:cat>
            <c:strRef>
              <c:f>'[副本奢侈品集团2010起亚太区增速变化.xlsx]奢侈品亚太&amp;资产增速'!$E$129:$W$129</c:f>
              <c:strCache>
                <c:ptCount val="19"/>
                <c:pt idx="0">
                  <c:v>1Q21</c:v>
                </c:pt>
                <c:pt idx="1">
                  <c:v>2Q21</c:v>
                </c:pt>
                <c:pt idx="2">
                  <c:v>3Q21</c:v>
                </c:pt>
                <c:pt idx="3">
                  <c:v>4Q21</c:v>
                </c:pt>
                <c:pt idx="4">
                  <c:v>1Q22</c:v>
                </c:pt>
                <c:pt idx="5">
                  <c:v>2Q22</c:v>
                </c:pt>
                <c:pt idx="6">
                  <c:v>3Q22</c:v>
                </c:pt>
                <c:pt idx="7">
                  <c:v>4Q22</c:v>
                </c:pt>
                <c:pt idx="8">
                  <c:v>1Q23</c:v>
                </c:pt>
                <c:pt idx="9">
                  <c:v>2Q23</c:v>
                </c:pt>
                <c:pt idx="10">
                  <c:v>3Q23</c:v>
                </c:pt>
                <c:pt idx="11">
                  <c:v>4Q23</c:v>
                </c:pt>
                <c:pt idx="12">
                  <c:v>1Q24</c:v>
                </c:pt>
                <c:pt idx="13">
                  <c:v>2Q24</c:v>
                </c:pt>
                <c:pt idx="14">
                  <c:v>3Q24</c:v>
                </c:pt>
                <c:pt idx="15">
                  <c:v>4Q24</c:v>
                </c:pt>
                <c:pt idx="16">
                  <c:v>1Q25</c:v>
                </c:pt>
                <c:pt idx="17">
                  <c:v>2Q25</c:v>
                </c:pt>
                <c:pt idx="18">
                  <c:v>3Q25</c:v>
                </c:pt>
              </c:strCache>
            </c:strRef>
          </c:cat>
          <c:val>
            <c:numRef>
              <c:f>'[副本奢侈品集团2010起亚太区增速变化.xlsx]奢侈品亚太&amp;资产增速'!$E$133:$W$133</c:f>
              <c:numCache>
                <c:formatCode>General</c:formatCode>
                <c:ptCount val="19"/>
                <c:pt idx="0">
                  <c:v>101.9</c:v>
                </c:pt>
                <c:pt idx="1">
                  <c:v>95</c:v>
                </c:pt>
                <c:pt idx="2">
                  <c:v>17</c:v>
                </c:pt>
                <c:pt idx="3">
                  <c:v>18</c:v>
                </c:pt>
                <c:pt idx="4">
                  <c:v>8</c:v>
                </c:pt>
                <c:pt idx="5">
                  <c:v>-16</c:v>
                </c:pt>
                <c:pt idx="6">
                  <c:v>6</c:v>
                </c:pt>
                <c:pt idx="7">
                  <c:v>-9</c:v>
                </c:pt>
                <c:pt idx="8">
                  <c:v>25</c:v>
                </c:pt>
                <c:pt idx="9">
                  <c:v>40</c:v>
                </c:pt>
                <c:pt idx="10">
                  <c:v>8</c:v>
                </c:pt>
                <c:pt idx="11">
                  <c:v>13</c:v>
                </c:pt>
                <c:pt idx="12">
                  <c:v>-12</c:v>
                </c:pt>
                <c:pt idx="13">
                  <c:v>-18</c:v>
                </c:pt>
                <c:pt idx="14">
                  <c:v>-18</c:v>
                </c:pt>
                <c:pt idx="15">
                  <c:v>-7</c:v>
                </c:pt>
                <c:pt idx="16">
                  <c:v>-7</c:v>
                </c:pt>
                <c:pt idx="17">
                  <c:v>0</c:v>
                </c:pt>
                <c:pt idx="18">
                  <c:v>10</c:v>
                </c:pt>
              </c:numCache>
            </c:numRef>
          </c:val>
          <c:smooth val="0"/>
          <c:extLst>
            <c:ext xmlns:c16="http://schemas.microsoft.com/office/drawing/2014/chart" uri="{C3380CC4-5D6E-409C-BE32-E72D297353CC}">
              <c16:uniqueId val="{00000003-8D51-4F31-B8A6-6810100FD046}"/>
            </c:ext>
          </c:extLst>
        </c:ser>
        <c:dLbls>
          <c:showLegendKey val="0"/>
          <c:showVal val="0"/>
          <c:showCatName val="0"/>
          <c:showSerName val="0"/>
          <c:showPercent val="0"/>
          <c:showBubbleSize val="0"/>
        </c:dLbls>
        <c:marker val="1"/>
        <c:smooth val="0"/>
        <c:axId val="102815170"/>
        <c:axId val="801511711"/>
      </c:lineChart>
      <c:lineChart>
        <c:grouping val="standard"/>
        <c:varyColors val="0"/>
        <c:ser>
          <c:idx val="4"/>
          <c:order val="4"/>
          <c:tx>
            <c:strRef>
              <c:f>'[副本奢侈品集团2010起亚太区增速变化.xlsx]奢侈品亚太&amp;资产增速'!$D$134</c:f>
              <c:strCache>
                <c:ptCount val="1"/>
                <c:pt idx="0">
                  <c:v>富人资产增速（t-1，右轴）</c:v>
                </c:pt>
              </c:strCache>
            </c:strRef>
          </c:tx>
          <c:spPr>
            <a:ln w="28575" cap="rnd">
              <a:solidFill>
                <a:srgbClr val="FFC000"/>
              </a:solidFill>
              <a:round/>
            </a:ln>
            <a:effectLst/>
          </c:spPr>
          <c:marker>
            <c:symbol val="none"/>
          </c:marker>
          <c:cat>
            <c:strRef>
              <c:f>'[副本奢侈品集团2010起亚太区增速变化.xlsx]奢侈品亚太&amp;资产增速'!$E$129:$W$129</c:f>
              <c:strCache>
                <c:ptCount val="19"/>
                <c:pt idx="0">
                  <c:v>1Q21</c:v>
                </c:pt>
                <c:pt idx="1">
                  <c:v>2Q21</c:v>
                </c:pt>
                <c:pt idx="2">
                  <c:v>3Q21</c:v>
                </c:pt>
                <c:pt idx="3">
                  <c:v>4Q21</c:v>
                </c:pt>
                <c:pt idx="4">
                  <c:v>1Q22</c:v>
                </c:pt>
                <c:pt idx="5">
                  <c:v>2Q22</c:v>
                </c:pt>
                <c:pt idx="6">
                  <c:v>3Q22</c:v>
                </c:pt>
                <c:pt idx="7">
                  <c:v>4Q22</c:v>
                </c:pt>
                <c:pt idx="8">
                  <c:v>1Q23</c:v>
                </c:pt>
                <c:pt idx="9">
                  <c:v>2Q23</c:v>
                </c:pt>
                <c:pt idx="10">
                  <c:v>3Q23</c:v>
                </c:pt>
                <c:pt idx="11">
                  <c:v>4Q23</c:v>
                </c:pt>
                <c:pt idx="12">
                  <c:v>1Q24</c:v>
                </c:pt>
                <c:pt idx="13">
                  <c:v>2Q24</c:v>
                </c:pt>
                <c:pt idx="14">
                  <c:v>3Q24</c:v>
                </c:pt>
                <c:pt idx="15">
                  <c:v>4Q24</c:v>
                </c:pt>
                <c:pt idx="16">
                  <c:v>1Q25</c:v>
                </c:pt>
                <c:pt idx="17">
                  <c:v>2Q25</c:v>
                </c:pt>
                <c:pt idx="18">
                  <c:v>3Q25</c:v>
                </c:pt>
              </c:strCache>
            </c:strRef>
          </c:cat>
          <c:val>
            <c:numRef>
              <c:f>'[副本奢侈品集团2010起亚太区增速变化.xlsx]奢侈品亚太&amp;资产增速'!$E$134:$W$134</c:f>
              <c:numCache>
                <c:formatCode>General</c:formatCode>
                <c:ptCount val="19"/>
                <c:pt idx="0">
                  <c:v>21.9</c:v>
                </c:pt>
                <c:pt idx="1">
                  <c:v>23.1</c:v>
                </c:pt>
                <c:pt idx="2">
                  <c:v>21</c:v>
                </c:pt>
                <c:pt idx="3">
                  <c:v>16.7</c:v>
                </c:pt>
                <c:pt idx="4">
                  <c:v>13.7</c:v>
                </c:pt>
                <c:pt idx="5">
                  <c:v>7.6</c:v>
                </c:pt>
                <c:pt idx="6">
                  <c:v>4.5</c:v>
                </c:pt>
                <c:pt idx="7">
                  <c:v>-1.9</c:v>
                </c:pt>
                <c:pt idx="8">
                  <c:v>-4.0999999999999996</c:v>
                </c:pt>
                <c:pt idx="9">
                  <c:v>1.5</c:v>
                </c:pt>
                <c:pt idx="10">
                  <c:v>-0.1</c:v>
                </c:pt>
                <c:pt idx="11">
                  <c:v>3.6</c:v>
                </c:pt>
                <c:pt idx="12">
                  <c:v>1.6</c:v>
                </c:pt>
                <c:pt idx="13">
                  <c:v>0.5</c:v>
                </c:pt>
                <c:pt idx="14">
                  <c:v>-0.3</c:v>
                </c:pt>
                <c:pt idx="15">
                  <c:v>5.5</c:v>
                </c:pt>
                <c:pt idx="16">
                  <c:v>7.9</c:v>
                </c:pt>
                <c:pt idx="17">
                  <c:v>7.6</c:v>
                </c:pt>
                <c:pt idx="18">
                  <c:v>11.6</c:v>
                </c:pt>
              </c:numCache>
            </c:numRef>
          </c:val>
          <c:smooth val="0"/>
          <c:extLst>
            <c:ext xmlns:c16="http://schemas.microsoft.com/office/drawing/2014/chart" uri="{C3380CC4-5D6E-409C-BE32-E72D297353CC}">
              <c16:uniqueId val="{00000004-8D51-4F31-B8A6-6810100FD046}"/>
            </c:ext>
          </c:extLst>
        </c:ser>
        <c:dLbls>
          <c:showLegendKey val="0"/>
          <c:showVal val="0"/>
          <c:showCatName val="0"/>
          <c:showSerName val="0"/>
          <c:showPercent val="0"/>
          <c:showBubbleSize val="0"/>
        </c:dLbls>
        <c:marker val="1"/>
        <c:smooth val="0"/>
        <c:axId val="806917681"/>
        <c:axId val="928759993"/>
      </c:lineChart>
      <c:catAx>
        <c:axId val="102815170"/>
        <c:scaling>
          <c:orientation val="minMax"/>
        </c:scaling>
        <c:delete val="0"/>
        <c:axPos val="b"/>
        <c:numFmt formatCode="General" sourceLinked="0"/>
        <c:majorTickMark val="none"/>
        <c:minorTickMark val="none"/>
        <c:tickLblPos val="low"/>
        <c:spPr>
          <a:noFill/>
          <a:ln w="9525" cap="flat" cmpd="sng" algn="ctr">
            <a:solidFill>
              <a:schemeClr val="tx1">
                <a:lumMod val="15000"/>
                <a:lumOff val="85000"/>
              </a:schemeClr>
            </a:solidFill>
            <a:round/>
          </a:ln>
          <a:effectLst/>
        </c:spPr>
        <c:txPr>
          <a:bodyPr rot="-60000000" spcFirstLastPara="0" vertOverflow="ellipsis" vert="horz" wrap="square" anchor="ctr" anchorCtr="1" forceAA="0"/>
          <a:lstStyle/>
          <a:p>
            <a:pPr>
              <a:defRPr lang="zh-CN" sz="900" b="0" i="0" u="none" strike="noStrike" kern="1200" baseline="0">
                <a:solidFill>
                  <a:schemeClr val="tx1">
                    <a:lumMod val="65000"/>
                    <a:lumOff val="35000"/>
                  </a:schemeClr>
                </a:solidFill>
                <a:latin typeface="+mn-lt"/>
                <a:ea typeface="+mn-ea"/>
                <a:cs typeface="+mn-cs"/>
              </a:defRPr>
            </a:pPr>
            <a:endParaRPr lang="zh-CN"/>
          </a:p>
        </c:txPr>
        <c:crossAx val="801511711"/>
        <c:crosses val="autoZero"/>
        <c:auto val="1"/>
        <c:lblAlgn val="ctr"/>
        <c:lblOffset val="100"/>
        <c:noMultiLvlLbl val="0"/>
      </c:catAx>
      <c:valAx>
        <c:axId val="801511711"/>
        <c:scaling>
          <c:orientation val="minMax"/>
        </c:scaling>
        <c:delete val="0"/>
        <c:axPos val="l"/>
        <c:numFmt formatCode="0_ " sourceLinked="0"/>
        <c:majorTickMark val="out"/>
        <c:minorTickMark val="none"/>
        <c:tickLblPos val="nextTo"/>
        <c:spPr>
          <a:noFill/>
          <a:ln>
            <a:solidFill>
              <a:schemeClr val="accent1"/>
            </a:solidFill>
          </a:ln>
          <a:effectLst/>
        </c:spPr>
        <c:txPr>
          <a:bodyPr rot="-60000000" spcFirstLastPara="0" vertOverflow="ellipsis" vert="horz" wrap="square" anchor="ctr" anchorCtr="1" forceAA="0"/>
          <a:lstStyle/>
          <a:p>
            <a:pPr>
              <a:defRPr lang="zh-CN" sz="900" b="0" i="0" u="none" strike="noStrike" kern="1200" baseline="0">
                <a:solidFill>
                  <a:schemeClr val="tx1">
                    <a:lumMod val="65000"/>
                    <a:lumOff val="35000"/>
                  </a:schemeClr>
                </a:solidFill>
                <a:latin typeface="+mn-lt"/>
                <a:ea typeface="+mn-ea"/>
                <a:cs typeface="+mn-cs"/>
              </a:defRPr>
            </a:pPr>
            <a:endParaRPr lang="zh-CN"/>
          </a:p>
        </c:txPr>
        <c:crossAx val="102815170"/>
        <c:crosses val="autoZero"/>
        <c:crossBetween val="between"/>
      </c:valAx>
      <c:catAx>
        <c:axId val="806917681"/>
        <c:scaling>
          <c:orientation val="minMax"/>
        </c:scaling>
        <c:delete val="1"/>
        <c:axPos val="b"/>
        <c:numFmt formatCode="General" sourceLinked="1"/>
        <c:majorTickMark val="none"/>
        <c:minorTickMark val="none"/>
        <c:tickLblPos val="nextTo"/>
        <c:crossAx val="928759993"/>
        <c:crosses val="autoZero"/>
        <c:auto val="1"/>
        <c:lblAlgn val="ctr"/>
        <c:lblOffset val="100"/>
        <c:noMultiLvlLbl val="0"/>
      </c:catAx>
      <c:valAx>
        <c:axId val="928759993"/>
        <c:scaling>
          <c:orientation val="minMax"/>
        </c:scaling>
        <c:delete val="0"/>
        <c:axPos val="r"/>
        <c:numFmt formatCode="#,##0_ " sourceLinked="0"/>
        <c:majorTickMark val="out"/>
        <c:minorTickMark val="none"/>
        <c:tickLblPos val="nextTo"/>
        <c:spPr>
          <a:noFill/>
          <a:ln>
            <a:solidFill>
              <a:schemeClr val="accent1"/>
            </a:solidFill>
          </a:ln>
          <a:effectLst/>
        </c:spPr>
        <c:txPr>
          <a:bodyPr rot="-60000000" spcFirstLastPara="0" vertOverflow="ellipsis" vert="horz" wrap="square" anchor="ctr" anchorCtr="1" forceAA="0"/>
          <a:lstStyle/>
          <a:p>
            <a:pPr>
              <a:defRPr lang="zh-CN" sz="900" b="0" i="0" u="none" strike="noStrike" kern="1200" baseline="0">
                <a:solidFill>
                  <a:schemeClr val="tx1">
                    <a:lumMod val="65000"/>
                    <a:lumOff val="35000"/>
                  </a:schemeClr>
                </a:solidFill>
                <a:latin typeface="+mn-lt"/>
                <a:ea typeface="+mn-ea"/>
                <a:cs typeface="+mn-cs"/>
              </a:defRPr>
            </a:pPr>
            <a:endParaRPr lang="zh-CN"/>
          </a:p>
        </c:txPr>
        <c:crossAx val="806917681"/>
        <c:crosses val="max"/>
        <c:crossBetween val="between"/>
      </c:valAx>
      <c:spPr>
        <a:noFill/>
        <a:ln>
          <a:noFill/>
        </a:ln>
        <a:effectLst/>
      </c:spPr>
    </c:plotArea>
    <c:legend>
      <c:legendPos val="b"/>
      <c:layout>
        <c:manualLayout>
          <c:xMode val="edge"/>
          <c:yMode val="edge"/>
          <c:x val="4.1782729805013904E-3"/>
          <c:y val="0.81741886476790904"/>
          <c:w val="0.99164694417374399"/>
          <c:h val="0.175525631939523"/>
        </c:manualLayout>
      </c:layout>
      <c:overlay val="0"/>
      <c:spPr>
        <a:noFill/>
        <a:ln>
          <a:noFill/>
        </a:ln>
        <a:effectLst/>
      </c:spPr>
      <c:txPr>
        <a:bodyPr rot="0" spcFirstLastPara="0" vertOverflow="ellipsis" vert="horz" wrap="square" anchor="ctr" anchorCtr="1" forceAA="0"/>
        <a:lstStyle/>
        <a:p>
          <a:pPr>
            <a:defRPr lang="zh-CN" sz="900"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solidFill>
      <a:schemeClr val="bg1"/>
    </a:solidFill>
    <a:ln w="9525" cap="flat" cmpd="sng" algn="ctr">
      <a:noFill/>
      <a:prstDash val="solid"/>
      <a:round/>
    </a:ln>
    <a:effectLst/>
  </c:spPr>
  <c:txPr>
    <a:bodyPr/>
    <a:lstStyle/>
    <a:p>
      <a:pPr>
        <a:defRPr lang="zh-CN"/>
      </a:pPr>
      <a:endParaRPr lang="zh-CN"/>
    </a:p>
  </c:txPr>
  <c:externalData r:id="rId4">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0"/>
    <c:plotArea>
      <c:layout/>
      <c:lineChart>
        <c:grouping val="standard"/>
        <c:varyColors val="0"/>
        <c:ser>
          <c:idx val="0"/>
          <c:order val="0"/>
          <c:tx>
            <c:strRef>
              <c:f>分季度汇总数据!$AF$14</c:f>
              <c:strCache>
                <c:ptCount val="1"/>
                <c:pt idx="0">
                  <c:v>富人增速</c:v>
                </c:pt>
              </c:strCache>
            </c:strRef>
          </c:tx>
          <c:spPr>
            <a:ln w="19050">
              <a:solidFill>
                <a:srgbClr val="E6121B"/>
              </a:solidFill>
            </a:ln>
          </c:spPr>
          <c:marker>
            <c:symbol val="none"/>
          </c:marker>
          <c:cat>
            <c:numRef>
              <c:f>分季度汇总数据!$AE$15:$AE$76</c:f>
              <c:numCache>
                <c:formatCode>yyyy\-mm</c:formatCode>
                <c:ptCount val="62"/>
                <c:pt idx="0">
                  <c:v>40268</c:v>
                </c:pt>
                <c:pt idx="1">
                  <c:v>40359</c:v>
                </c:pt>
                <c:pt idx="2">
                  <c:v>40451</c:v>
                </c:pt>
                <c:pt idx="3">
                  <c:v>40543</c:v>
                </c:pt>
                <c:pt idx="4">
                  <c:v>40633</c:v>
                </c:pt>
                <c:pt idx="5">
                  <c:v>40724</c:v>
                </c:pt>
                <c:pt idx="6">
                  <c:v>40816</c:v>
                </c:pt>
                <c:pt idx="7">
                  <c:v>40908</c:v>
                </c:pt>
                <c:pt idx="8">
                  <c:v>40999</c:v>
                </c:pt>
                <c:pt idx="9">
                  <c:v>41090</c:v>
                </c:pt>
                <c:pt idx="10">
                  <c:v>41182</c:v>
                </c:pt>
                <c:pt idx="11">
                  <c:v>41274</c:v>
                </c:pt>
                <c:pt idx="12">
                  <c:v>41364</c:v>
                </c:pt>
                <c:pt idx="13">
                  <c:v>41455</c:v>
                </c:pt>
                <c:pt idx="14">
                  <c:v>41547</c:v>
                </c:pt>
                <c:pt idx="15">
                  <c:v>41639</c:v>
                </c:pt>
                <c:pt idx="16">
                  <c:v>41729</c:v>
                </c:pt>
                <c:pt idx="17">
                  <c:v>41820</c:v>
                </c:pt>
                <c:pt idx="18">
                  <c:v>41912</c:v>
                </c:pt>
                <c:pt idx="19">
                  <c:v>42004</c:v>
                </c:pt>
                <c:pt idx="20">
                  <c:v>42094</c:v>
                </c:pt>
                <c:pt idx="21">
                  <c:v>42185</c:v>
                </c:pt>
                <c:pt idx="22">
                  <c:v>42277</c:v>
                </c:pt>
                <c:pt idx="23">
                  <c:v>42369</c:v>
                </c:pt>
                <c:pt idx="24">
                  <c:v>42460</c:v>
                </c:pt>
                <c:pt idx="25">
                  <c:v>42551</c:v>
                </c:pt>
                <c:pt idx="26">
                  <c:v>42643</c:v>
                </c:pt>
                <c:pt idx="27">
                  <c:v>42735</c:v>
                </c:pt>
                <c:pt idx="28">
                  <c:v>42825</c:v>
                </c:pt>
                <c:pt idx="29">
                  <c:v>42916</c:v>
                </c:pt>
                <c:pt idx="30">
                  <c:v>43008</c:v>
                </c:pt>
                <c:pt idx="31">
                  <c:v>43100</c:v>
                </c:pt>
                <c:pt idx="32">
                  <c:v>43190</c:v>
                </c:pt>
                <c:pt idx="33">
                  <c:v>43281</c:v>
                </c:pt>
                <c:pt idx="34">
                  <c:v>43373</c:v>
                </c:pt>
                <c:pt idx="35">
                  <c:v>43465</c:v>
                </c:pt>
                <c:pt idx="36">
                  <c:v>43555</c:v>
                </c:pt>
                <c:pt idx="37">
                  <c:v>43646</c:v>
                </c:pt>
                <c:pt idx="38">
                  <c:v>43738</c:v>
                </c:pt>
                <c:pt idx="39">
                  <c:v>43830</c:v>
                </c:pt>
                <c:pt idx="40">
                  <c:v>43921</c:v>
                </c:pt>
                <c:pt idx="41">
                  <c:v>44012</c:v>
                </c:pt>
                <c:pt idx="42">
                  <c:v>44104</c:v>
                </c:pt>
                <c:pt idx="43">
                  <c:v>44196</c:v>
                </c:pt>
                <c:pt idx="44">
                  <c:v>44286</c:v>
                </c:pt>
                <c:pt idx="45">
                  <c:v>44377</c:v>
                </c:pt>
                <c:pt idx="46">
                  <c:v>44469</c:v>
                </c:pt>
                <c:pt idx="47">
                  <c:v>44561</c:v>
                </c:pt>
                <c:pt idx="48">
                  <c:v>44651</c:v>
                </c:pt>
                <c:pt idx="49">
                  <c:v>44742</c:v>
                </c:pt>
                <c:pt idx="50">
                  <c:v>44834</c:v>
                </c:pt>
                <c:pt idx="51">
                  <c:v>44926</c:v>
                </c:pt>
                <c:pt idx="52">
                  <c:v>45016</c:v>
                </c:pt>
                <c:pt idx="53">
                  <c:v>45107</c:v>
                </c:pt>
                <c:pt idx="54">
                  <c:v>45199</c:v>
                </c:pt>
                <c:pt idx="55">
                  <c:v>45290</c:v>
                </c:pt>
                <c:pt idx="56">
                  <c:v>45381</c:v>
                </c:pt>
                <c:pt idx="57">
                  <c:v>45473</c:v>
                </c:pt>
                <c:pt idx="58">
                  <c:v>45565</c:v>
                </c:pt>
                <c:pt idx="59">
                  <c:v>45656</c:v>
                </c:pt>
                <c:pt idx="60">
                  <c:v>45746</c:v>
                </c:pt>
                <c:pt idx="61">
                  <c:v>45838</c:v>
                </c:pt>
              </c:numCache>
            </c:numRef>
          </c:cat>
          <c:val>
            <c:numRef>
              <c:f>分季度汇总数据!$AF$15:$AF$76</c:f>
              <c:numCache>
                <c:formatCode>0%</c:formatCode>
                <c:ptCount val="62"/>
                <c:pt idx="0">
                  <c:v>0.40323813024592114</c:v>
                </c:pt>
                <c:pt idx="1">
                  <c:v>0.23176832695067867</c:v>
                </c:pt>
                <c:pt idx="2">
                  <c:v>0.23008699692278126</c:v>
                </c:pt>
                <c:pt idx="3">
                  <c:v>0.16915359283733192</c:v>
                </c:pt>
                <c:pt idx="4">
                  <c:v>0.19048604928588969</c:v>
                </c:pt>
                <c:pt idx="5">
                  <c:v>0.24003870643563618</c:v>
                </c:pt>
                <c:pt idx="6">
                  <c:v>0.1745717329273786</c:v>
                </c:pt>
                <c:pt idx="7">
                  <c:v>0.1208190661582729</c:v>
                </c:pt>
                <c:pt idx="8">
                  <c:v>0.14477973244822212</c:v>
                </c:pt>
                <c:pt idx="9">
                  <c:v>0.16073690404728549</c:v>
                </c:pt>
                <c:pt idx="10">
                  <c:v>0.18951996873181848</c:v>
                </c:pt>
                <c:pt idx="11">
                  <c:v>0.21910132766159379</c:v>
                </c:pt>
                <c:pt idx="12">
                  <c:v>0.220891637507312</c:v>
                </c:pt>
                <c:pt idx="13">
                  <c:v>0.18962145877619052</c:v>
                </c:pt>
                <c:pt idx="14">
                  <c:v>0.20734269507163275</c:v>
                </c:pt>
                <c:pt idx="15">
                  <c:v>0.17946618775148246</c:v>
                </c:pt>
                <c:pt idx="16">
                  <c:v>0.16931556634289047</c:v>
                </c:pt>
                <c:pt idx="17">
                  <c:v>0.18776428276223206</c:v>
                </c:pt>
                <c:pt idx="18">
                  <c:v>0.18453461152706896</c:v>
                </c:pt>
                <c:pt idx="19">
                  <c:v>0.22713924183993264</c:v>
                </c:pt>
                <c:pt idx="20">
                  <c:v>0.28985245812471899</c:v>
                </c:pt>
                <c:pt idx="21">
                  <c:v>0.41714146450150341</c:v>
                </c:pt>
                <c:pt idx="22">
                  <c:v>0.24373841491506554</c:v>
                </c:pt>
                <c:pt idx="23">
                  <c:v>0.24189223420301414</c:v>
                </c:pt>
                <c:pt idx="24">
                  <c:v>0.13654770571224126</c:v>
                </c:pt>
                <c:pt idx="25">
                  <c:v>5.0113324489046575E-2</c:v>
                </c:pt>
                <c:pt idx="26">
                  <c:v>0.15927835263775481</c:v>
                </c:pt>
                <c:pt idx="27">
                  <c:v>0.11950604930885179</c:v>
                </c:pt>
                <c:pt idx="28">
                  <c:v>0.12645833763166903</c:v>
                </c:pt>
                <c:pt idx="29">
                  <c:v>0.10409220613825582</c:v>
                </c:pt>
                <c:pt idx="30">
                  <c:v>8.4456773488499115E-2</c:v>
                </c:pt>
                <c:pt idx="31">
                  <c:v>7.8203240432314053E-2</c:v>
                </c:pt>
                <c:pt idx="32">
                  <c:v>8.3396772702124075E-2</c:v>
                </c:pt>
                <c:pt idx="33">
                  <c:v>7.8055504608390489E-2</c:v>
                </c:pt>
                <c:pt idx="34">
                  <c:v>8.7249348076509498E-2</c:v>
                </c:pt>
                <c:pt idx="35">
                  <c:v>8.1271599681578516E-2</c:v>
                </c:pt>
                <c:pt idx="36">
                  <c:v>0.11268019049627889</c:v>
                </c:pt>
                <c:pt idx="37">
                  <c:v>0.10699000697938368</c:v>
                </c:pt>
                <c:pt idx="38">
                  <c:v>9.8077809404048324E-2</c:v>
                </c:pt>
                <c:pt idx="39">
                  <c:v>0.11732769257333919</c:v>
                </c:pt>
                <c:pt idx="40">
                  <c:v>0.12090668837283952</c:v>
                </c:pt>
                <c:pt idx="41">
                  <c:v>0.17601923317174223</c:v>
                </c:pt>
                <c:pt idx="42">
                  <c:v>0.22633547555389111</c:v>
                </c:pt>
                <c:pt idx="43">
                  <c:v>0.25864257197497953</c:v>
                </c:pt>
                <c:pt idx="44">
                  <c:v>0.22589133632666161</c:v>
                </c:pt>
                <c:pt idx="45">
                  <c:v>0.19495942912297642</c:v>
                </c:pt>
                <c:pt idx="46">
                  <c:v>0.15227849006023653</c:v>
                </c:pt>
                <c:pt idx="47">
                  <c:v>0.11890134254838317</c:v>
                </c:pt>
                <c:pt idx="48">
                  <c:v>4.0967624826160065E-2</c:v>
                </c:pt>
                <c:pt idx="49">
                  <c:v>3.4084829536039848E-3</c:v>
                </c:pt>
                <c:pt idx="50">
                  <c:v>-4.2517831571757883E-2</c:v>
                </c:pt>
                <c:pt idx="51">
                  <c:v>-7.2609183216563275E-2</c:v>
                </c:pt>
                <c:pt idx="52">
                  <c:v>-3.8212815599440272E-2</c:v>
                </c:pt>
                <c:pt idx="53">
                  <c:v>-5.4955739071625764E-2</c:v>
                </c:pt>
                <c:pt idx="54">
                  <c:v>-4.4521757852390563E-2</c:v>
                </c:pt>
                <c:pt idx="55">
                  <c:v>-5.2895802610182056E-2</c:v>
                </c:pt>
                <c:pt idx="56">
                  <c:v>-7.2217022203106149E-2</c:v>
                </c:pt>
                <c:pt idx="57">
                  <c:v>-8.5231206111847965E-2</c:v>
                </c:pt>
                <c:pt idx="58">
                  <c:v>-7.8040454935529538E-2</c:v>
                </c:pt>
                <c:pt idx="59">
                  <c:v>-9.9972914359871511E-3</c:v>
                </c:pt>
                <c:pt idx="60">
                  <c:v>4.4919947592158505E-2</c:v>
                </c:pt>
                <c:pt idx="61">
                  <c:v>4.5045154319081071E-2</c:v>
                </c:pt>
              </c:numCache>
            </c:numRef>
          </c:val>
          <c:smooth val="0"/>
          <c:extLst>
            <c:ext xmlns:c16="http://schemas.microsoft.com/office/drawing/2014/chart" uri="{C3380CC4-5D6E-409C-BE32-E72D297353CC}">
              <c16:uniqueId val="{00000000-6A75-49E5-989B-BB305FC4F242}"/>
            </c:ext>
          </c:extLst>
        </c:ser>
        <c:ser>
          <c:idx val="1"/>
          <c:order val="1"/>
          <c:tx>
            <c:strRef>
              <c:f>分季度汇总数据!$AG$14</c:f>
              <c:strCache>
                <c:ptCount val="1"/>
                <c:pt idx="0">
                  <c:v>中产增速</c:v>
                </c:pt>
              </c:strCache>
            </c:strRef>
          </c:tx>
          <c:spPr>
            <a:ln w="19050">
              <a:solidFill>
                <a:srgbClr val="0262BA"/>
              </a:solidFill>
            </a:ln>
          </c:spPr>
          <c:marker>
            <c:symbol val="none"/>
          </c:marker>
          <c:cat>
            <c:numRef>
              <c:f>分季度汇总数据!$AE$15:$AE$76</c:f>
              <c:numCache>
                <c:formatCode>yyyy\-mm</c:formatCode>
                <c:ptCount val="62"/>
                <c:pt idx="0">
                  <c:v>40268</c:v>
                </c:pt>
                <c:pt idx="1">
                  <c:v>40359</c:v>
                </c:pt>
                <c:pt idx="2">
                  <c:v>40451</c:v>
                </c:pt>
                <c:pt idx="3">
                  <c:v>40543</c:v>
                </c:pt>
                <c:pt idx="4">
                  <c:v>40633</c:v>
                </c:pt>
                <c:pt idx="5">
                  <c:v>40724</c:v>
                </c:pt>
                <c:pt idx="6">
                  <c:v>40816</c:v>
                </c:pt>
                <c:pt idx="7">
                  <c:v>40908</c:v>
                </c:pt>
                <c:pt idx="8">
                  <c:v>40999</c:v>
                </c:pt>
                <c:pt idx="9">
                  <c:v>41090</c:v>
                </c:pt>
                <c:pt idx="10">
                  <c:v>41182</c:v>
                </c:pt>
                <c:pt idx="11">
                  <c:v>41274</c:v>
                </c:pt>
                <c:pt idx="12">
                  <c:v>41364</c:v>
                </c:pt>
                <c:pt idx="13">
                  <c:v>41455</c:v>
                </c:pt>
                <c:pt idx="14">
                  <c:v>41547</c:v>
                </c:pt>
                <c:pt idx="15">
                  <c:v>41639</c:v>
                </c:pt>
                <c:pt idx="16">
                  <c:v>41729</c:v>
                </c:pt>
                <c:pt idx="17">
                  <c:v>41820</c:v>
                </c:pt>
                <c:pt idx="18">
                  <c:v>41912</c:v>
                </c:pt>
                <c:pt idx="19">
                  <c:v>42004</c:v>
                </c:pt>
                <c:pt idx="20">
                  <c:v>42094</c:v>
                </c:pt>
                <c:pt idx="21">
                  <c:v>42185</c:v>
                </c:pt>
                <c:pt idx="22">
                  <c:v>42277</c:v>
                </c:pt>
                <c:pt idx="23">
                  <c:v>42369</c:v>
                </c:pt>
                <c:pt idx="24">
                  <c:v>42460</c:v>
                </c:pt>
                <c:pt idx="25">
                  <c:v>42551</c:v>
                </c:pt>
                <c:pt idx="26">
                  <c:v>42643</c:v>
                </c:pt>
                <c:pt idx="27">
                  <c:v>42735</c:v>
                </c:pt>
                <c:pt idx="28">
                  <c:v>42825</c:v>
                </c:pt>
                <c:pt idx="29">
                  <c:v>42916</c:v>
                </c:pt>
                <c:pt idx="30">
                  <c:v>43008</c:v>
                </c:pt>
                <c:pt idx="31">
                  <c:v>43100</c:v>
                </c:pt>
                <c:pt idx="32">
                  <c:v>43190</c:v>
                </c:pt>
                <c:pt idx="33">
                  <c:v>43281</c:v>
                </c:pt>
                <c:pt idx="34">
                  <c:v>43373</c:v>
                </c:pt>
                <c:pt idx="35">
                  <c:v>43465</c:v>
                </c:pt>
                <c:pt idx="36">
                  <c:v>43555</c:v>
                </c:pt>
                <c:pt idx="37">
                  <c:v>43646</c:v>
                </c:pt>
                <c:pt idx="38">
                  <c:v>43738</c:v>
                </c:pt>
                <c:pt idx="39">
                  <c:v>43830</c:v>
                </c:pt>
                <c:pt idx="40">
                  <c:v>43921</c:v>
                </c:pt>
                <c:pt idx="41">
                  <c:v>44012</c:v>
                </c:pt>
                <c:pt idx="42">
                  <c:v>44104</c:v>
                </c:pt>
                <c:pt idx="43">
                  <c:v>44196</c:v>
                </c:pt>
                <c:pt idx="44">
                  <c:v>44286</c:v>
                </c:pt>
                <c:pt idx="45">
                  <c:v>44377</c:v>
                </c:pt>
                <c:pt idx="46">
                  <c:v>44469</c:v>
                </c:pt>
                <c:pt idx="47">
                  <c:v>44561</c:v>
                </c:pt>
                <c:pt idx="48">
                  <c:v>44651</c:v>
                </c:pt>
                <c:pt idx="49">
                  <c:v>44742</c:v>
                </c:pt>
                <c:pt idx="50">
                  <c:v>44834</c:v>
                </c:pt>
                <c:pt idx="51">
                  <c:v>44926</c:v>
                </c:pt>
                <c:pt idx="52">
                  <c:v>45016</c:v>
                </c:pt>
                <c:pt idx="53">
                  <c:v>45107</c:v>
                </c:pt>
                <c:pt idx="54">
                  <c:v>45199</c:v>
                </c:pt>
                <c:pt idx="55">
                  <c:v>45290</c:v>
                </c:pt>
                <c:pt idx="56">
                  <c:v>45381</c:v>
                </c:pt>
                <c:pt idx="57">
                  <c:v>45473</c:v>
                </c:pt>
                <c:pt idx="58">
                  <c:v>45565</c:v>
                </c:pt>
                <c:pt idx="59">
                  <c:v>45656</c:v>
                </c:pt>
                <c:pt idx="60">
                  <c:v>45746</c:v>
                </c:pt>
                <c:pt idx="61">
                  <c:v>45838</c:v>
                </c:pt>
              </c:numCache>
            </c:numRef>
          </c:cat>
          <c:val>
            <c:numRef>
              <c:f>分季度汇总数据!$AG$15:$AG$76</c:f>
              <c:numCache>
                <c:formatCode>0%</c:formatCode>
                <c:ptCount val="62"/>
                <c:pt idx="0">
                  <c:v>0.31576907260098935</c:v>
                </c:pt>
                <c:pt idx="1">
                  <c:v>0.21084093816283622</c:v>
                </c:pt>
                <c:pt idx="2">
                  <c:v>0.19720871093348044</c:v>
                </c:pt>
                <c:pt idx="3">
                  <c:v>0.14776985594849468</c:v>
                </c:pt>
                <c:pt idx="4">
                  <c:v>0.15823424502242731</c:v>
                </c:pt>
                <c:pt idx="5">
                  <c:v>0.18546766495701883</c:v>
                </c:pt>
                <c:pt idx="6">
                  <c:v>0.14796640737266781</c:v>
                </c:pt>
                <c:pt idx="7">
                  <c:v>0.12394879924686369</c:v>
                </c:pt>
                <c:pt idx="8">
                  <c:v>0.13881852864211969</c:v>
                </c:pt>
                <c:pt idx="9">
                  <c:v>0.14662659041922649</c:v>
                </c:pt>
                <c:pt idx="10">
                  <c:v>0.16248515688812598</c:v>
                </c:pt>
                <c:pt idx="11">
                  <c:v>0.17443738621675259</c:v>
                </c:pt>
                <c:pt idx="12">
                  <c:v>0.177729042400913</c:v>
                </c:pt>
                <c:pt idx="13">
                  <c:v>0.15939353513734386</c:v>
                </c:pt>
                <c:pt idx="14">
                  <c:v>0.16933993257929331</c:v>
                </c:pt>
                <c:pt idx="15">
                  <c:v>0.15396777622907501</c:v>
                </c:pt>
                <c:pt idx="16">
                  <c:v>0.14096131591628236</c:v>
                </c:pt>
                <c:pt idx="17">
                  <c:v>0.14616628724924594</c:v>
                </c:pt>
                <c:pt idx="18">
                  <c:v>0.13384926524040858</c:v>
                </c:pt>
                <c:pt idx="19">
                  <c:v>0.14900764896360918</c:v>
                </c:pt>
                <c:pt idx="20">
                  <c:v>0.18625424731288595</c:v>
                </c:pt>
                <c:pt idx="21">
                  <c:v>0.25604941802240322</c:v>
                </c:pt>
                <c:pt idx="22">
                  <c:v>0.1749120610456987</c:v>
                </c:pt>
                <c:pt idx="23">
                  <c:v>0.18296463043398892</c:v>
                </c:pt>
                <c:pt idx="24">
                  <c:v>0.13866742584335587</c:v>
                </c:pt>
                <c:pt idx="25">
                  <c:v>0.10539390531922378</c:v>
                </c:pt>
                <c:pt idx="26">
                  <c:v>0.16558103312407954</c:v>
                </c:pt>
                <c:pt idx="27">
                  <c:v>0.1568907087856671</c:v>
                </c:pt>
                <c:pt idx="28">
                  <c:v>0.164690913919945</c:v>
                </c:pt>
                <c:pt idx="29">
                  <c:v>0.16143413501931389</c:v>
                </c:pt>
                <c:pt idx="30">
                  <c:v>0.1431903230777074</c:v>
                </c:pt>
                <c:pt idx="31">
                  <c:v>0.12379835239051903</c:v>
                </c:pt>
                <c:pt idx="32">
                  <c:v>0.12126190738238096</c:v>
                </c:pt>
                <c:pt idx="33">
                  <c:v>0.11081071435029717</c:v>
                </c:pt>
                <c:pt idx="34">
                  <c:v>0.1291470064416004</c:v>
                </c:pt>
                <c:pt idx="35">
                  <c:v>0.12413162364025349</c:v>
                </c:pt>
                <c:pt idx="36">
                  <c:v>0.12880583845265492</c:v>
                </c:pt>
                <c:pt idx="37">
                  <c:v>0.10936414946393241</c:v>
                </c:pt>
                <c:pt idx="38">
                  <c:v>9.2527990599701848E-2</c:v>
                </c:pt>
                <c:pt idx="39">
                  <c:v>9.8892074088412676E-2</c:v>
                </c:pt>
                <c:pt idx="40">
                  <c:v>0.10237416641144506</c:v>
                </c:pt>
                <c:pt idx="41">
                  <c:v>0.1330691441388705</c:v>
                </c:pt>
                <c:pt idx="42">
                  <c:v>0.16029446099522116</c:v>
                </c:pt>
                <c:pt idx="43">
                  <c:v>0.18033725796662414</c:v>
                </c:pt>
                <c:pt idx="44">
                  <c:v>0.16285504405305462</c:v>
                </c:pt>
                <c:pt idx="45">
                  <c:v>0.14718224876121011</c:v>
                </c:pt>
                <c:pt idx="46">
                  <c:v>0.1191859276209363</c:v>
                </c:pt>
                <c:pt idx="47">
                  <c:v>9.3122633975841806E-2</c:v>
                </c:pt>
                <c:pt idx="48">
                  <c:v>4.4439305213666451E-2</c:v>
                </c:pt>
                <c:pt idx="49">
                  <c:v>1.5290359513351236E-2</c:v>
                </c:pt>
                <c:pt idx="50">
                  <c:v>-1.2008079112364548E-2</c:v>
                </c:pt>
                <c:pt idx="51">
                  <c:v>-2.5747317463056356E-2</c:v>
                </c:pt>
                <c:pt idx="52">
                  <c:v>-3.9521572180835664E-3</c:v>
                </c:pt>
                <c:pt idx="53">
                  <c:v>-1.4018907525233423E-2</c:v>
                </c:pt>
                <c:pt idx="54">
                  <c:v>-1.1958388525080379E-2</c:v>
                </c:pt>
                <c:pt idx="55">
                  <c:v>-2.5665589631489336E-2</c:v>
                </c:pt>
                <c:pt idx="56">
                  <c:v>-4.6834508720820567E-2</c:v>
                </c:pt>
                <c:pt idx="57">
                  <c:v>-6.173644513571093E-2</c:v>
                </c:pt>
                <c:pt idx="58">
                  <c:v>-6.2495312299481923E-2</c:v>
                </c:pt>
                <c:pt idx="59">
                  <c:v>-1.9110105596853368E-2</c:v>
                </c:pt>
                <c:pt idx="60">
                  <c:v>1.8011798490302912E-2</c:v>
                </c:pt>
                <c:pt idx="61">
                  <c:v>2.2810058305859304E-2</c:v>
                </c:pt>
              </c:numCache>
            </c:numRef>
          </c:val>
          <c:smooth val="0"/>
          <c:extLst>
            <c:ext xmlns:c16="http://schemas.microsoft.com/office/drawing/2014/chart" uri="{C3380CC4-5D6E-409C-BE32-E72D297353CC}">
              <c16:uniqueId val="{00000001-6A75-49E5-989B-BB305FC4F242}"/>
            </c:ext>
          </c:extLst>
        </c:ser>
        <c:ser>
          <c:idx val="2"/>
          <c:order val="2"/>
          <c:tx>
            <c:strRef>
              <c:f>分季度汇总数据!$AH$14</c:f>
              <c:strCache>
                <c:ptCount val="1"/>
                <c:pt idx="0">
                  <c:v>大众资产配置增速</c:v>
                </c:pt>
              </c:strCache>
            </c:strRef>
          </c:tx>
          <c:marker>
            <c:symbol val="none"/>
          </c:marker>
          <c:cat>
            <c:numRef>
              <c:f>分季度汇总数据!$AE$15:$AE$76</c:f>
              <c:numCache>
                <c:formatCode>yyyy\-mm</c:formatCode>
                <c:ptCount val="62"/>
                <c:pt idx="0">
                  <c:v>40268</c:v>
                </c:pt>
                <c:pt idx="1">
                  <c:v>40359</c:v>
                </c:pt>
                <c:pt idx="2">
                  <c:v>40451</c:v>
                </c:pt>
                <c:pt idx="3">
                  <c:v>40543</c:v>
                </c:pt>
                <c:pt idx="4">
                  <c:v>40633</c:v>
                </c:pt>
                <c:pt idx="5">
                  <c:v>40724</c:v>
                </c:pt>
                <c:pt idx="6">
                  <c:v>40816</c:v>
                </c:pt>
                <c:pt idx="7">
                  <c:v>40908</c:v>
                </c:pt>
                <c:pt idx="8">
                  <c:v>40999</c:v>
                </c:pt>
                <c:pt idx="9">
                  <c:v>41090</c:v>
                </c:pt>
                <c:pt idx="10">
                  <c:v>41182</c:v>
                </c:pt>
                <c:pt idx="11">
                  <c:v>41274</c:v>
                </c:pt>
                <c:pt idx="12">
                  <c:v>41364</c:v>
                </c:pt>
                <c:pt idx="13">
                  <c:v>41455</c:v>
                </c:pt>
                <c:pt idx="14">
                  <c:v>41547</c:v>
                </c:pt>
                <c:pt idx="15">
                  <c:v>41639</c:v>
                </c:pt>
                <c:pt idx="16">
                  <c:v>41729</c:v>
                </c:pt>
                <c:pt idx="17">
                  <c:v>41820</c:v>
                </c:pt>
                <c:pt idx="18">
                  <c:v>41912</c:v>
                </c:pt>
                <c:pt idx="19">
                  <c:v>42004</c:v>
                </c:pt>
                <c:pt idx="20">
                  <c:v>42094</c:v>
                </c:pt>
                <c:pt idx="21">
                  <c:v>42185</c:v>
                </c:pt>
                <c:pt idx="22">
                  <c:v>42277</c:v>
                </c:pt>
                <c:pt idx="23">
                  <c:v>42369</c:v>
                </c:pt>
                <c:pt idx="24">
                  <c:v>42460</c:v>
                </c:pt>
                <c:pt idx="25">
                  <c:v>42551</c:v>
                </c:pt>
                <c:pt idx="26">
                  <c:v>42643</c:v>
                </c:pt>
                <c:pt idx="27">
                  <c:v>42735</c:v>
                </c:pt>
                <c:pt idx="28">
                  <c:v>42825</c:v>
                </c:pt>
                <c:pt idx="29">
                  <c:v>42916</c:v>
                </c:pt>
                <c:pt idx="30">
                  <c:v>43008</c:v>
                </c:pt>
                <c:pt idx="31">
                  <c:v>43100</c:v>
                </c:pt>
                <c:pt idx="32">
                  <c:v>43190</c:v>
                </c:pt>
                <c:pt idx="33">
                  <c:v>43281</c:v>
                </c:pt>
                <c:pt idx="34">
                  <c:v>43373</c:v>
                </c:pt>
                <c:pt idx="35">
                  <c:v>43465</c:v>
                </c:pt>
                <c:pt idx="36">
                  <c:v>43555</c:v>
                </c:pt>
                <c:pt idx="37">
                  <c:v>43646</c:v>
                </c:pt>
                <c:pt idx="38">
                  <c:v>43738</c:v>
                </c:pt>
                <c:pt idx="39">
                  <c:v>43830</c:v>
                </c:pt>
                <c:pt idx="40">
                  <c:v>43921</c:v>
                </c:pt>
                <c:pt idx="41">
                  <c:v>44012</c:v>
                </c:pt>
                <c:pt idx="42">
                  <c:v>44104</c:v>
                </c:pt>
                <c:pt idx="43">
                  <c:v>44196</c:v>
                </c:pt>
                <c:pt idx="44">
                  <c:v>44286</c:v>
                </c:pt>
                <c:pt idx="45">
                  <c:v>44377</c:v>
                </c:pt>
                <c:pt idx="46">
                  <c:v>44469</c:v>
                </c:pt>
                <c:pt idx="47">
                  <c:v>44561</c:v>
                </c:pt>
                <c:pt idx="48">
                  <c:v>44651</c:v>
                </c:pt>
                <c:pt idx="49">
                  <c:v>44742</c:v>
                </c:pt>
                <c:pt idx="50">
                  <c:v>44834</c:v>
                </c:pt>
                <c:pt idx="51">
                  <c:v>44926</c:v>
                </c:pt>
                <c:pt idx="52">
                  <c:v>45016</c:v>
                </c:pt>
                <c:pt idx="53">
                  <c:v>45107</c:v>
                </c:pt>
                <c:pt idx="54">
                  <c:v>45199</c:v>
                </c:pt>
                <c:pt idx="55">
                  <c:v>45290</c:v>
                </c:pt>
                <c:pt idx="56">
                  <c:v>45381</c:v>
                </c:pt>
                <c:pt idx="57">
                  <c:v>45473</c:v>
                </c:pt>
                <c:pt idx="58">
                  <c:v>45565</c:v>
                </c:pt>
                <c:pt idx="59">
                  <c:v>45656</c:v>
                </c:pt>
                <c:pt idx="60">
                  <c:v>45746</c:v>
                </c:pt>
                <c:pt idx="61">
                  <c:v>45838</c:v>
                </c:pt>
              </c:numCache>
            </c:numRef>
          </c:cat>
          <c:val>
            <c:numRef>
              <c:f>分季度汇总数据!$AH$15:$AH$76</c:f>
              <c:numCache>
                <c:formatCode>0%</c:formatCode>
                <c:ptCount val="62"/>
                <c:pt idx="0">
                  <c:v>0.24450411681260678</c:v>
                </c:pt>
                <c:pt idx="1">
                  <c:v>0.19289700666115664</c:v>
                </c:pt>
                <c:pt idx="2">
                  <c:v>0.17042458159284335</c:v>
                </c:pt>
                <c:pt idx="3">
                  <c:v>0.12972863507024476</c:v>
                </c:pt>
                <c:pt idx="4">
                  <c:v>0.13409753535968011</c:v>
                </c:pt>
                <c:pt idx="5">
                  <c:v>0.14626795665229592</c:v>
                </c:pt>
                <c:pt idx="6">
                  <c:v>0.13233188545059757</c:v>
                </c:pt>
                <c:pt idx="7">
                  <c:v>0.12900197740069341</c:v>
                </c:pt>
                <c:pt idx="8">
                  <c:v>0.1336016391513726</c:v>
                </c:pt>
                <c:pt idx="9">
                  <c:v>0.1330343761129478</c:v>
                </c:pt>
                <c:pt idx="10">
                  <c:v>0.13729498614006735</c:v>
                </c:pt>
                <c:pt idx="11">
                  <c:v>0.13633980500660239</c:v>
                </c:pt>
                <c:pt idx="12">
                  <c:v>0.14009002746076543</c:v>
                </c:pt>
                <c:pt idx="13">
                  <c:v>0.13239219908197858</c:v>
                </c:pt>
                <c:pt idx="14">
                  <c:v>0.1363908671370411</c:v>
                </c:pt>
                <c:pt idx="15">
                  <c:v>0.13039050482383704</c:v>
                </c:pt>
                <c:pt idx="16">
                  <c:v>0.11509385072968756</c:v>
                </c:pt>
                <c:pt idx="17">
                  <c:v>0.10808327921186224</c:v>
                </c:pt>
                <c:pt idx="18">
                  <c:v>8.950984050187899E-2</c:v>
                </c:pt>
                <c:pt idx="19">
                  <c:v>8.320507074421328E-2</c:v>
                </c:pt>
                <c:pt idx="20">
                  <c:v>0.10233280777545806</c:v>
                </c:pt>
                <c:pt idx="21">
                  <c:v>0.13390104259276261</c:v>
                </c:pt>
                <c:pt idx="22">
                  <c:v>0.11680011525737008</c:v>
                </c:pt>
                <c:pt idx="23">
                  <c:v>0.13412519306743959</c:v>
                </c:pt>
                <c:pt idx="24">
                  <c:v>0.13759247046237463</c:v>
                </c:pt>
                <c:pt idx="25">
                  <c:v>0.14433388538730621</c:v>
                </c:pt>
                <c:pt idx="26">
                  <c:v>0.17281905640936995</c:v>
                </c:pt>
                <c:pt idx="27">
                  <c:v>0.1900611600300873</c:v>
                </c:pt>
                <c:pt idx="28">
                  <c:v>0.2001963569056727</c:v>
                </c:pt>
                <c:pt idx="29">
                  <c:v>0.21309737994471484</c:v>
                </c:pt>
                <c:pt idx="30">
                  <c:v>0.19571469283385773</c:v>
                </c:pt>
                <c:pt idx="31">
                  <c:v>0.16298253498205986</c:v>
                </c:pt>
                <c:pt idx="32">
                  <c:v>0.15699275246819189</c:v>
                </c:pt>
                <c:pt idx="33">
                  <c:v>0.14449203297544136</c:v>
                </c:pt>
                <c:pt idx="34">
                  <c:v>0.17404031375979584</c:v>
                </c:pt>
                <c:pt idx="35">
                  <c:v>0.17039994956869978</c:v>
                </c:pt>
                <c:pt idx="36">
                  <c:v>0.1507446792443283</c:v>
                </c:pt>
                <c:pt idx="37">
                  <c:v>0.11455017244153609</c:v>
                </c:pt>
                <c:pt idx="38">
                  <c:v>8.6803016091811375E-2</c:v>
                </c:pt>
                <c:pt idx="39">
                  <c:v>8.1825827214549382E-2</c:v>
                </c:pt>
                <c:pt idx="40">
                  <c:v>8.7677262791995614E-2</c:v>
                </c:pt>
                <c:pt idx="41">
                  <c:v>0.1032114456109845</c:v>
                </c:pt>
                <c:pt idx="42">
                  <c:v>0.11699084956998686</c:v>
                </c:pt>
                <c:pt idx="43">
                  <c:v>0.13156591688398861</c:v>
                </c:pt>
                <c:pt idx="44">
                  <c:v>0.12238980784759021</c:v>
                </c:pt>
                <c:pt idx="45">
                  <c:v>0.11566380148256215</c:v>
                </c:pt>
                <c:pt idx="46">
                  <c:v>9.5227938705487347E-2</c:v>
                </c:pt>
                <c:pt idx="47">
                  <c:v>7.0724415373102562E-2</c:v>
                </c:pt>
                <c:pt idx="48">
                  <c:v>3.9133067428871328E-2</c:v>
                </c:pt>
                <c:pt idx="49">
                  <c:v>1.049076082415544E-2</c:v>
                </c:pt>
                <c:pt idx="50">
                  <c:v>-7.3218398097344844E-3</c:v>
                </c:pt>
                <c:pt idx="51">
                  <c:v>-1.3167922368922252E-2</c:v>
                </c:pt>
                <c:pt idx="52">
                  <c:v>3.5329135917180551E-4</c:v>
                </c:pt>
                <c:pt idx="53">
                  <c:v>-3.8502999653813978E-3</c:v>
                </c:pt>
                <c:pt idx="54">
                  <c:v>-7.8862900005752228E-3</c:v>
                </c:pt>
                <c:pt idx="55">
                  <c:v>-2.4945065382588193E-2</c:v>
                </c:pt>
                <c:pt idx="56">
                  <c:v>-5.0127579850268132E-2</c:v>
                </c:pt>
                <c:pt idx="57">
                  <c:v>-6.9333390776106313E-2</c:v>
                </c:pt>
                <c:pt idx="58">
                  <c:v>-7.7831701525430647E-2</c:v>
                </c:pt>
                <c:pt idx="59">
                  <c:v>-4.5695778480181477E-2</c:v>
                </c:pt>
                <c:pt idx="60">
                  <c:v>-1.2477287094499242E-2</c:v>
                </c:pt>
                <c:pt idx="61">
                  <c:v>-6.0326717068232682E-3</c:v>
                </c:pt>
              </c:numCache>
            </c:numRef>
          </c:val>
          <c:smooth val="0"/>
          <c:extLst>
            <c:ext xmlns:c16="http://schemas.microsoft.com/office/drawing/2014/chart" uri="{C3380CC4-5D6E-409C-BE32-E72D297353CC}">
              <c16:uniqueId val="{00000002-6A75-49E5-989B-BB305FC4F242}"/>
            </c:ext>
          </c:extLst>
        </c:ser>
        <c:dLbls>
          <c:showLegendKey val="0"/>
          <c:showVal val="0"/>
          <c:showCatName val="0"/>
          <c:showSerName val="0"/>
          <c:showPercent val="0"/>
          <c:showBubbleSize val="0"/>
        </c:dLbls>
        <c:smooth val="0"/>
        <c:axId val="-2136968240"/>
        <c:axId val="-2136963344"/>
      </c:lineChart>
      <c:dateAx>
        <c:axId val="-2136968240"/>
        <c:scaling>
          <c:orientation val="minMax"/>
        </c:scaling>
        <c:delete val="0"/>
        <c:axPos val="b"/>
        <c:numFmt formatCode="yyyy\-mm" sourceLinked="1"/>
        <c:majorTickMark val="out"/>
        <c:minorTickMark val="none"/>
        <c:tickLblPos val="nextTo"/>
        <c:spPr>
          <a:noFill/>
          <a:ln w="6350">
            <a:solidFill>
              <a:srgbClr val="000000"/>
            </a:solidFill>
          </a:ln>
        </c:spPr>
        <c:txPr>
          <a:bodyPr/>
          <a:lstStyle/>
          <a:p>
            <a:pPr>
              <a:defRPr sz="700" baseline="0">
                <a:solidFill>
                  <a:srgbClr val="000000"/>
                </a:solidFill>
                <a:latin typeface="Times New Roman"/>
                <a:ea typeface="Times New Roman"/>
                <a:cs typeface="Times New Roman"/>
              </a:defRPr>
            </a:pPr>
            <a:endParaRPr lang="zh-CN"/>
          </a:p>
        </c:txPr>
        <c:crossAx val="-2136963344"/>
        <c:crosses val="autoZero"/>
        <c:auto val="1"/>
        <c:lblOffset val="100"/>
        <c:baseTimeUnit val="months"/>
      </c:dateAx>
      <c:valAx>
        <c:axId val="-2136963344"/>
        <c:scaling>
          <c:orientation val="minMax"/>
        </c:scaling>
        <c:delete val="0"/>
        <c:axPos val="l"/>
        <c:numFmt formatCode="0%" sourceLinked="1"/>
        <c:majorTickMark val="out"/>
        <c:minorTickMark val="none"/>
        <c:tickLblPos val="nextTo"/>
        <c:spPr>
          <a:noFill/>
          <a:ln w="6350">
            <a:solidFill>
              <a:srgbClr val="000000"/>
            </a:solidFill>
          </a:ln>
        </c:spPr>
        <c:txPr>
          <a:bodyPr/>
          <a:lstStyle/>
          <a:p>
            <a:pPr>
              <a:defRPr sz="700" baseline="0">
                <a:solidFill>
                  <a:srgbClr val="000000"/>
                </a:solidFill>
                <a:latin typeface="Times New Roman"/>
                <a:ea typeface="Times New Roman"/>
                <a:cs typeface="Times New Roman"/>
              </a:defRPr>
            </a:pPr>
            <a:endParaRPr lang="zh-CN"/>
          </a:p>
        </c:txPr>
        <c:crossAx val="-2136968240"/>
        <c:crosses val="autoZero"/>
        <c:crossBetween val="between"/>
      </c:valAx>
      <c:spPr>
        <a:solidFill>
          <a:sysClr val="window" lastClr="FFFFFF"/>
        </a:solidFill>
        <a:ln>
          <a:noFill/>
        </a:ln>
        <a:effectLst/>
        <a:extLst>
          <a:ext uri="{91240B29-F687-4F45-9708-019B960494DF}">
            <a14:hiddenLine xmlns:a14="http://schemas.microsoft.com/office/drawing/2010/main">
              <a:noFill/>
            </a14:hiddenLine>
          </a:ext>
        </a:extLst>
      </c:spPr>
    </c:plotArea>
    <c:legend>
      <c:legendPos val="b"/>
      <c:overlay val="0"/>
      <c:txPr>
        <a:bodyPr/>
        <a:lstStyle/>
        <a:p>
          <a:pPr>
            <a:defRPr sz="700" baseline="0">
              <a:solidFill>
                <a:srgbClr val="000000"/>
              </a:solidFill>
              <a:latin typeface="Times New Roman" panose="02020603050405020304" pitchFamily="18" charset="0"/>
              <a:ea typeface="楷体_GB2312" pitchFamily="49" charset="-122"/>
            </a:defRPr>
          </a:pPr>
          <a:endParaRPr lang="zh-CN"/>
        </a:p>
      </c:txPr>
    </c:legend>
    <c:plotVisOnly val="1"/>
    <c:dispBlanksAs val="gap"/>
    <c:showDLblsOverMax val="0"/>
  </c:chart>
  <c:spPr>
    <a:ln>
      <a:noFill/>
    </a:ln>
  </c:spPr>
  <c:externalData r:id="rId2">
    <c:autoUpdate val="0"/>
  </c:externalData>
  <c:userShapes r:id="rId3"/>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9.6880222841225605E-2"/>
          <c:y val="5.1857949200376299E-2"/>
          <c:w val="0.88041782729804996"/>
          <c:h val="0.67448259642521202"/>
        </c:manualLayout>
      </c:layout>
      <c:lineChart>
        <c:grouping val="standard"/>
        <c:varyColors val="0"/>
        <c:ser>
          <c:idx val="0"/>
          <c:order val="0"/>
          <c:tx>
            <c:strRef>
              <c:f>'[副本奢侈品集团2010起亚太区增速变化.xlsx]奢侈品亚太&amp;pmi'!$D$112</c:f>
              <c:strCache>
                <c:ptCount val="1"/>
                <c:pt idx="0">
                  <c:v>LVMH亚太yoy</c:v>
                </c:pt>
              </c:strCache>
            </c:strRef>
          </c:tx>
          <c:spPr>
            <a:ln w="28575" cap="rnd">
              <a:solidFill>
                <a:schemeClr val="accent1"/>
              </a:solidFill>
              <a:round/>
            </a:ln>
            <a:effectLst/>
          </c:spPr>
          <c:marker>
            <c:symbol val="none"/>
          </c:marker>
          <c:cat>
            <c:strRef>
              <c:f>'[副本奢侈品集团2010起亚太区增速变化.xlsx]奢侈品亚太&amp;pmi'!$F$111:$BO$111</c:f>
              <c:strCache>
                <c:ptCount val="62"/>
                <c:pt idx="0">
                  <c:v>2Q10</c:v>
                </c:pt>
                <c:pt idx="1">
                  <c:v>3Q10</c:v>
                </c:pt>
                <c:pt idx="2">
                  <c:v>4Q10</c:v>
                </c:pt>
                <c:pt idx="3">
                  <c:v>1Q11</c:v>
                </c:pt>
                <c:pt idx="4">
                  <c:v>2Q11</c:v>
                </c:pt>
                <c:pt idx="5">
                  <c:v>3Q11</c:v>
                </c:pt>
                <c:pt idx="6">
                  <c:v>4Q11</c:v>
                </c:pt>
                <c:pt idx="7">
                  <c:v>1Q12</c:v>
                </c:pt>
                <c:pt idx="8">
                  <c:v>2Q12</c:v>
                </c:pt>
                <c:pt idx="9">
                  <c:v>3Q12</c:v>
                </c:pt>
                <c:pt idx="10">
                  <c:v>4Q12</c:v>
                </c:pt>
                <c:pt idx="11">
                  <c:v>1Q13</c:v>
                </c:pt>
                <c:pt idx="12">
                  <c:v>2Q13</c:v>
                </c:pt>
                <c:pt idx="13">
                  <c:v>3Q13</c:v>
                </c:pt>
                <c:pt idx="14">
                  <c:v>4Q13</c:v>
                </c:pt>
                <c:pt idx="15">
                  <c:v>1Q14</c:v>
                </c:pt>
                <c:pt idx="16">
                  <c:v>2Q14</c:v>
                </c:pt>
                <c:pt idx="17">
                  <c:v>3Q14</c:v>
                </c:pt>
                <c:pt idx="18">
                  <c:v>4Q14</c:v>
                </c:pt>
                <c:pt idx="19">
                  <c:v>1Q15</c:v>
                </c:pt>
                <c:pt idx="20">
                  <c:v>2Q15</c:v>
                </c:pt>
                <c:pt idx="21">
                  <c:v>3Q15</c:v>
                </c:pt>
                <c:pt idx="22">
                  <c:v>4Q15</c:v>
                </c:pt>
                <c:pt idx="23">
                  <c:v>1Q16</c:v>
                </c:pt>
                <c:pt idx="24">
                  <c:v>2Q16</c:v>
                </c:pt>
                <c:pt idx="25">
                  <c:v>3Q16</c:v>
                </c:pt>
                <c:pt idx="26">
                  <c:v>4Q16</c:v>
                </c:pt>
                <c:pt idx="27">
                  <c:v>1Q17</c:v>
                </c:pt>
                <c:pt idx="28">
                  <c:v>2Q17</c:v>
                </c:pt>
                <c:pt idx="29">
                  <c:v>3Q17</c:v>
                </c:pt>
                <c:pt idx="30">
                  <c:v>4Q17</c:v>
                </c:pt>
                <c:pt idx="31">
                  <c:v>1Q18</c:v>
                </c:pt>
                <c:pt idx="32">
                  <c:v>2Q18</c:v>
                </c:pt>
                <c:pt idx="33">
                  <c:v>3Q18</c:v>
                </c:pt>
                <c:pt idx="34">
                  <c:v>4Q18</c:v>
                </c:pt>
                <c:pt idx="35">
                  <c:v>1Q19</c:v>
                </c:pt>
                <c:pt idx="36">
                  <c:v>2Q19</c:v>
                </c:pt>
                <c:pt idx="37">
                  <c:v>3Q19</c:v>
                </c:pt>
                <c:pt idx="38">
                  <c:v>4Q19</c:v>
                </c:pt>
                <c:pt idx="39">
                  <c:v>1Q20</c:v>
                </c:pt>
                <c:pt idx="40">
                  <c:v>2Q20</c:v>
                </c:pt>
                <c:pt idx="41">
                  <c:v>3Q20</c:v>
                </c:pt>
                <c:pt idx="42">
                  <c:v>4Q20</c:v>
                </c:pt>
                <c:pt idx="43">
                  <c:v>1Q21</c:v>
                </c:pt>
                <c:pt idx="44">
                  <c:v>2Q21</c:v>
                </c:pt>
                <c:pt idx="45">
                  <c:v>3Q21</c:v>
                </c:pt>
                <c:pt idx="46">
                  <c:v>4Q21</c:v>
                </c:pt>
                <c:pt idx="47">
                  <c:v>1Q22</c:v>
                </c:pt>
                <c:pt idx="48">
                  <c:v>2Q22</c:v>
                </c:pt>
                <c:pt idx="49">
                  <c:v>3Q22</c:v>
                </c:pt>
                <c:pt idx="50">
                  <c:v>4Q22</c:v>
                </c:pt>
                <c:pt idx="51">
                  <c:v>1Q23</c:v>
                </c:pt>
                <c:pt idx="52">
                  <c:v>2Q23</c:v>
                </c:pt>
                <c:pt idx="53">
                  <c:v>3Q23</c:v>
                </c:pt>
                <c:pt idx="54">
                  <c:v>4Q23</c:v>
                </c:pt>
                <c:pt idx="55">
                  <c:v>1Q24</c:v>
                </c:pt>
                <c:pt idx="56">
                  <c:v>2Q24</c:v>
                </c:pt>
                <c:pt idx="57">
                  <c:v>3Q24</c:v>
                </c:pt>
                <c:pt idx="58">
                  <c:v>4Q24</c:v>
                </c:pt>
                <c:pt idx="59">
                  <c:v>1Q25</c:v>
                </c:pt>
                <c:pt idx="60">
                  <c:v>2Q25</c:v>
                </c:pt>
                <c:pt idx="61">
                  <c:v>3Q25</c:v>
                </c:pt>
              </c:strCache>
            </c:strRef>
          </c:cat>
          <c:val>
            <c:numRef>
              <c:f>'[副本奢侈品集团2010起亚太区增速变化.xlsx]奢侈品亚太&amp;pmi'!$F$112:$BO$112</c:f>
              <c:numCache>
                <c:formatCode>General</c:formatCode>
                <c:ptCount val="62"/>
                <c:pt idx="0">
                  <c:v>22</c:v>
                </c:pt>
                <c:pt idx="1">
                  <c:v>18</c:v>
                </c:pt>
                <c:pt idx="2">
                  <c:v>20</c:v>
                </c:pt>
                <c:pt idx="3">
                  <c:v>24</c:v>
                </c:pt>
                <c:pt idx="4">
                  <c:v>28</c:v>
                </c:pt>
                <c:pt idx="5">
                  <c:v>29</c:v>
                </c:pt>
                <c:pt idx="6">
                  <c:v>25</c:v>
                </c:pt>
                <c:pt idx="7">
                  <c:v>17</c:v>
                </c:pt>
                <c:pt idx="8">
                  <c:v>13</c:v>
                </c:pt>
                <c:pt idx="9">
                  <c:v>3</c:v>
                </c:pt>
                <c:pt idx="10">
                  <c:v>8</c:v>
                </c:pt>
                <c:pt idx="11">
                  <c:v>12</c:v>
                </c:pt>
                <c:pt idx="12">
                  <c:v>14</c:v>
                </c:pt>
                <c:pt idx="13">
                  <c:v>13</c:v>
                </c:pt>
                <c:pt idx="14">
                  <c:v>11</c:v>
                </c:pt>
                <c:pt idx="15">
                  <c:v>4</c:v>
                </c:pt>
                <c:pt idx="16">
                  <c:v>3</c:v>
                </c:pt>
                <c:pt idx="17">
                  <c:v>-3</c:v>
                </c:pt>
                <c:pt idx="18">
                  <c:v>-8</c:v>
                </c:pt>
                <c:pt idx="19">
                  <c:v>-6</c:v>
                </c:pt>
                <c:pt idx="20">
                  <c:v>5</c:v>
                </c:pt>
                <c:pt idx="21">
                  <c:v>-8</c:v>
                </c:pt>
                <c:pt idx="22">
                  <c:v>-2</c:v>
                </c:pt>
                <c:pt idx="23">
                  <c:v>-2</c:v>
                </c:pt>
                <c:pt idx="24">
                  <c:v>3</c:v>
                </c:pt>
                <c:pt idx="25">
                  <c:v>10</c:v>
                </c:pt>
                <c:pt idx="26">
                  <c:v>10</c:v>
                </c:pt>
                <c:pt idx="27">
                  <c:v>20</c:v>
                </c:pt>
                <c:pt idx="28">
                  <c:v>17</c:v>
                </c:pt>
                <c:pt idx="29">
                  <c:v>21</c:v>
                </c:pt>
                <c:pt idx="30">
                  <c:v>12</c:v>
                </c:pt>
                <c:pt idx="31">
                  <c:v>21</c:v>
                </c:pt>
                <c:pt idx="32">
                  <c:v>15</c:v>
                </c:pt>
                <c:pt idx="33">
                  <c:v>11</c:v>
                </c:pt>
                <c:pt idx="34">
                  <c:v>15</c:v>
                </c:pt>
                <c:pt idx="35">
                  <c:v>17</c:v>
                </c:pt>
                <c:pt idx="36">
                  <c:v>18</c:v>
                </c:pt>
                <c:pt idx="37">
                  <c:v>12</c:v>
                </c:pt>
                <c:pt idx="38">
                  <c:v>11</c:v>
                </c:pt>
                <c:pt idx="39">
                  <c:v>-32</c:v>
                </c:pt>
                <c:pt idx="40">
                  <c:v>-13</c:v>
                </c:pt>
                <c:pt idx="41">
                  <c:v>13</c:v>
                </c:pt>
                <c:pt idx="42">
                  <c:v>21</c:v>
                </c:pt>
                <c:pt idx="43">
                  <c:v>86</c:v>
                </c:pt>
                <c:pt idx="44">
                  <c:v>54</c:v>
                </c:pt>
                <c:pt idx="45">
                  <c:v>12</c:v>
                </c:pt>
                <c:pt idx="46">
                  <c:v>16</c:v>
                </c:pt>
                <c:pt idx="47">
                  <c:v>8</c:v>
                </c:pt>
                <c:pt idx="48">
                  <c:v>-8</c:v>
                </c:pt>
                <c:pt idx="49">
                  <c:v>6</c:v>
                </c:pt>
                <c:pt idx="50">
                  <c:v>-8</c:v>
                </c:pt>
                <c:pt idx="51">
                  <c:v>14</c:v>
                </c:pt>
                <c:pt idx="52">
                  <c:v>34</c:v>
                </c:pt>
                <c:pt idx="53">
                  <c:v>11</c:v>
                </c:pt>
                <c:pt idx="54">
                  <c:v>15</c:v>
                </c:pt>
                <c:pt idx="55">
                  <c:v>-6</c:v>
                </c:pt>
                <c:pt idx="56">
                  <c:v>-14</c:v>
                </c:pt>
                <c:pt idx="57">
                  <c:v>-16</c:v>
                </c:pt>
                <c:pt idx="58">
                  <c:v>-10</c:v>
                </c:pt>
                <c:pt idx="59">
                  <c:v>-11</c:v>
                </c:pt>
                <c:pt idx="60">
                  <c:v>-6</c:v>
                </c:pt>
                <c:pt idx="61">
                  <c:v>2</c:v>
                </c:pt>
              </c:numCache>
            </c:numRef>
          </c:val>
          <c:smooth val="0"/>
          <c:extLst>
            <c:ext xmlns:c16="http://schemas.microsoft.com/office/drawing/2014/chart" uri="{C3380CC4-5D6E-409C-BE32-E72D297353CC}">
              <c16:uniqueId val="{00000000-B3C5-4262-97D6-42F3E5703477}"/>
            </c:ext>
          </c:extLst>
        </c:ser>
        <c:ser>
          <c:idx val="1"/>
          <c:order val="1"/>
          <c:tx>
            <c:strRef>
              <c:f>'[副本奢侈品集团2010起亚太区增速变化.xlsx]奢侈品亚太&amp;pmi'!$D$113</c:f>
              <c:strCache>
                <c:ptCount val="1"/>
                <c:pt idx="0">
                  <c:v>爱马仕亚太yoy</c:v>
                </c:pt>
              </c:strCache>
            </c:strRef>
          </c:tx>
          <c:spPr>
            <a:ln w="28575" cap="rnd">
              <a:solidFill>
                <a:schemeClr val="accent2"/>
              </a:solidFill>
              <a:round/>
            </a:ln>
            <a:effectLst/>
          </c:spPr>
          <c:marker>
            <c:symbol val="none"/>
          </c:marker>
          <c:cat>
            <c:strRef>
              <c:f>'[副本奢侈品集团2010起亚太区增速变化.xlsx]奢侈品亚太&amp;pmi'!$F$111:$BO$111</c:f>
              <c:strCache>
                <c:ptCount val="62"/>
                <c:pt idx="0">
                  <c:v>2Q10</c:v>
                </c:pt>
                <c:pt idx="1">
                  <c:v>3Q10</c:v>
                </c:pt>
                <c:pt idx="2">
                  <c:v>4Q10</c:v>
                </c:pt>
                <c:pt idx="3">
                  <c:v>1Q11</c:v>
                </c:pt>
                <c:pt idx="4">
                  <c:v>2Q11</c:v>
                </c:pt>
                <c:pt idx="5">
                  <c:v>3Q11</c:v>
                </c:pt>
                <c:pt idx="6">
                  <c:v>4Q11</c:v>
                </c:pt>
                <c:pt idx="7">
                  <c:v>1Q12</c:v>
                </c:pt>
                <c:pt idx="8">
                  <c:v>2Q12</c:v>
                </c:pt>
                <c:pt idx="9">
                  <c:v>3Q12</c:v>
                </c:pt>
                <c:pt idx="10">
                  <c:v>4Q12</c:v>
                </c:pt>
                <c:pt idx="11">
                  <c:v>1Q13</c:v>
                </c:pt>
                <c:pt idx="12">
                  <c:v>2Q13</c:v>
                </c:pt>
                <c:pt idx="13">
                  <c:v>3Q13</c:v>
                </c:pt>
                <c:pt idx="14">
                  <c:v>4Q13</c:v>
                </c:pt>
                <c:pt idx="15">
                  <c:v>1Q14</c:v>
                </c:pt>
                <c:pt idx="16">
                  <c:v>2Q14</c:v>
                </c:pt>
                <c:pt idx="17">
                  <c:v>3Q14</c:v>
                </c:pt>
                <c:pt idx="18">
                  <c:v>4Q14</c:v>
                </c:pt>
                <c:pt idx="19">
                  <c:v>1Q15</c:v>
                </c:pt>
                <c:pt idx="20">
                  <c:v>2Q15</c:v>
                </c:pt>
                <c:pt idx="21">
                  <c:v>3Q15</c:v>
                </c:pt>
                <c:pt idx="22">
                  <c:v>4Q15</c:v>
                </c:pt>
                <c:pt idx="23">
                  <c:v>1Q16</c:v>
                </c:pt>
                <c:pt idx="24">
                  <c:v>2Q16</c:v>
                </c:pt>
                <c:pt idx="25">
                  <c:v>3Q16</c:v>
                </c:pt>
                <c:pt idx="26">
                  <c:v>4Q16</c:v>
                </c:pt>
                <c:pt idx="27">
                  <c:v>1Q17</c:v>
                </c:pt>
                <c:pt idx="28">
                  <c:v>2Q17</c:v>
                </c:pt>
                <c:pt idx="29">
                  <c:v>3Q17</c:v>
                </c:pt>
                <c:pt idx="30">
                  <c:v>4Q17</c:v>
                </c:pt>
                <c:pt idx="31">
                  <c:v>1Q18</c:v>
                </c:pt>
                <c:pt idx="32">
                  <c:v>2Q18</c:v>
                </c:pt>
                <c:pt idx="33">
                  <c:v>3Q18</c:v>
                </c:pt>
                <c:pt idx="34">
                  <c:v>4Q18</c:v>
                </c:pt>
                <c:pt idx="35">
                  <c:v>1Q19</c:v>
                </c:pt>
                <c:pt idx="36">
                  <c:v>2Q19</c:v>
                </c:pt>
                <c:pt idx="37">
                  <c:v>3Q19</c:v>
                </c:pt>
                <c:pt idx="38">
                  <c:v>4Q19</c:v>
                </c:pt>
                <c:pt idx="39">
                  <c:v>1Q20</c:v>
                </c:pt>
                <c:pt idx="40">
                  <c:v>2Q20</c:v>
                </c:pt>
                <c:pt idx="41">
                  <c:v>3Q20</c:v>
                </c:pt>
                <c:pt idx="42">
                  <c:v>4Q20</c:v>
                </c:pt>
                <c:pt idx="43">
                  <c:v>1Q21</c:v>
                </c:pt>
                <c:pt idx="44">
                  <c:v>2Q21</c:v>
                </c:pt>
                <c:pt idx="45">
                  <c:v>3Q21</c:v>
                </c:pt>
                <c:pt idx="46">
                  <c:v>4Q21</c:v>
                </c:pt>
                <c:pt idx="47">
                  <c:v>1Q22</c:v>
                </c:pt>
                <c:pt idx="48">
                  <c:v>2Q22</c:v>
                </c:pt>
                <c:pt idx="49">
                  <c:v>3Q22</c:v>
                </c:pt>
                <c:pt idx="50">
                  <c:v>4Q22</c:v>
                </c:pt>
                <c:pt idx="51">
                  <c:v>1Q23</c:v>
                </c:pt>
                <c:pt idx="52">
                  <c:v>2Q23</c:v>
                </c:pt>
                <c:pt idx="53">
                  <c:v>3Q23</c:v>
                </c:pt>
                <c:pt idx="54">
                  <c:v>4Q23</c:v>
                </c:pt>
                <c:pt idx="55">
                  <c:v>1Q24</c:v>
                </c:pt>
                <c:pt idx="56">
                  <c:v>2Q24</c:v>
                </c:pt>
                <c:pt idx="57">
                  <c:v>3Q24</c:v>
                </c:pt>
                <c:pt idx="58">
                  <c:v>4Q24</c:v>
                </c:pt>
                <c:pt idx="59">
                  <c:v>1Q25</c:v>
                </c:pt>
                <c:pt idx="60">
                  <c:v>2Q25</c:v>
                </c:pt>
                <c:pt idx="61">
                  <c:v>3Q25</c:v>
                </c:pt>
              </c:strCache>
            </c:strRef>
          </c:cat>
          <c:val>
            <c:numRef>
              <c:f>'[副本奢侈品集团2010起亚太区增速变化.xlsx]奢侈品亚太&amp;pmi'!$F$113:$BO$113</c:f>
              <c:numCache>
                <c:formatCode>0.0_ </c:formatCode>
                <c:ptCount val="62"/>
                <c:pt idx="0">
                  <c:v>43.6</c:v>
                </c:pt>
                <c:pt idx="1">
                  <c:v>35.1</c:v>
                </c:pt>
                <c:pt idx="2">
                  <c:v>31</c:v>
                </c:pt>
                <c:pt idx="3">
                  <c:v>27.3</c:v>
                </c:pt>
                <c:pt idx="4">
                  <c:v>33.299999999999997</c:v>
                </c:pt>
                <c:pt idx="5">
                  <c:v>33.9</c:v>
                </c:pt>
                <c:pt idx="6">
                  <c:v>24.5</c:v>
                </c:pt>
                <c:pt idx="7">
                  <c:v>22.4</c:v>
                </c:pt>
                <c:pt idx="8">
                  <c:v>26.9</c:v>
                </c:pt>
                <c:pt idx="9">
                  <c:v>21.9</c:v>
                </c:pt>
                <c:pt idx="10">
                  <c:v>29.7</c:v>
                </c:pt>
                <c:pt idx="11">
                  <c:v>17.399999999999999</c:v>
                </c:pt>
                <c:pt idx="12">
                  <c:v>16.3</c:v>
                </c:pt>
                <c:pt idx="13">
                  <c:v>16.399999999999999</c:v>
                </c:pt>
                <c:pt idx="14">
                  <c:v>15.7</c:v>
                </c:pt>
                <c:pt idx="15">
                  <c:v>17.7</c:v>
                </c:pt>
                <c:pt idx="16">
                  <c:v>16.8</c:v>
                </c:pt>
                <c:pt idx="17">
                  <c:v>10.199999999999999</c:v>
                </c:pt>
                <c:pt idx="18">
                  <c:v>8.9</c:v>
                </c:pt>
                <c:pt idx="19" formatCode="General">
                  <c:v>7.7</c:v>
                </c:pt>
                <c:pt idx="20" formatCode="General">
                  <c:v>6</c:v>
                </c:pt>
                <c:pt idx="21" formatCode="General">
                  <c:v>1.5</c:v>
                </c:pt>
                <c:pt idx="22" formatCode="General">
                  <c:v>5.2</c:v>
                </c:pt>
                <c:pt idx="23" formatCode="General">
                  <c:v>3.9</c:v>
                </c:pt>
                <c:pt idx="24" formatCode="General">
                  <c:v>6.7</c:v>
                </c:pt>
                <c:pt idx="25" formatCode="General">
                  <c:v>14.2</c:v>
                </c:pt>
                <c:pt idx="26" formatCode="General">
                  <c:v>4.5</c:v>
                </c:pt>
                <c:pt idx="27">
                  <c:v>16.100000000000001</c:v>
                </c:pt>
                <c:pt idx="28">
                  <c:v>12.4</c:v>
                </c:pt>
                <c:pt idx="29">
                  <c:v>12.4</c:v>
                </c:pt>
                <c:pt idx="30">
                  <c:v>5.2</c:v>
                </c:pt>
                <c:pt idx="31">
                  <c:v>16.399999999999999</c:v>
                </c:pt>
                <c:pt idx="32">
                  <c:v>13.4</c:v>
                </c:pt>
                <c:pt idx="33">
                  <c:v>11.7</c:v>
                </c:pt>
                <c:pt idx="34">
                  <c:v>13.1</c:v>
                </c:pt>
                <c:pt idx="35">
                  <c:v>16.899999999999999</c:v>
                </c:pt>
                <c:pt idx="36">
                  <c:v>18.600000000000001</c:v>
                </c:pt>
                <c:pt idx="37">
                  <c:v>21.8</c:v>
                </c:pt>
                <c:pt idx="38">
                  <c:v>14.1</c:v>
                </c:pt>
                <c:pt idx="39">
                  <c:v>-9</c:v>
                </c:pt>
                <c:pt idx="40">
                  <c:v>-9.1</c:v>
                </c:pt>
                <c:pt idx="41">
                  <c:v>29.2</c:v>
                </c:pt>
                <c:pt idx="42">
                  <c:v>46.9</c:v>
                </c:pt>
                <c:pt idx="43">
                  <c:v>93.6</c:v>
                </c:pt>
                <c:pt idx="44">
                  <c:v>79.2</c:v>
                </c:pt>
                <c:pt idx="45">
                  <c:v>29.3</c:v>
                </c:pt>
                <c:pt idx="46">
                  <c:v>5.5</c:v>
                </c:pt>
                <c:pt idx="47">
                  <c:v>19.8</c:v>
                </c:pt>
                <c:pt idx="48">
                  <c:v>9.6</c:v>
                </c:pt>
                <c:pt idx="49">
                  <c:v>33.700000000000003</c:v>
                </c:pt>
                <c:pt idx="50">
                  <c:v>24.7</c:v>
                </c:pt>
                <c:pt idx="51">
                  <c:v>22.5</c:v>
                </c:pt>
                <c:pt idx="52">
                  <c:v>33.700000000000003</c:v>
                </c:pt>
                <c:pt idx="53">
                  <c:v>10.199999999999999</c:v>
                </c:pt>
                <c:pt idx="54">
                  <c:v>12.3</c:v>
                </c:pt>
                <c:pt idx="55">
                  <c:v>13.9</c:v>
                </c:pt>
                <c:pt idx="56">
                  <c:v>5.5</c:v>
                </c:pt>
                <c:pt idx="57">
                  <c:v>1</c:v>
                </c:pt>
                <c:pt idx="58">
                  <c:v>8.9</c:v>
                </c:pt>
                <c:pt idx="59">
                  <c:v>1.2</c:v>
                </c:pt>
                <c:pt idx="60">
                  <c:v>5.2</c:v>
                </c:pt>
                <c:pt idx="61">
                  <c:v>6.2</c:v>
                </c:pt>
              </c:numCache>
            </c:numRef>
          </c:val>
          <c:smooth val="0"/>
          <c:extLst>
            <c:ext xmlns:c16="http://schemas.microsoft.com/office/drawing/2014/chart" uri="{C3380CC4-5D6E-409C-BE32-E72D297353CC}">
              <c16:uniqueId val="{00000001-B3C5-4262-97D6-42F3E5703477}"/>
            </c:ext>
          </c:extLst>
        </c:ser>
        <c:ser>
          <c:idx val="2"/>
          <c:order val="2"/>
          <c:tx>
            <c:strRef>
              <c:f>'[副本奢侈品集团2010起亚太区增速变化.xlsx]奢侈品亚太&amp;pmi'!$D$114</c:f>
              <c:strCache>
                <c:ptCount val="1"/>
                <c:pt idx="0">
                  <c:v>开云集团亚太yoy</c:v>
                </c:pt>
              </c:strCache>
            </c:strRef>
          </c:tx>
          <c:spPr>
            <a:ln w="28575" cap="rnd">
              <a:solidFill>
                <a:schemeClr val="accent3"/>
              </a:solidFill>
              <a:round/>
            </a:ln>
            <a:effectLst/>
          </c:spPr>
          <c:marker>
            <c:symbol val="none"/>
          </c:marker>
          <c:cat>
            <c:strRef>
              <c:f>'[副本奢侈品集团2010起亚太区增速变化.xlsx]奢侈品亚太&amp;pmi'!$F$111:$BO$111</c:f>
              <c:strCache>
                <c:ptCount val="62"/>
                <c:pt idx="0">
                  <c:v>2Q10</c:v>
                </c:pt>
                <c:pt idx="1">
                  <c:v>3Q10</c:v>
                </c:pt>
                <c:pt idx="2">
                  <c:v>4Q10</c:v>
                </c:pt>
                <c:pt idx="3">
                  <c:v>1Q11</c:v>
                </c:pt>
                <c:pt idx="4">
                  <c:v>2Q11</c:v>
                </c:pt>
                <c:pt idx="5">
                  <c:v>3Q11</c:v>
                </c:pt>
                <c:pt idx="6">
                  <c:v>4Q11</c:v>
                </c:pt>
                <c:pt idx="7">
                  <c:v>1Q12</c:v>
                </c:pt>
                <c:pt idx="8">
                  <c:v>2Q12</c:v>
                </c:pt>
                <c:pt idx="9">
                  <c:v>3Q12</c:v>
                </c:pt>
                <c:pt idx="10">
                  <c:v>4Q12</c:v>
                </c:pt>
                <c:pt idx="11">
                  <c:v>1Q13</c:v>
                </c:pt>
                <c:pt idx="12">
                  <c:v>2Q13</c:v>
                </c:pt>
                <c:pt idx="13">
                  <c:v>3Q13</c:v>
                </c:pt>
                <c:pt idx="14">
                  <c:v>4Q13</c:v>
                </c:pt>
                <c:pt idx="15">
                  <c:v>1Q14</c:v>
                </c:pt>
                <c:pt idx="16">
                  <c:v>2Q14</c:v>
                </c:pt>
                <c:pt idx="17">
                  <c:v>3Q14</c:v>
                </c:pt>
                <c:pt idx="18">
                  <c:v>4Q14</c:v>
                </c:pt>
                <c:pt idx="19">
                  <c:v>1Q15</c:v>
                </c:pt>
                <c:pt idx="20">
                  <c:v>2Q15</c:v>
                </c:pt>
                <c:pt idx="21">
                  <c:v>3Q15</c:v>
                </c:pt>
                <c:pt idx="22">
                  <c:v>4Q15</c:v>
                </c:pt>
                <c:pt idx="23">
                  <c:v>1Q16</c:v>
                </c:pt>
                <c:pt idx="24">
                  <c:v>2Q16</c:v>
                </c:pt>
                <c:pt idx="25">
                  <c:v>3Q16</c:v>
                </c:pt>
                <c:pt idx="26">
                  <c:v>4Q16</c:v>
                </c:pt>
                <c:pt idx="27">
                  <c:v>1Q17</c:v>
                </c:pt>
                <c:pt idx="28">
                  <c:v>2Q17</c:v>
                </c:pt>
                <c:pt idx="29">
                  <c:v>3Q17</c:v>
                </c:pt>
                <c:pt idx="30">
                  <c:v>4Q17</c:v>
                </c:pt>
                <c:pt idx="31">
                  <c:v>1Q18</c:v>
                </c:pt>
                <c:pt idx="32">
                  <c:v>2Q18</c:v>
                </c:pt>
                <c:pt idx="33">
                  <c:v>3Q18</c:v>
                </c:pt>
                <c:pt idx="34">
                  <c:v>4Q18</c:v>
                </c:pt>
                <c:pt idx="35">
                  <c:v>1Q19</c:v>
                </c:pt>
                <c:pt idx="36">
                  <c:v>2Q19</c:v>
                </c:pt>
                <c:pt idx="37">
                  <c:v>3Q19</c:v>
                </c:pt>
                <c:pt idx="38">
                  <c:v>4Q19</c:v>
                </c:pt>
                <c:pt idx="39">
                  <c:v>1Q20</c:v>
                </c:pt>
                <c:pt idx="40">
                  <c:v>2Q20</c:v>
                </c:pt>
                <c:pt idx="41">
                  <c:v>3Q20</c:v>
                </c:pt>
                <c:pt idx="42">
                  <c:v>4Q20</c:v>
                </c:pt>
                <c:pt idx="43">
                  <c:v>1Q21</c:v>
                </c:pt>
                <c:pt idx="44">
                  <c:v>2Q21</c:v>
                </c:pt>
                <c:pt idx="45">
                  <c:v>3Q21</c:v>
                </c:pt>
                <c:pt idx="46">
                  <c:v>4Q21</c:v>
                </c:pt>
                <c:pt idx="47">
                  <c:v>1Q22</c:v>
                </c:pt>
                <c:pt idx="48">
                  <c:v>2Q22</c:v>
                </c:pt>
                <c:pt idx="49">
                  <c:v>3Q22</c:v>
                </c:pt>
                <c:pt idx="50">
                  <c:v>4Q22</c:v>
                </c:pt>
                <c:pt idx="51">
                  <c:v>1Q23</c:v>
                </c:pt>
                <c:pt idx="52">
                  <c:v>2Q23</c:v>
                </c:pt>
                <c:pt idx="53">
                  <c:v>3Q23</c:v>
                </c:pt>
                <c:pt idx="54">
                  <c:v>4Q23</c:v>
                </c:pt>
                <c:pt idx="55">
                  <c:v>1Q24</c:v>
                </c:pt>
                <c:pt idx="56">
                  <c:v>2Q24</c:v>
                </c:pt>
                <c:pt idx="57">
                  <c:v>3Q24</c:v>
                </c:pt>
                <c:pt idx="58">
                  <c:v>4Q24</c:v>
                </c:pt>
                <c:pt idx="59">
                  <c:v>1Q25</c:v>
                </c:pt>
                <c:pt idx="60">
                  <c:v>2Q25</c:v>
                </c:pt>
                <c:pt idx="61">
                  <c:v>3Q25</c:v>
                </c:pt>
              </c:strCache>
            </c:strRef>
          </c:cat>
          <c:val>
            <c:numRef>
              <c:f>'[副本奢侈品集团2010起亚太区增速变化.xlsx]奢侈品亚太&amp;pmi'!$F$114:$BO$114</c:f>
              <c:numCache>
                <c:formatCode>General</c:formatCode>
                <c:ptCount val="62"/>
                <c:pt idx="11">
                  <c:v>6</c:v>
                </c:pt>
                <c:pt idx="13">
                  <c:v>4</c:v>
                </c:pt>
                <c:pt idx="15">
                  <c:v>10</c:v>
                </c:pt>
                <c:pt idx="16">
                  <c:v>4</c:v>
                </c:pt>
                <c:pt idx="17">
                  <c:v>3</c:v>
                </c:pt>
                <c:pt idx="18">
                  <c:v>-1</c:v>
                </c:pt>
                <c:pt idx="19">
                  <c:v>-6</c:v>
                </c:pt>
                <c:pt idx="20">
                  <c:v>2</c:v>
                </c:pt>
                <c:pt idx="21">
                  <c:v>-12</c:v>
                </c:pt>
                <c:pt idx="22">
                  <c:v>4</c:v>
                </c:pt>
                <c:pt idx="23">
                  <c:v>0</c:v>
                </c:pt>
                <c:pt idx="24">
                  <c:v>6</c:v>
                </c:pt>
                <c:pt idx="25">
                  <c:v>24</c:v>
                </c:pt>
                <c:pt idx="26">
                  <c:v>14</c:v>
                </c:pt>
                <c:pt idx="27">
                  <c:v>47</c:v>
                </c:pt>
                <c:pt idx="28">
                  <c:v>31</c:v>
                </c:pt>
                <c:pt idx="29">
                  <c:v>42</c:v>
                </c:pt>
                <c:pt idx="30">
                  <c:v>33</c:v>
                </c:pt>
                <c:pt idx="31">
                  <c:v>42</c:v>
                </c:pt>
                <c:pt idx="32">
                  <c:v>38</c:v>
                </c:pt>
                <c:pt idx="33">
                  <c:v>33</c:v>
                </c:pt>
                <c:pt idx="34">
                  <c:v>35</c:v>
                </c:pt>
                <c:pt idx="35">
                  <c:v>30</c:v>
                </c:pt>
                <c:pt idx="36">
                  <c:v>22</c:v>
                </c:pt>
                <c:pt idx="37">
                  <c:v>17</c:v>
                </c:pt>
                <c:pt idx="38">
                  <c:v>14</c:v>
                </c:pt>
                <c:pt idx="39">
                  <c:v>30</c:v>
                </c:pt>
                <c:pt idx="40">
                  <c:v>-12</c:v>
                </c:pt>
                <c:pt idx="41">
                  <c:v>18</c:v>
                </c:pt>
                <c:pt idx="42">
                  <c:v>17</c:v>
                </c:pt>
                <c:pt idx="43">
                  <c:v>83</c:v>
                </c:pt>
                <c:pt idx="44">
                  <c:v>53</c:v>
                </c:pt>
                <c:pt idx="45">
                  <c:v>1</c:v>
                </c:pt>
                <c:pt idx="46">
                  <c:v>18</c:v>
                </c:pt>
                <c:pt idx="47">
                  <c:v>0</c:v>
                </c:pt>
                <c:pt idx="48">
                  <c:v>15</c:v>
                </c:pt>
                <c:pt idx="49">
                  <c:v>7</c:v>
                </c:pt>
                <c:pt idx="50">
                  <c:v>-19</c:v>
                </c:pt>
                <c:pt idx="51">
                  <c:v>10</c:v>
                </c:pt>
                <c:pt idx="52">
                  <c:v>16</c:v>
                </c:pt>
                <c:pt idx="53">
                  <c:v>1</c:v>
                </c:pt>
                <c:pt idx="54">
                  <c:v>8</c:v>
                </c:pt>
                <c:pt idx="55">
                  <c:v>-19</c:v>
                </c:pt>
                <c:pt idx="56">
                  <c:v>-25</c:v>
                </c:pt>
                <c:pt idx="57">
                  <c:v>-30</c:v>
                </c:pt>
                <c:pt idx="58">
                  <c:v>-24</c:v>
                </c:pt>
                <c:pt idx="59">
                  <c:v>-25</c:v>
                </c:pt>
                <c:pt idx="60">
                  <c:v>-19</c:v>
                </c:pt>
                <c:pt idx="61">
                  <c:v>-10</c:v>
                </c:pt>
              </c:numCache>
            </c:numRef>
          </c:val>
          <c:smooth val="0"/>
          <c:extLst>
            <c:ext xmlns:c16="http://schemas.microsoft.com/office/drawing/2014/chart" uri="{C3380CC4-5D6E-409C-BE32-E72D297353CC}">
              <c16:uniqueId val="{00000002-B3C5-4262-97D6-42F3E5703477}"/>
            </c:ext>
          </c:extLst>
        </c:ser>
        <c:ser>
          <c:idx val="3"/>
          <c:order val="3"/>
          <c:tx>
            <c:strRef>
              <c:f>'[副本奢侈品集团2010起亚太区增速变化.xlsx]奢侈品亚太&amp;pmi'!$D$115</c:f>
              <c:strCache>
                <c:ptCount val="1"/>
                <c:pt idx="0">
                  <c:v>历峰集团亚太yoy</c:v>
                </c:pt>
              </c:strCache>
            </c:strRef>
          </c:tx>
          <c:spPr>
            <a:ln w="28575" cap="rnd">
              <a:solidFill>
                <a:schemeClr val="accent4"/>
              </a:solidFill>
              <a:round/>
            </a:ln>
            <a:effectLst/>
          </c:spPr>
          <c:marker>
            <c:symbol val="none"/>
          </c:marker>
          <c:cat>
            <c:strRef>
              <c:f>'[副本奢侈品集团2010起亚太区增速变化.xlsx]奢侈品亚太&amp;pmi'!$F$111:$BO$111</c:f>
              <c:strCache>
                <c:ptCount val="62"/>
                <c:pt idx="0">
                  <c:v>2Q10</c:v>
                </c:pt>
                <c:pt idx="1">
                  <c:v>3Q10</c:v>
                </c:pt>
                <c:pt idx="2">
                  <c:v>4Q10</c:v>
                </c:pt>
                <c:pt idx="3">
                  <c:v>1Q11</c:v>
                </c:pt>
                <c:pt idx="4">
                  <c:v>2Q11</c:v>
                </c:pt>
                <c:pt idx="5">
                  <c:v>3Q11</c:v>
                </c:pt>
                <c:pt idx="6">
                  <c:v>4Q11</c:v>
                </c:pt>
                <c:pt idx="7">
                  <c:v>1Q12</c:v>
                </c:pt>
                <c:pt idx="8">
                  <c:v>2Q12</c:v>
                </c:pt>
                <c:pt idx="9">
                  <c:v>3Q12</c:v>
                </c:pt>
                <c:pt idx="10">
                  <c:v>4Q12</c:v>
                </c:pt>
                <c:pt idx="11">
                  <c:v>1Q13</c:v>
                </c:pt>
                <c:pt idx="12">
                  <c:v>2Q13</c:v>
                </c:pt>
                <c:pt idx="13">
                  <c:v>3Q13</c:v>
                </c:pt>
                <c:pt idx="14">
                  <c:v>4Q13</c:v>
                </c:pt>
                <c:pt idx="15">
                  <c:v>1Q14</c:v>
                </c:pt>
                <c:pt idx="16">
                  <c:v>2Q14</c:v>
                </c:pt>
                <c:pt idx="17">
                  <c:v>3Q14</c:v>
                </c:pt>
                <c:pt idx="18">
                  <c:v>4Q14</c:v>
                </c:pt>
                <c:pt idx="19">
                  <c:v>1Q15</c:v>
                </c:pt>
                <c:pt idx="20">
                  <c:v>2Q15</c:v>
                </c:pt>
                <c:pt idx="21">
                  <c:v>3Q15</c:v>
                </c:pt>
                <c:pt idx="22">
                  <c:v>4Q15</c:v>
                </c:pt>
                <c:pt idx="23">
                  <c:v>1Q16</c:v>
                </c:pt>
                <c:pt idx="24">
                  <c:v>2Q16</c:v>
                </c:pt>
                <c:pt idx="25">
                  <c:v>3Q16</c:v>
                </c:pt>
                <c:pt idx="26">
                  <c:v>4Q16</c:v>
                </c:pt>
                <c:pt idx="27">
                  <c:v>1Q17</c:v>
                </c:pt>
                <c:pt idx="28">
                  <c:v>2Q17</c:v>
                </c:pt>
                <c:pt idx="29">
                  <c:v>3Q17</c:v>
                </c:pt>
                <c:pt idx="30">
                  <c:v>4Q17</c:v>
                </c:pt>
                <c:pt idx="31">
                  <c:v>1Q18</c:v>
                </c:pt>
                <c:pt idx="32">
                  <c:v>2Q18</c:v>
                </c:pt>
                <c:pt idx="33">
                  <c:v>3Q18</c:v>
                </c:pt>
                <c:pt idx="34">
                  <c:v>4Q18</c:v>
                </c:pt>
                <c:pt idx="35">
                  <c:v>1Q19</c:v>
                </c:pt>
                <c:pt idx="36">
                  <c:v>2Q19</c:v>
                </c:pt>
                <c:pt idx="37">
                  <c:v>3Q19</c:v>
                </c:pt>
                <c:pt idx="38">
                  <c:v>4Q19</c:v>
                </c:pt>
                <c:pt idx="39">
                  <c:v>1Q20</c:v>
                </c:pt>
                <c:pt idx="40">
                  <c:v>2Q20</c:v>
                </c:pt>
                <c:pt idx="41">
                  <c:v>3Q20</c:v>
                </c:pt>
                <c:pt idx="42">
                  <c:v>4Q20</c:v>
                </c:pt>
                <c:pt idx="43">
                  <c:v>1Q21</c:v>
                </c:pt>
                <c:pt idx="44">
                  <c:v>2Q21</c:v>
                </c:pt>
                <c:pt idx="45">
                  <c:v>3Q21</c:v>
                </c:pt>
                <c:pt idx="46">
                  <c:v>4Q21</c:v>
                </c:pt>
                <c:pt idx="47">
                  <c:v>1Q22</c:v>
                </c:pt>
                <c:pt idx="48">
                  <c:v>2Q22</c:v>
                </c:pt>
                <c:pt idx="49">
                  <c:v>3Q22</c:v>
                </c:pt>
                <c:pt idx="50">
                  <c:v>4Q22</c:v>
                </c:pt>
                <c:pt idx="51">
                  <c:v>1Q23</c:v>
                </c:pt>
                <c:pt idx="52">
                  <c:v>2Q23</c:v>
                </c:pt>
                <c:pt idx="53">
                  <c:v>3Q23</c:v>
                </c:pt>
                <c:pt idx="54">
                  <c:v>4Q23</c:v>
                </c:pt>
                <c:pt idx="55">
                  <c:v>1Q24</c:v>
                </c:pt>
                <c:pt idx="56">
                  <c:v>2Q24</c:v>
                </c:pt>
                <c:pt idx="57">
                  <c:v>3Q24</c:v>
                </c:pt>
                <c:pt idx="58">
                  <c:v>4Q24</c:v>
                </c:pt>
                <c:pt idx="59">
                  <c:v>1Q25</c:v>
                </c:pt>
                <c:pt idx="60">
                  <c:v>2Q25</c:v>
                </c:pt>
                <c:pt idx="61">
                  <c:v>3Q25</c:v>
                </c:pt>
              </c:strCache>
            </c:strRef>
          </c:cat>
          <c:val>
            <c:numRef>
              <c:f>'[副本奢侈品集团2010起亚太区增速变化.xlsx]奢侈品亚太&amp;pmi'!$F$115:$BO$115</c:f>
              <c:numCache>
                <c:formatCode>General</c:formatCode>
                <c:ptCount val="62"/>
                <c:pt idx="2">
                  <c:v>42</c:v>
                </c:pt>
                <c:pt idx="6">
                  <c:v>36</c:v>
                </c:pt>
                <c:pt idx="7">
                  <c:v>34</c:v>
                </c:pt>
                <c:pt idx="10">
                  <c:v>0</c:v>
                </c:pt>
                <c:pt idx="11">
                  <c:v>2</c:v>
                </c:pt>
                <c:pt idx="14">
                  <c:v>6</c:v>
                </c:pt>
                <c:pt idx="15">
                  <c:v>9</c:v>
                </c:pt>
                <c:pt idx="18">
                  <c:v>-12</c:v>
                </c:pt>
                <c:pt idx="22">
                  <c:v>-9</c:v>
                </c:pt>
                <c:pt idx="23">
                  <c:v>-7</c:v>
                </c:pt>
                <c:pt idx="26">
                  <c:v>10</c:v>
                </c:pt>
                <c:pt idx="27">
                  <c:v>6</c:v>
                </c:pt>
                <c:pt idx="30">
                  <c:v>11</c:v>
                </c:pt>
                <c:pt idx="31">
                  <c:v>7</c:v>
                </c:pt>
                <c:pt idx="34">
                  <c:v>17</c:v>
                </c:pt>
                <c:pt idx="35">
                  <c:v>23</c:v>
                </c:pt>
                <c:pt idx="36">
                  <c:v>10</c:v>
                </c:pt>
                <c:pt idx="37">
                  <c:v>0</c:v>
                </c:pt>
                <c:pt idx="38">
                  <c:v>2</c:v>
                </c:pt>
                <c:pt idx="39">
                  <c:v>-36</c:v>
                </c:pt>
                <c:pt idx="40">
                  <c:v>-29</c:v>
                </c:pt>
                <c:pt idx="41">
                  <c:v>23.2</c:v>
                </c:pt>
                <c:pt idx="42">
                  <c:v>25</c:v>
                </c:pt>
                <c:pt idx="43">
                  <c:v>101.9</c:v>
                </c:pt>
                <c:pt idx="44">
                  <c:v>95</c:v>
                </c:pt>
                <c:pt idx="45">
                  <c:v>17</c:v>
                </c:pt>
                <c:pt idx="46">
                  <c:v>18</c:v>
                </c:pt>
                <c:pt idx="47">
                  <c:v>8</c:v>
                </c:pt>
                <c:pt idx="48">
                  <c:v>-16</c:v>
                </c:pt>
                <c:pt idx="49">
                  <c:v>6</c:v>
                </c:pt>
                <c:pt idx="50">
                  <c:v>-9</c:v>
                </c:pt>
                <c:pt idx="51">
                  <c:v>25</c:v>
                </c:pt>
                <c:pt idx="52">
                  <c:v>40</c:v>
                </c:pt>
                <c:pt idx="53">
                  <c:v>8</c:v>
                </c:pt>
                <c:pt idx="54">
                  <c:v>13</c:v>
                </c:pt>
                <c:pt idx="55">
                  <c:v>-12</c:v>
                </c:pt>
                <c:pt idx="56">
                  <c:v>-18</c:v>
                </c:pt>
                <c:pt idx="57">
                  <c:v>-18</c:v>
                </c:pt>
                <c:pt idx="58">
                  <c:v>-7</c:v>
                </c:pt>
                <c:pt idx="59">
                  <c:v>-7</c:v>
                </c:pt>
                <c:pt idx="60">
                  <c:v>0</c:v>
                </c:pt>
                <c:pt idx="61">
                  <c:v>10</c:v>
                </c:pt>
              </c:numCache>
            </c:numRef>
          </c:val>
          <c:smooth val="0"/>
          <c:extLst>
            <c:ext xmlns:c16="http://schemas.microsoft.com/office/drawing/2014/chart" uri="{C3380CC4-5D6E-409C-BE32-E72D297353CC}">
              <c16:uniqueId val="{00000003-B3C5-4262-97D6-42F3E5703477}"/>
            </c:ext>
          </c:extLst>
        </c:ser>
        <c:dLbls>
          <c:showLegendKey val="0"/>
          <c:showVal val="0"/>
          <c:showCatName val="0"/>
          <c:showSerName val="0"/>
          <c:showPercent val="0"/>
          <c:showBubbleSize val="0"/>
        </c:dLbls>
        <c:marker val="1"/>
        <c:smooth val="0"/>
        <c:axId val="139234983"/>
        <c:axId val="649438975"/>
      </c:lineChart>
      <c:lineChart>
        <c:grouping val="standard"/>
        <c:varyColors val="0"/>
        <c:ser>
          <c:idx val="4"/>
          <c:order val="4"/>
          <c:tx>
            <c:strRef>
              <c:f>'[副本奢侈品集团2010起亚太区增速变化.xlsx]奢侈品亚太&amp;pmi'!$D$116</c:f>
              <c:strCache>
                <c:ptCount val="1"/>
                <c:pt idx="0">
                  <c:v>中国PMI季度末值同比变动（t-1，右轴）</c:v>
                </c:pt>
              </c:strCache>
            </c:strRef>
          </c:tx>
          <c:spPr>
            <a:ln w="28575" cap="rnd">
              <a:solidFill>
                <a:srgbClr val="FFC000"/>
              </a:solidFill>
              <a:round/>
            </a:ln>
            <a:effectLst/>
          </c:spPr>
          <c:marker>
            <c:symbol val="none"/>
          </c:marker>
          <c:cat>
            <c:strRef>
              <c:f>'[副本奢侈品集团2010起亚太区增速变化.xlsx]奢侈品亚太&amp;pmi'!$F$111:$BO$111</c:f>
              <c:strCache>
                <c:ptCount val="62"/>
                <c:pt idx="0">
                  <c:v>2Q10</c:v>
                </c:pt>
                <c:pt idx="1">
                  <c:v>3Q10</c:v>
                </c:pt>
                <c:pt idx="2">
                  <c:v>4Q10</c:v>
                </c:pt>
                <c:pt idx="3">
                  <c:v>1Q11</c:v>
                </c:pt>
                <c:pt idx="4">
                  <c:v>2Q11</c:v>
                </c:pt>
                <c:pt idx="5">
                  <c:v>3Q11</c:v>
                </c:pt>
                <c:pt idx="6">
                  <c:v>4Q11</c:v>
                </c:pt>
                <c:pt idx="7">
                  <c:v>1Q12</c:v>
                </c:pt>
                <c:pt idx="8">
                  <c:v>2Q12</c:v>
                </c:pt>
                <c:pt idx="9">
                  <c:v>3Q12</c:v>
                </c:pt>
                <c:pt idx="10">
                  <c:v>4Q12</c:v>
                </c:pt>
                <c:pt idx="11">
                  <c:v>1Q13</c:v>
                </c:pt>
                <c:pt idx="12">
                  <c:v>2Q13</c:v>
                </c:pt>
                <c:pt idx="13">
                  <c:v>3Q13</c:v>
                </c:pt>
                <c:pt idx="14">
                  <c:v>4Q13</c:v>
                </c:pt>
                <c:pt idx="15">
                  <c:v>1Q14</c:v>
                </c:pt>
                <c:pt idx="16">
                  <c:v>2Q14</c:v>
                </c:pt>
                <c:pt idx="17">
                  <c:v>3Q14</c:v>
                </c:pt>
                <c:pt idx="18">
                  <c:v>4Q14</c:v>
                </c:pt>
                <c:pt idx="19">
                  <c:v>1Q15</c:v>
                </c:pt>
                <c:pt idx="20">
                  <c:v>2Q15</c:v>
                </c:pt>
                <c:pt idx="21">
                  <c:v>3Q15</c:v>
                </c:pt>
                <c:pt idx="22">
                  <c:v>4Q15</c:v>
                </c:pt>
                <c:pt idx="23">
                  <c:v>1Q16</c:v>
                </c:pt>
                <c:pt idx="24">
                  <c:v>2Q16</c:v>
                </c:pt>
                <c:pt idx="25">
                  <c:v>3Q16</c:v>
                </c:pt>
                <c:pt idx="26">
                  <c:v>4Q16</c:v>
                </c:pt>
                <c:pt idx="27">
                  <c:v>1Q17</c:v>
                </c:pt>
                <c:pt idx="28">
                  <c:v>2Q17</c:v>
                </c:pt>
                <c:pt idx="29">
                  <c:v>3Q17</c:v>
                </c:pt>
                <c:pt idx="30">
                  <c:v>4Q17</c:v>
                </c:pt>
                <c:pt idx="31">
                  <c:v>1Q18</c:v>
                </c:pt>
                <c:pt idx="32">
                  <c:v>2Q18</c:v>
                </c:pt>
                <c:pt idx="33">
                  <c:v>3Q18</c:v>
                </c:pt>
                <c:pt idx="34">
                  <c:v>4Q18</c:v>
                </c:pt>
                <c:pt idx="35">
                  <c:v>1Q19</c:v>
                </c:pt>
                <c:pt idx="36">
                  <c:v>2Q19</c:v>
                </c:pt>
                <c:pt idx="37">
                  <c:v>3Q19</c:v>
                </c:pt>
                <c:pt idx="38">
                  <c:v>4Q19</c:v>
                </c:pt>
                <c:pt idx="39">
                  <c:v>1Q20</c:v>
                </c:pt>
                <c:pt idx="40">
                  <c:v>2Q20</c:v>
                </c:pt>
                <c:pt idx="41">
                  <c:v>3Q20</c:v>
                </c:pt>
                <c:pt idx="42">
                  <c:v>4Q20</c:v>
                </c:pt>
                <c:pt idx="43">
                  <c:v>1Q21</c:v>
                </c:pt>
                <c:pt idx="44">
                  <c:v>2Q21</c:v>
                </c:pt>
                <c:pt idx="45">
                  <c:v>3Q21</c:v>
                </c:pt>
                <c:pt idx="46">
                  <c:v>4Q21</c:v>
                </c:pt>
                <c:pt idx="47">
                  <c:v>1Q22</c:v>
                </c:pt>
                <c:pt idx="48">
                  <c:v>2Q22</c:v>
                </c:pt>
                <c:pt idx="49">
                  <c:v>3Q22</c:v>
                </c:pt>
                <c:pt idx="50">
                  <c:v>4Q22</c:v>
                </c:pt>
                <c:pt idx="51">
                  <c:v>1Q23</c:v>
                </c:pt>
                <c:pt idx="52">
                  <c:v>2Q23</c:v>
                </c:pt>
                <c:pt idx="53">
                  <c:v>3Q23</c:v>
                </c:pt>
                <c:pt idx="54">
                  <c:v>4Q23</c:v>
                </c:pt>
                <c:pt idx="55">
                  <c:v>1Q24</c:v>
                </c:pt>
                <c:pt idx="56">
                  <c:v>2Q24</c:v>
                </c:pt>
                <c:pt idx="57">
                  <c:v>3Q24</c:v>
                </c:pt>
                <c:pt idx="58">
                  <c:v>4Q24</c:v>
                </c:pt>
                <c:pt idx="59">
                  <c:v>1Q25</c:v>
                </c:pt>
                <c:pt idx="60">
                  <c:v>2Q25</c:v>
                </c:pt>
                <c:pt idx="61">
                  <c:v>3Q25</c:v>
                </c:pt>
              </c:strCache>
            </c:strRef>
          </c:cat>
          <c:val>
            <c:numRef>
              <c:f>'[副本奢侈品集团2010起亚太区增速变化.xlsx]奢侈品亚太&amp;pmi'!$F$116:$BO$116</c:f>
              <c:numCache>
                <c:formatCode>#,##0.00_ </c:formatCode>
                <c:ptCount val="62"/>
                <c:pt idx="0">
                  <c:v>2.7</c:v>
                </c:pt>
                <c:pt idx="1">
                  <c:v>-1.1000000000000001</c:v>
                </c:pt>
                <c:pt idx="2">
                  <c:v>-0.5</c:v>
                </c:pt>
                <c:pt idx="3">
                  <c:v>-2.7</c:v>
                </c:pt>
                <c:pt idx="4">
                  <c:v>-1.7</c:v>
                </c:pt>
                <c:pt idx="5">
                  <c:v>-1.2</c:v>
                </c:pt>
                <c:pt idx="6">
                  <c:v>-2.5999999999999899</c:v>
                </c:pt>
                <c:pt idx="7">
                  <c:v>-3.6</c:v>
                </c:pt>
                <c:pt idx="8">
                  <c:v>-0.29999999999999699</c:v>
                </c:pt>
                <c:pt idx="9">
                  <c:v>-0.69999999999999596</c:v>
                </c:pt>
                <c:pt idx="10">
                  <c:v>-1.4000000000000099</c:v>
                </c:pt>
                <c:pt idx="11">
                  <c:v>0.30000000000000399</c:v>
                </c:pt>
                <c:pt idx="12">
                  <c:v>-2.2000000000000002</c:v>
                </c:pt>
                <c:pt idx="13">
                  <c:v>-0.100000000000001</c:v>
                </c:pt>
                <c:pt idx="14">
                  <c:v>1.3</c:v>
                </c:pt>
                <c:pt idx="15">
                  <c:v>0.39999999999999902</c:v>
                </c:pt>
                <c:pt idx="16">
                  <c:v>-0.60000000000000098</c:v>
                </c:pt>
                <c:pt idx="17">
                  <c:v>0.89999999999999902</c:v>
                </c:pt>
                <c:pt idx="18">
                  <c:v>0</c:v>
                </c:pt>
                <c:pt idx="19">
                  <c:v>-0.89999999999999902</c:v>
                </c:pt>
                <c:pt idx="20">
                  <c:v>-0.19999999999999599</c:v>
                </c:pt>
                <c:pt idx="21">
                  <c:v>-0.79999999999999705</c:v>
                </c:pt>
                <c:pt idx="22">
                  <c:v>-1.3</c:v>
                </c:pt>
                <c:pt idx="23">
                  <c:v>-0.39999999999999902</c:v>
                </c:pt>
                <c:pt idx="24">
                  <c:v>0.100000000000001</c:v>
                </c:pt>
                <c:pt idx="25">
                  <c:v>-0.20000000000000301</c:v>
                </c:pt>
                <c:pt idx="26">
                  <c:v>0.60000000000000098</c:v>
                </c:pt>
                <c:pt idx="27">
                  <c:v>1.7</c:v>
                </c:pt>
                <c:pt idx="28">
                  <c:v>1.5999999999999901</c:v>
                </c:pt>
                <c:pt idx="29">
                  <c:v>1.7</c:v>
                </c:pt>
                <c:pt idx="30">
                  <c:v>2</c:v>
                </c:pt>
                <c:pt idx="31">
                  <c:v>0.20000000000000301</c:v>
                </c:pt>
                <c:pt idx="32">
                  <c:v>-0.29999999999999699</c:v>
                </c:pt>
                <c:pt idx="33">
                  <c:v>-0.20000000000000301</c:v>
                </c:pt>
                <c:pt idx="34">
                  <c:v>-1.6</c:v>
                </c:pt>
                <c:pt idx="35">
                  <c:v>-2.2000000000000002</c:v>
                </c:pt>
                <c:pt idx="36">
                  <c:v>-1</c:v>
                </c:pt>
                <c:pt idx="37">
                  <c:v>-2.1</c:v>
                </c:pt>
                <c:pt idx="38">
                  <c:v>-1</c:v>
                </c:pt>
                <c:pt idx="39">
                  <c:v>0.80000000000000404</c:v>
                </c:pt>
                <c:pt idx="40">
                  <c:v>1.5</c:v>
                </c:pt>
                <c:pt idx="41">
                  <c:v>1.5</c:v>
                </c:pt>
                <c:pt idx="42">
                  <c:v>1.7</c:v>
                </c:pt>
                <c:pt idx="43">
                  <c:v>1.7</c:v>
                </c:pt>
                <c:pt idx="44">
                  <c:v>-0.100000000000001</c:v>
                </c:pt>
                <c:pt idx="45">
                  <c:v>0</c:v>
                </c:pt>
                <c:pt idx="46">
                  <c:v>-1.9</c:v>
                </c:pt>
                <c:pt idx="47">
                  <c:v>-1.6</c:v>
                </c:pt>
                <c:pt idx="48">
                  <c:v>-2.4</c:v>
                </c:pt>
                <c:pt idx="49">
                  <c:v>-0.69999999999999596</c:v>
                </c:pt>
                <c:pt idx="50">
                  <c:v>0.5</c:v>
                </c:pt>
                <c:pt idx="51">
                  <c:v>-3.3</c:v>
                </c:pt>
                <c:pt idx="52">
                  <c:v>2.4</c:v>
                </c:pt>
                <c:pt idx="53">
                  <c:v>-1.2</c:v>
                </c:pt>
                <c:pt idx="54">
                  <c:v>0.100000000000001</c:v>
                </c:pt>
                <c:pt idx="55">
                  <c:v>2</c:v>
                </c:pt>
                <c:pt idx="56">
                  <c:v>-1.1000000000000001</c:v>
                </c:pt>
                <c:pt idx="57">
                  <c:v>0.5</c:v>
                </c:pt>
                <c:pt idx="58">
                  <c:v>-0.40000000000000602</c:v>
                </c:pt>
                <c:pt idx="59">
                  <c:v>1.1000000000000001</c:v>
                </c:pt>
                <c:pt idx="60">
                  <c:v>-0.29999999999999699</c:v>
                </c:pt>
                <c:pt idx="61">
                  <c:v>0.20000000000000301</c:v>
                </c:pt>
              </c:numCache>
            </c:numRef>
          </c:val>
          <c:smooth val="0"/>
          <c:extLst>
            <c:ext xmlns:c16="http://schemas.microsoft.com/office/drawing/2014/chart" uri="{C3380CC4-5D6E-409C-BE32-E72D297353CC}">
              <c16:uniqueId val="{00000004-B3C5-4262-97D6-42F3E5703477}"/>
            </c:ext>
          </c:extLst>
        </c:ser>
        <c:dLbls>
          <c:showLegendKey val="0"/>
          <c:showVal val="0"/>
          <c:showCatName val="0"/>
          <c:showSerName val="0"/>
          <c:showPercent val="0"/>
          <c:showBubbleSize val="0"/>
        </c:dLbls>
        <c:marker val="1"/>
        <c:smooth val="0"/>
        <c:axId val="460710031"/>
        <c:axId val="730609624"/>
      </c:lineChart>
      <c:catAx>
        <c:axId val="139234983"/>
        <c:scaling>
          <c:orientation val="minMax"/>
        </c:scaling>
        <c:delete val="0"/>
        <c:axPos val="b"/>
        <c:numFmt formatCode="General" sourceLinked="0"/>
        <c:majorTickMark val="none"/>
        <c:minorTickMark val="none"/>
        <c:tickLblPos val="low"/>
        <c:spPr>
          <a:noFill/>
          <a:ln w="9525" cap="flat" cmpd="sng" algn="ctr">
            <a:solidFill>
              <a:schemeClr val="tx1">
                <a:lumMod val="15000"/>
                <a:lumOff val="85000"/>
              </a:schemeClr>
            </a:solidFill>
            <a:round/>
          </a:ln>
          <a:effectLst/>
        </c:spPr>
        <c:txPr>
          <a:bodyPr rot="-60000000" spcFirstLastPara="0" vertOverflow="ellipsis" vert="horz" wrap="square" anchor="ctr" anchorCtr="1" forceAA="0"/>
          <a:lstStyle/>
          <a:p>
            <a:pPr>
              <a:defRPr lang="zh-CN" sz="900" b="0" i="0" u="none" strike="noStrike" kern="1200" baseline="0">
                <a:solidFill>
                  <a:schemeClr val="tx1">
                    <a:lumMod val="65000"/>
                    <a:lumOff val="35000"/>
                  </a:schemeClr>
                </a:solidFill>
                <a:latin typeface="+mn-lt"/>
                <a:ea typeface="+mn-ea"/>
                <a:cs typeface="+mn-cs"/>
              </a:defRPr>
            </a:pPr>
            <a:endParaRPr lang="zh-CN"/>
          </a:p>
        </c:txPr>
        <c:crossAx val="649438975"/>
        <c:crosses val="autoZero"/>
        <c:auto val="1"/>
        <c:lblAlgn val="ctr"/>
        <c:lblOffset val="100"/>
        <c:noMultiLvlLbl val="0"/>
      </c:catAx>
      <c:valAx>
        <c:axId val="649438975"/>
        <c:scaling>
          <c:orientation val="minMax"/>
        </c:scaling>
        <c:delete val="0"/>
        <c:axPos val="l"/>
        <c:numFmt formatCode="0_ " sourceLinked="0"/>
        <c:majorTickMark val="out"/>
        <c:minorTickMark val="none"/>
        <c:tickLblPos val="nextTo"/>
        <c:spPr>
          <a:noFill/>
          <a:ln>
            <a:solidFill>
              <a:schemeClr val="accent1"/>
            </a:solidFill>
          </a:ln>
          <a:effectLst/>
        </c:spPr>
        <c:txPr>
          <a:bodyPr rot="-60000000" spcFirstLastPara="0" vertOverflow="ellipsis" vert="horz" wrap="square" anchor="ctr" anchorCtr="1" forceAA="0"/>
          <a:lstStyle/>
          <a:p>
            <a:pPr>
              <a:defRPr lang="zh-CN" sz="900" b="0" i="0" u="none" strike="noStrike" kern="1200" baseline="0">
                <a:solidFill>
                  <a:schemeClr val="tx1">
                    <a:lumMod val="65000"/>
                    <a:lumOff val="35000"/>
                  </a:schemeClr>
                </a:solidFill>
                <a:latin typeface="+mn-lt"/>
                <a:ea typeface="+mn-ea"/>
                <a:cs typeface="+mn-cs"/>
              </a:defRPr>
            </a:pPr>
            <a:endParaRPr lang="zh-CN"/>
          </a:p>
        </c:txPr>
        <c:crossAx val="139234983"/>
        <c:crosses val="autoZero"/>
        <c:crossBetween val="between"/>
      </c:valAx>
      <c:catAx>
        <c:axId val="460710031"/>
        <c:scaling>
          <c:orientation val="minMax"/>
        </c:scaling>
        <c:delete val="1"/>
        <c:axPos val="b"/>
        <c:numFmt formatCode="General" sourceLinked="1"/>
        <c:majorTickMark val="none"/>
        <c:minorTickMark val="none"/>
        <c:tickLblPos val="nextTo"/>
        <c:crossAx val="730609624"/>
        <c:crosses val="autoZero"/>
        <c:auto val="1"/>
        <c:lblAlgn val="ctr"/>
        <c:lblOffset val="100"/>
        <c:noMultiLvlLbl val="0"/>
      </c:catAx>
      <c:valAx>
        <c:axId val="730609624"/>
        <c:scaling>
          <c:orientation val="minMax"/>
        </c:scaling>
        <c:delete val="0"/>
        <c:axPos val="r"/>
        <c:numFmt formatCode="#,##0_ " sourceLinked="0"/>
        <c:majorTickMark val="out"/>
        <c:minorTickMark val="none"/>
        <c:tickLblPos val="nextTo"/>
        <c:spPr>
          <a:noFill/>
          <a:ln>
            <a:solidFill>
              <a:schemeClr val="accent1"/>
            </a:solidFill>
          </a:ln>
          <a:effectLst/>
        </c:spPr>
        <c:txPr>
          <a:bodyPr rot="-60000000" spcFirstLastPara="0" vertOverflow="ellipsis" vert="horz" wrap="square" anchor="ctr" anchorCtr="1" forceAA="0"/>
          <a:lstStyle/>
          <a:p>
            <a:pPr>
              <a:defRPr lang="zh-CN" sz="900" b="0" i="0" u="none" strike="noStrike" kern="1200" baseline="0">
                <a:solidFill>
                  <a:schemeClr val="tx1">
                    <a:lumMod val="65000"/>
                    <a:lumOff val="35000"/>
                  </a:schemeClr>
                </a:solidFill>
                <a:latin typeface="+mn-lt"/>
                <a:ea typeface="+mn-ea"/>
                <a:cs typeface="+mn-cs"/>
              </a:defRPr>
            </a:pPr>
            <a:endParaRPr lang="zh-CN"/>
          </a:p>
        </c:txPr>
        <c:crossAx val="460710031"/>
        <c:crosses val="max"/>
        <c:crossBetween val="between"/>
      </c:valAx>
      <c:spPr>
        <a:noFill/>
        <a:ln>
          <a:noFill/>
        </a:ln>
        <a:effectLst/>
      </c:spPr>
    </c:plotArea>
    <c:legend>
      <c:legendPos val="b"/>
      <c:layout>
        <c:manualLayout>
          <c:xMode val="edge"/>
          <c:yMode val="edge"/>
          <c:x val="4.1782729805013904E-3"/>
          <c:y val="0.81741886476790904"/>
          <c:w val="0.99164694417374399"/>
          <c:h val="0.175525631939523"/>
        </c:manualLayout>
      </c:layout>
      <c:overlay val="0"/>
      <c:spPr>
        <a:noFill/>
        <a:ln>
          <a:noFill/>
        </a:ln>
        <a:effectLst/>
      </c:spPr>
      <c:txPr>
        <a:bodyPr rot="0" spcFirstLastPara="0" vertOverflow="ellipsis" vert="horz" wrap="square" anchor="ctr" anchorCtr="1" forceAA="0"/>
        <a:lstStyle/>
        <a:p>
          <a:pPr>
            <a:defRPr lang="zh-CN" sz="900"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solidFill>
      <a:schemeClr val="bg1"/>
    </a:solidFill>
    <a:ln w="9525" cap="flat" cmpd="sng" algn="ctr">
      <a:noFill/>
      <a:prstDash val="solid"/>
      <a:round/>
    </a:ln>
    <a:effectLst/>
  </c:spPr>
  <c:txPr>
    <a:bodyPr/>
    <a:lstStyle/>
    <a:p>
      <a:pPr>
        <a:defRPr lang="zh-CN"/>
      </a:pPr>
      <a:endParaRPr lang="zh-CN"/>
    </a:p>
  </c:txPr>
  <c:externalData r:id="rId4">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5.9159997086695101E-2"/>
          <c:y val="0.10497557596967"/>
          <c:w val="0.89308332861270001"/>
          <c:h val="0.73029892096821203"/>
        </c:manualLayout>
      </c:layout>
      <c:lineChart>
        <c:grouping val="standard"/>
        <c:varyColors val="0"/>
        <c:ser>
          <c:idx val="2"/>
          <c:order val="0"/>
          <c:tx>
            <c:strRef>
              <c:f>[10月华润数据.xlsx]奢侈品巨头表现!$A$2</c:f>
              <c:strCache>
                <c:ptCount val="1"/>
                <c:pt idx="0">
                  <c:v>LVMH</c:v>
                </c:pt>
              </c:strCache>
            </c:strRef>
          </c:tx>
          <c:spPr>
            <a:ln w="25400" cap="rnd" cmpd="sng" algn="ctr">
              <a:solidFill>
                <a:srgbClr val="B9CDE6"/>
              </a:solidFill>
              <a:prstDash val="solid"/>
              <a:round/>
            </a:ln>
          </c:spPr>
          <c:marker>
            <c:symbol val="none"/>
          </c:marker>
          <c:cat>
            <c:strRef>
              <c:f>[10月华润数据.xlsx]奢侈品巨头表现!$S$1:$AI$1</c:f>
              <c:strCache>
                <c:ptCount val="17"/>
                <c:pt idx="0">
                  <c:v>2024.06</c:v>
                </c:pt>
                <c:pt idx="1">
                  <c:v>2024.07</c:v>
                </c:pt>
                <c:pt idx="2">
                  <c:v>2024.08</c:v>
                </c:pt>
                <c:pt idx="3">
                  <c:v>2024.09</c:v>
                </c:pt>
                <c:pt idx="4">
                  <c:v>2024.10</c:v>
                </c:pt>
                <c:pt idx="5">
                  <c:v>2024.11</c:v>
                </c:pt>
                <c:pt idx="6">
                  <c:v>2024.12</c:v>
                </c:pt>
                <c:pt idx="7">
                  <c:v>2025.01</c:v>
                </c:pt>
                <c:pt idx="8">
                  <c:v>2025.02</c:v>
                </c:pt>
                <c:pt idx="9">
                  <c:v>2025.03</c:v>
                </c:pt>
                <c:pt idx="10">
                  <c:v>2025.04</c:v>
                </c:pt>
                <c:pt idx="11">
                  <c:v>2025.05</c:v>
                </c:pt>
                <c:pt idx="12">
                  <c:v>2025.06</c:v>
                </c:pt>
                <c:pt idx="13">
                  <c:v>2025.07</c:v>
                </c:pt>
                <c:pt idx="14">
                  <c:v>2025.08</c:v>
                </c:pt>
                <c:pt idx="15">
                  <c:v>2025.09</c:v>
                </c:pt>
                <c:pt idx="16">
                  <c:v>2025.10</c:v>
                </c:pt>
              </c:strCache>
            </c:strRef>
          </c:cat>
          <c:val>
            <c:numRef>
              <c:f>[10月华润数据.xlsx]奢侈品巨头表现!$S$2:$AI$2</c:f>
              <c:numCache>
                <c:formatCode>0.0_ </c:formatCode>
                <c:ptCount val="17"/>
                <c:pt idx="0">
                  <c:v>-5.4740000000000002</c:v>
                </c:pt>
                <c:pt idx="1">
                  <c:v>-4.5350000000000001</c:v>
                </c:pt>
                <c:pt idx="2">
                  <c:v>3.4369999999999998</c:v>
                </c:pt>
                <c:pt idx="3">
                  <c:v>5.3970000000000002</c:v>
                </c:pt>
                <c:pt idx="4">
                  <c:v>0.78500000000000003</c:v>
                </c:pt>
                <c:pt idx="5">
                  <c:v>2.0779999999999998</c:v>
                </c:pt>
                <c:pt idx="6">
                  <c:v>8.2129999999999992</c:v>
                </c:pt>
                <c:pt idx="7">
                  <c:v>0.871999999999999</c:v>
                </c:pt>
                <c:pt idx="8">
                  <c:v>4.6559999999999997</c:v>
                </c:pt>
                <c:pt idx="9">
                  <c:v>10.068</c:v>
                </c:pt>
                <c:pt idx="10">
                  <c:v>11.166</c:v>
                </c:pt>
                <c:pt idx="11">
                  <c:v>6.4320000000000004</c:v>
                </c:pt>
                <c:pt idx="12">
                  <c:v>2.3690000000000002</c:v>
                </c:pt>
                <c:pt idx="13">
                  <c:v>3.3450000000000002</c:v>
                </c:pt>
                <c:pt idx="14">
                  <c:v>3.1030000000000002</c:v>
                </c:pt>
                <c:pt idx="15">
                  <c:v>5.5430000000000001</c:v>
                </c:pt>
                <c:pt idx="16">
                  <c:v>5.8419999999999996</c:v>
                </c:pt>
              </c:numCache>
            </c:numRef>
          </c:val>
          <c:smooth val="0"/>
          <c:extLst>
            <c:ext xmlns:c16="http://schemas.microsoft.com/office/drawing/2014/chart" uri="{C3380CC4-5D6E-409C-BE32-E72D297353CC}">
              <c16:uniqueId val="{00000000-B302-44A3-BB5C-FAFB82538EBF}"/>
            </c:ext>
          </c:extLst>
        </c:ser>
        <c:ser>
          <c:idx val="3"/>
          <c:order val="1"/>
          <c:tx>
            <c:strRef>
              <c:f>[10月华润数据.xlsx]奢侈品巨头表现!$A$3</c:f>
              <c:strCache>
                <c:ptCount val="1"/>
                <c:pt idx="0">
                  <c:v>Prada</c:v>
                </c:pt>
              </c:strCache>
            </c:strRef>
          </c:tx>
          <c:spPr>
            <a:ln w="25400" cap="rnd" cmpd="sng" algn="ctr">
              <a:solidFill>
                <a:srgbClr val="538DD5"/>
              </a:solidFill>
              <a:prstDash val="solid"/>
              <a:round/>
            </a:ln>
          </c:spPr>
          <c:marker>
            <c:symbol val="none"/>
          </c:marker>
          <c:cat>
            <c:strRef>
              <c:f>[10月华润数据.xlsx]奢侈品巨头表现!$S$1:$AI$1</c:f>
              <c:strCache>
                <c:ptCount val="17"/>
                <c:pt idx="0">
                  <c:v>2024.06</c:v>
                </c:pt>
                <c:pt idx="1">
                  <c:v>2024.07</c:v>
                </c:pt>
                <c:pt idx="2">
                  <c:v>2024.08</c:v>
                </c:pt>
                <c:pt idx="3">
                  <c:v>2024.09</c:v>
                </c:pt>
                <c:pt idx="4">
                  <c:v>2024.10</c:v>
                </c:pt>
                <c:pt idx="5">
                  <c:v>2024.11</c:v>
                </c:pt>
                <c:pt idx="6">
                  <c:v>2024.12</c:v>
                </c:pt>
                <c:pt idx="7">
                  <c:v>2025.01</c:v>
                </c:pt>
                <c:pt idx="8">
                  <c:v>2025.02</c:v>
                </c:pt>
                <c:pt idx="9">
                  <c:v>2025.03</c:v>
                </c:pt>
                <c:pt idx="10">
                  <c:v>2025.04</c:v>
                </c:pt>
                <c:pt idx="11">
                  <c:v>2025.05</c:v>
                </c:pt>
                <c:pt idx="12">
                  <c:v>2025.06</c:v>
                </c:pt>
                <c:pt idx="13">
                  <c:v>2025.07</c:v>
                </c:pt>
                <c:pt idx="14">
                  <c:v>2025.08</c:v>
                </c:pt>
                <c:pt idx="15">
                  <c:v>2025.09</c:v>
                </c:pt>
                <c:pt idx="16">
                  <c:v>2025.10</c:v>
                </c:pt>
              </c:strCache>
            </c:strRef>
          </c:cat>
          <c:val>
            <c:numRef>
              <c:f>[10月华润数据.xlsx]奢侈品巨头表现!$S$3:$AI$3</c:f>
              <c:numCache>
                <c:formatCode>0.0_ </c:formatCode>
                <c:ptCount val="17"/>
                <c:pt idx="0">
                  <c:v>0.82</c:v>
                </c:pt>
                <c:pt idx="1">
                  <c:v>0.72000000000000097</c:v>
                </c:pt>
                <c:pt idx="2">
                  <c:v>5.8</c:v>
                </c:pt>
                <c:pt idx="3">
                  <c:v>1.82</c:v>
                </c:pt>
                <c:pt idx="4">
                  <c:v>11.26</c:v>
                </c:pt>
                <c:pt idx="5">
                  <c:v>8.06</c:v>
                </c:pt>
                <c:pt idx="6">
                  <c:v>12.18</c:v>
                </c:pt>
                <c:pt idx="7">
                  <c:v>6.96</c:v>
                </c:pt>
                <c:pt idx="8">
                  <c:v>9.08</c:v>
                </c:pt>
                <c:pt idx="9">
                  <c:v>11.98</c:v>
                </c:pt>
                <c:pt idx="10">
                  <c:v>12.52</c:v>
                </c:pt>
                <c:pt idx="11">
                  <c:v>9.42</c:v>
                </c:pt>
                <c:pt idx="12">
                  <c:v>6.58</c:v>
                </c:pt>
                <c:pt idx="13">
                  <c:v>7.78</c:v>
                </c:pt>
                <c:pt idx="14">
                  <c:v>4.78</c:v>
                </c:pt>
                <c:pt idx="15">
                  <c:v>10.34</c:v>
                </c:pt>
                <c:pt idx="16">
                  <c:v>13.24</c:v>
                </c:pt>
              </c:numCache>
            </c:numRef>
          </c:val>
          <c:smooth val="0"/>
          <c:extLst>
            <c:ext xmlns:c16="http://schemas.microsoft.com/office/drawing/2014/chart" uri="{C3380CC4-5D6E-409C-BE32-E72D297353CC}">
              <c16:uniqueId val="{00000001-B302-44A3-BB5C-FAFB82538EBF}"/>
            </c:ext>
          </c:extLst>
        </c:ser>
        <c:ser>
          <c:idx val="4"/>
          <c:order val="2"/>
          <c:tx>
            <c:strRef>
              <c:f>[10月华润数据.xlsx]奢侈品巨头表现!$A$4</c:f>
              <c:strCache>
                <c:ptCount val="1"/>
                <c:pt idx="0">
                  <c:v>Kering</c:v>
                </c:pt>
              </c:strCache>
            </c:strRef>
          </c:tx>
          <c:spPr>
            <a:ln w="28575" cap="rnd" cmpd="sng" algn="ctr">
              <a:solidFill>
                <a:srgbClr val="00419E"/>
              </a:solidFill>
              <a:prstDash val="solid"/>
              <a:round/>
            </a:ln>
          </c:spPr>
          <c:marker>
            <c:symbol val="none"/>
          </c:marker>
          <c:cat>
            <c:strRef>
              <c:f>[10月华润数据.xlsx]奢侈品巨头表现!$S$1:$AI$1</c:f>
              <c:strCache>
                <c:ptCount val="17"/>
                <c:pt idx="0">
                  <c:v>2024.06</c:v>
                </c:pt>
                <c:pt idx="1">
                  <c:v>2024.07</c:v>
                </c:pt>
                <c:pt idx="2">
                  <c:v>2024.08</c:v>
                </c:pt>
                <c:pt idx="3">
                  <c:v>2024.09</c:v>
                </c:pt>
                <c:pt idx="4">
                  <c:v>2024.10</c:v>
                </c:pt>
                <c:pt idx="5">
                  <c:v>2024.11</c:v>
                </c:pt>
                <c:pt idx="6">
                  <c:v>2024.12</c:v>
                </c:pt>
                <c:pt idx="7">
                  <c:v>2025.01</c:v>
                </c:pt>
                <c:pt idx="8">
                  <c:v>2025.02</c:v>
                </c:pt>
                <c:pt idx="9">
                  <c:v>2025.03</c:v>
                </c:pt>
                <c:pt idx="10">
                  <c:v>2025.04</c:v>
                </c:pt>
                <c:pt idx="11">
                  <c:v>2025.05</c:v>
                </c:pt>
                <c:pt idx="12">
                  <c:v>2025.06</c:v>
                </c:pt>
                <c:pt idx="13">
                  <c:v>2025.07</c:v>
                </c:pt>
                <c:pt idx="14">
                  <c:v>2025.08</c:v>
                </c:pt>
                <c:pt idx="15">
                  <c:v>2025.09</c:v>
                </c:pt>
                <c:pt idx="16">
                  <c:v>2025.10</c:v>
                </c:pt>
              </c:strCache>
            </c:strRef>
          </c:cat>
          <c:val>
            <c:numRef>
              <c:f>[10月华润数据.xlsx]奢侈品巨头表现!$S$4:$AI$4</c:f>
              <c:numCache>
                <c:formatCode>0.0_ </c:formatCode>
                <c:ptCount val="17"/>
                <c:pt idx="0">
                  <c:v>-18.5</c:v>
                </c:pt>
                <c:pt idx="1">
                  <c:v>-20.8</c:v>
                </c:pt>
                <c:pt idx="2">
                  <c:v>-16.5</c:v>
                </c:pt>
                <c:pt idx="3">
                  <c:v>-13.8</c:v>
                </c:pt>
                <c:pt idx="4">
                  <c:v>-16</c:v>
                </c:pt>
                <c:pt idx="5">
                  <c:v>-18.7</c:v>
                </c:pt>
                <c:pt idx="6">
                  <c:v>-10.5</c:v>
                </c:pt>
                <c:pt idx="7">
                  <c:v>-17.2</c:v>
                </c:pt>
                <c:pt idx="8">
                  <c:v>-10.8</c:v>
                </c:pt>
                <c:pt idx="9">
                  <c:v>-7.7</c:v>
                </c:pt>
                <c:pt idx="10">
                  <c:v>-12.5</c:v>
                </c:pt>
                <c:pt idx="11">
                  <c:v>-16.2</c:v>
                </c:pt>
                <c:pt idx="12">
                  <c:v>-12.8</c:v>
                </c:pt>
                <c:pt idx="13">
                  <c:v>-17.899999999999999</c:v>
                </c:pt>
                <c:pt idx="14">
                  <c:v>-14.8</c:v>
                </c:pt>
                <c:pt idx="15">
                  <c:v>-15.7</c:v>
                </c:pt>
                <c:pt idx="16">
                  <c:v>-11.3</c:v>
                </c:pt>
              </c:numCache>
            </c:numRef>
          </c:val>
          <c:smooth val="0"/>
          <c:extLst>
            <c:ext xmlns:c16="http://schemas.microsoft.com/office/drawing/2014/chart" uri="{C3380CC4-5D6E-409C-BE32-E72D297353CC}">
              <c16:uniqueId val="{00000002-B302-44A3-BB5C-FAFB82538EBF}"/>
            </c:ext>
          </c:extLst>
        </c:ser>
        <c:ser>
          <c:idx val="5"/>
          <c:order val="3"/>
          <c:tx>
            <c:strRef>
              <c:f>[10月华润数据.xlsx]奢侈品巨头表现!$A$5</c:f>
              <c:strCache>
                <c:ptCount val="1"/>
                <c:pt idx="0">
                  <c:v>Richemont</c:v>
                </c:pt>
              </c:strCache>
            </c:strRef>
          </c:tx>
          <c:spPr>
            <a:ln w="25400" cap="rnd" cmpd="sng" algn="ctr">
              <a:solidFill>
                <a:sysClr val="window" lastClr="FFFFFF">
                  <a:lumMod val="50000"/>
                </a:sysClr>
              </a:solidFill>
              <a:prstDash val="solid"/>
              <a:round/>
            </a:ln>
          </c:spPr>
          <c:marker>
            <c:symbol val="none"/>
          </c:marker>
          <c:cat>
            <c:strRef>
              <c:f>[10月华润数据.xlsx]奢侈品巨头表现!$S$1:$AI$1</c:f>
              <c:strCache>
                <c:ptCount val="17"/>
                <c:pt idx="0">
                  <c:v>2024.06</c:v>
                </c:pt>
                <c:pt idx="1">
                  <c:v>2024.07</c:v>
                </c:pt>
                <c:pt idx="2">
                  <c:v>2024.08</c:v>
                </c:pt>
                <c:pt idx="3">
                  <c:v>2024.09</c:v>
                </c:pt>
                <c:pt idx="4">
                  <c:v>2024.10</c:v>
                </c:pt>
                <c:pt idx="5">
                  <c:v>2024.11</c:v>
                </c:pt>
                <c:pt idx="6">
                  <c:v>2024.12</c:v>
                </c:pt>
                <c:pt idx="7">
                  <c:v>2025.01</c:v>
                </c:pt>
                <c:pt idx="8">
                  <c:v>2025.02</c:v>
                </c:pt>
                <c:pt idx="9">
                  <c:v>2025.03</c:v>
                </c:pt>
                <c:pt idx="10">
                  <c:v>2025.04</c:v>
                </c:pt>
                <c:pt idx="11">
                  <c:v>2025.05</c:v>
                </c:pt>
                <c:pt idx="12">
                  <c:v>2025.06</c:v>
                </c:pt>
                <c:pt idx="13">
                  <c:v>2025.07</c:v>
                </c:pt>
                <c:pt idx="14">
                  <c:v>2025.08</c:v>
                </c:pt>
                <c:pt idx="15">
                  <c:v>2025.09</c:v>
                </c:pt>
                <c:pt idx="16">
                  <c:v>2025.10</c:v>
                </c:pt>
              </c:strCache>
            </c:strRef>
          </c:cat>
          <c:val>
            <c:numRef>
              <c:f>[10月华润数据.xlsx]奢侈品巨头表现!$S$5:$AI$5</c:f>
              <c:numCache>
                <c:formatCode>0.0_ </c:formatCode>
                <c:ptCount val="17"/>
                <c:pt idx="0">
                  <c:v>2.956</c:v>
                </c:pt>
                <c:pt idx="1">
                  <c:v>-8.6359999999999992</c:v>
                </c:pt>
                <c:pt idx="2">
                  <c:v>-0.39700000000000002</c:v>
                </c:pt>
                <c:pt idx="3">
                  <c:v>6.3780000000000001</c:v>
                </c:pt>
                <c:pt idx="4">
                  <c:v>4.0570000000000004</c:v>
                </c:pt>
                <c:pt idx="5">
                  <c:v>-4.734</c:v>
                </c:pt>
                <c:pt idx="6">
                  <c:v>6.5540000000000003</c:v>
                </c:pt>
                <c:pt idx="7">
                  <c:v>0.14899999999999999</c:v>
                </c:pt>
                <c:pt idx="8">
                  <c:v>-3.4710000000000001</c:v>
                </c:pt>
                <c:pt idx="9">
                  <c:v>4.117</c:v>
                </c:pt>
                <c:pt idx="10">
                  <c:v>7.8840000000000003</c:v>
                </c:pt>
                <c:pt idx="11">
                  <c:v>4.8819999999999997</c:v>
                </c:pt>
                <c:pt idx="12">
                  <c:v>2.5449999999999999</c:v>
                </c:pt>
                <c:pt idx="13">
                  <c:v>4.0149999999999997</c:v>
                </c:pt>
                <c:pt idx="14">
                  <c:v>-0.76300000000000001</c:v>
                </c:pt>
                <c:pt idx="15">
                  <c:v>3.2160000000000002</c:v>
                </c:pt>
                <c:pt idx="16">
                  <c:v>4.46</c:v>
                </c:pt>
              </c:numCache>
            </c:numRef>
          </c:val>
          <c:smooth val="0"/>
          <c:extLst>
            <c:ext xmlns:c16="http://schemas.microsoft.com/office/drawing/2014/chart" uri="{C3380CC4-5D6E-409C-BE32-E72D297353CC}">
              <c16:uniqueId val="{00000003-B302-44A3-BB5C-FAFB82538EBF}"/>
            </c:ext>
          </c:extLst>
        </c:ser>
        <c:ser>
          <c:idx val="0"/>
          <c:order val="4"/>
          <c:tx>
            <c:strRef>
              <c:f>[10月华润数据.xlsx]奢侈品巨头表现!$A$6</c:f>
              <c:strCache>
                <c:ptCount val="1"/>
                <c:pt idx="0">
                  <c:v>Chanel</c:v>
                </c:pt>
              </c:strCache>
            </c:strRef>
          </c:tx>
          <c:spPr>
            <a:ln w="25400" cap="rnd" cmpd="sng" algn="ctr">
              <a:solidFill>
                <a:srgbClr val="C0C0C0"/>
              </a:solidFill>
              <a:prstDash val="solid"/>
              <a:round/>
            </a:ln>
          </c:spPr>
          <c:marker>
            <c:symbol val="none"/>
          </c:marker>
          <c:cat>
            <c:strRef>
              <c:f>[10月华润数据.xlsx]奢侈品巨头表现!$S$1:$AI$1</c:f>
              <c:strCache>
                <c:ptCount val="17"/>
                <c:pt idx="0">
                  <c:v>2024.06</c:v>
                </c:pt>
                <c:pt idx="1">
                  <c:v>2024.07</c:v>
                </c:pt>
                <c:pt idx="2">
                  <c:v>2024.08</c:v>
                </c:pt>
                <c:pt idx="3">
                  <c:v>2024.09</c:v>
                </c:pt>
                <c:pt idx="4">
                  <c:v>2024.10</c:v>
                </c:pt>
                <c:pt idx="5">
                  <c:v>2024.11</c:v>
                </c:pt>
                <c:pt idx="6">
                  <c:v>2024.12</c:v>
                </c:pt>
                <c:pt idx="7">
                  <c:v>2025.01</c:v>
                </c:pt>
                <c:pt idx="8">
                  <c:v>2025.02</c:v>
                </c:pt>
                <c:pt idx="9">
                  <c:v>2025.03</c:v>
                </c:pt>
                <c:pt idx="10">
                  <c:v>2025.04</c:v>
                </c:pt>
                <c:pt idx="11">
                  <c:v>2025.05</c:v>
                </c:pt>
                <c:pt idx="12">
                  <c:v>2025.06</c:v>
                </c:pt>
                <c:pt idx="13">
                  <c:v>2025.07</c:v>
                </c:pt>
                <c:pt idx="14">
                  <c:v>2025.08</c:v>
                </c:pt>
                <c:pt idx="15">
                  <c:v>2025.09</c:v>
                </c:pt>
                <c:pt idx="16">
                  <c:v>2025.10</c:v>
                </c:pt>
              </c:strCache>
            </c:strRef>
          </c:cat>
          <c:val>
            <c:numRef>
              <c:f>[10月华润数据.xlsx]奢侈品巨头表现!$S$6:$AI$6</c:f>
              <c:numCache>
                <c:formatCode>0.0_ </c:formatCode>
                <c:ptCount val="17"/>
                <c:pt idx="0">
                  <c:v>9.1</c:v>
                </c:pt>
                <c:pt idx="1">
                  <c:v>-1.7</c:v>
                </c:pt>
                <c:pt idx="2">
                  <c:v>13.5</c:v>
                </c:pt>
                <c:pt idx="3">
                  <c:v>8.4</c:v>
                </c:pt>
                <c:pt idx="4">
                  <c:v>5.2</c:v>
                </c:pt>
                <c:pt idx="5">
                  <c:v>7.1</c:v>
                </c:pt>
                <c:pt idx="6">
                  <c:v>10.6</c:v>
                </c:pt>
                <c:pt idx="7">
                  <c:v>6.9</c:v>
                </c:pt>
                <c:pt idx="8">
                  <c:v>7.7</c:v>
                </c:pt>
                <c:pt idx="9">
                  <c:v>4.2</c:v>
                </c:pt>
                <c:pt idx="10">
                  <c:v>4.8</c:v>
                </c:pt>
                <c:pt idx="11">
                  <c:v>5.7</c:v>
                </c:pt>
                <c:pt idx="12">
                  <c:v>-1.2</c:v>
                </c:pt>
                <c:pt idx="13">
                  <c:v>-4.5</c:v>
                </c:pt>
                <c:pt idx="14">
                  <c:v>3.3</c:v>
                </c:pt>
                <c:pt idx="15">
                  <c:v>6.1</c:v>
                </c:pt>
                <c:pt idx="16">
                  <c:v>8.3000000000000007</c:v>
                </c:pt>
              </c:numCache>
            </c:numRef>
          </c:val>
          <c:smooth val="1"/>
          <c:extLst>
            <c:ext xmlns:c16="http://schemas.microsoft.com/office/drawing/2014/chart" uri="{C3380CC4-5D6E-409C-BE32-E72D297353CC}">
              <c16:uniqueId val="{00000004-B302-44A3-BB5C-FAFB82538EBF}"/>
            </c:ext>
          </c:extLst>
        </c:ser>
        <c:ser>
          <c:idx val="1"/>
          <c:order val="5"/>
          <c:tx>
            <c:strRef>
              <c:f>[10月华润数据.xlsx]奢侈品巨头表现!$A$7</c:f>
              <c:strCache>
                <c:ptCount val="1"/>
                <c:pt idx="0">
                  <c:v>Hermes</c:v>
                </c:pt>
              </c:strCache>
            </c:strRef>
          </c:tx>
          <c:spPr>
            <a:ln w="25400" cap="rnd" cmpd="sng" algn="ctr">
              <a:solidFill>
                <a:sysClr val="windowText" lastClr="000000"/>
              </a:solidFill>
              <a:prstDash val="solid"/>
              <a:round/>
            </a:ln>
          </c:spPr>
          <c:marker>
            <c:symbol val="none"/>
          </c:marker>
          <c:cat>
            <c:strRef>
              <c:f>[10月华润数据.xlsx]奢侈品巨头表现!$S$1:$AI$1</c:f>
              <c:strCache>
                <c:ptCount val="17"/>
                <c:pt idx="0">
                  <c:v>2024.06</c:v>
                </c:pt>
                <c:pt idx="1">
                  <c:v>2024.07</c:v>
                </c:pt>
                <c:pt idx="2">
                  <c:v>2024.08</c:v>
                </c:pt>
                <c:pt idx="3">
                  <c:v>2024.09</c:v>
                </c:pt>
                <c:pt idx="4">
                  <c:v>2024.10</c:v>
                </c:pt>
                <c:pt idx="5">
                  <c:v>2024.11</c:v>
                </c:pt>
                <c:pt idx="6">
                  <c:v>2024.12</c:v>
                </c:pt>
                <c:pt idx="7">
                  <c:v>2025.01</c:v>
                </c:pt>
                <c:pt idx="8">
                  <c:v>2025.02</c:v>
                </c:pt>
                <c:pt idx="9">
                  <c:v>2025.03</c:v>
                </c:pt>
                <c:pt idx="10">
                  <c:v>2025.04</c:v>
                </c:pt>
                <c:pt idx="11">
                  <c:v>2025.05</c:v>
                </c:pt>
                <c:pt idx="12">
                  <c:v>2025.06</c:v>
                </c:pt>
                <c:pt idx="13">
                  <c:v>2025.07</c:v>
                </c:pt>
                <c:pt idx="14">
                  <c:v>2025.08</c:v>
                </c:pt>
                <c:pt idx="15">
                  <c:v>2025.09</c:v>
                </c:pt>
                <c:pt idx="16">
                  <c:v>2025.10</c:v>
                </c:pt>
              </c:strCache>
            </c:strRef>
          </c:cat>
          <c:val>
            <c:numRef>
              <c:f>[10月华润数据.xlsx]奢侈品巨头表现!$S$7:$AI$7</c:f>
              <c:numCache>
                <c:formatCode>0.0_ </c:formatCode>
                <c:ptCount val="17"/>
                <c:pt idx="0">
                  <c:v>13.9</c:v>
                </c:pt>
                <c:pt idx="1">
                  <c:v>4.5</c:v>
                </c:pt>
                <c:pt idx="2">
                  <c:v>10.9</c:v>
                </c:pt>
                <c:pt idx="3">
                  <c:v>11.2</c:v>
                </c:pt>
                <c:pt idx="4">
                  <c:v>14.8</c:v>
                </c:pt>
                <c:pt idx="5">
                  <c:v>10.199999999999999</c:v>
                </c:pt>
                <c:pt idx="6">
                  <c:v>16.899999999999999</c:v>
                </c:pt>
                <c:pt idx="7">
                  <c:v>11.3</c:v>
                </c:pt>
                <c:pt idx="8">
                  <c:v>18.399999999999999</c:v>
                </c:pt>
                <c:pt idx="9">
                  <c:v>14.1</c:v>
                </c:pt>
                <c:pt idx="10">
                  <c:v>12.9</c:v>
                </c:pt>
                <c:pt idx="11">
                  <c:v>13.7</c:v>
                </c:pt>
                <c:pt idx="12">
                  <c:v>11.9</c:v>
                </c:pt>
                <c:pt idx="13">
                  <c:v>8.6</c:v>
                </c:pt>
                <c:pt idx="14">
                  <c:v>10.3</c:v>
                </c:pt>
                <c:pt idx="15">
                  <c:v>12.8</c:v>
                </c:pt>
                <c:pt idx="16">
                  <c:v>14.4</c:v>
                </c:pt>
              </c:numCache>
            </c:numRef>
          </c:val>
          <c:smooth val="0"/>
          <c:extLst>
            <c:ext xmlns:c16="http://schemas.microsoft.com/office/drawing/2014/chart" uri="{C3380CC4-5D6E-409C-BE32-E72D297353CC}">
              <c16:uniqueId val="{00000005-B302-44A3-BB5C-FAFB82538EBF}"/>
            </c:ext>
          </c:extLst>
        </c:ser>
        <c:dLbls>
          <c:showLegendKey val="0"/>
          <c:showVal val="0"/>
          <c:showCatName val="0"/>
          <c:showSerName val="0"/>
          <c:showPercent val="0"/>
          <c:showBubbleSize val="0"/>
        </c:dLbls>
        <c:smooth val="0"/>
        <c:axId val="1006903616"/>
        <c:axId val="1006906752"/>
      </c:lineChart>
      <c:dateAx>
        <c:axId val="1006903616"/>
        <c:scaling>
          <c:orientation val="minMax"/>
          <c:max val="17.5"/>
        </c:scaling>
        <c:delete val="0"/>
        <c:axPos val="b"/>
        <c:numFmt formatCode="yy\-mm;@" sourceLinked="0"/>
        <c:majorTickMark val="none"/>
        <c:minorTickMark val="none"/>
        <c:tickLblPos val="low"/>
        <c:txPr>
          <a:bodyPr rot="-60000000" spcFirstLastPara="0" vertOverflow="ellipsis" vert="horz" wrap="square" anchor="ctr" anchorCtr="1" forceAA="0"/>
          <a:lstStyle/>
          <a:p>
            <a:pPr>
              <a:defRPr lang="zh-CN" sz="800" b="0" i="0" u="none" strike="noStrike" kern="1200" baseline="0">
                <a:solidFill>
                  <a:schemeClr val="tx1"/>
                </a:solidFill>
                <a:latin typeface="+mn-lt"/>
                <a:ea typeface="+mn-ea"/>
                <a:cs typeface="+mn-cs"/>
              </a:defRPr>
            </a:pPr>
            <a:endParaRPr lang="zh-CN"/>
          </a:p>
        </c:txPr>
        <c:crossAx val="1006906752"/>
        <c:crosses val="autoZero"/>
        <c:auto val="0"/>
        <c:lblOffset val="100"/>
        <c:baseTimeUnit val="days"/>
      </c:dateAx>
      <c:valAx>
        <c:axId val="1006906752"/>
        <c:scaling>
          <c:orientation val="minMax"/>
        </c:scaling>
        <c:delete val="0"/>
        <c:axPos val="l"/>
        <c:numFmt formatCode="0.0_ " sourceLinked="1"/>
        <c:majorTickMark val="none"/>
        <c:minorTickMark val="none"/>
        <c:tickLblPos val="nextTo"/>
        <c:txPr>
          <a:bodyPr rot="-60000000" spcFirstLastPara="0" vertOverflow="ellipsis" vert="horz" wrap="square" anchor="ctr" anchorCtr="1"/>
          <a:lstStyle/>
          <a:p>
            <a:pPr>
              <a:defRPr lang="zh-CN" sz="800" b="0" i="0" u="none" strike="noStrike" kern="1200" baseline="0">
                <a:solidFill>
                  <a:schemeClr val="tx1"/>
                </a:solidFill>
                <a:latin typeface="+mn-lt"/>
                <a:ea typeface="+mn-ea"/>
                <a:cs typeface="+mn-cs"/>
              </a:defRPr>
            </a:pPr>
            <a:endParaRPr lang="zh-CN"/>
          </a:p>
        </c:txPr>
        <c:crossAx val="1006903616"/>
        <c:crosses val="autoZero"/>
        <c:crossBetween val="between"/>
      </c:valAx>
    </c:plotArea>
    <c:legend>
      <c:legendPos val="b"/>
      <c:layout>
        <c:manualLayout>
          <c:xMode val="edge"/>
          <c:yMode val="edge"/>
          <c:x val="8.6510750904338393E-2"/>
          <c:y val="1.41356809565471E-2"/>
          <c:w val="0.84000857806443296"/>
          <c:h val="0.13382363662875499"/>
        </c:manualLayout>
      </c:layout>
      <c:overlay val="0"/>
      <c:txPr>
        <a:bodyPr rot="0" spcFirstLastPara="0" vertOverflow="ellipsis" vert="horz" wrap="square" anchor="ctr" anchorCtr="1"/>
        <a:lstStyle/>
        <a:p>
          <a:pPr>
            <a:defRPr lang="zh-CN" sz="800" b="0" i="0" u="none" strike="noStrike" kern="1200" baseline="0">
              <a:solidFill>
                <a:schemeClr val="tx1"/>
              </a:solidFill>
              <a:latin typeface="Arial" panose="020B0604020202090204" pitchFamily="34" charset="0"/>
              <a:ea typeface="楷体_GB2312" panose="02010609030101010101" pitchFamily="49" charset="-122"/>
              <a:cs typeface="Arial" panose="020B0604020202090204" pitchFamily="34" charset="0"/>
            </a:defRPr>
          </a:pPr>
          <a:endParaRPr lang="zh-CN"/>
        </a:p>
      </c:txPr>
    </c:legend>
    <c:plotVisOnly val="1"/>
    <c:dispBlanksAs val="gap"/>
    <c:showDLblsOverMax val="0"/>
  </c:chart>
  <c:spPr>
    <a:ln w="9525" cap="flat" cmpd="sng" algn="ctr">
      <a:noFill/>
      <a:prstDash val="solid"/>
      <a:round/>
    </a:ln>
  </c:spPr>
  <c:txPr>
    <a:bodyPr/>
    <a:lstStyle/>
    <a:p>
      <a:pPr>
        <a:defRPr lang="zh-CN" sz="800"/>
      </a:pPr>
      <a:endParaRPr lang="zh-CN"/>
    </a:p>
  </c:txPr>
  <c:externalData r:id="rId2">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8.1694117647058806E-2"/>
          <c:y val="5.8448459086078597E-2"/>
          <c:w val="0.88379607843137298"/>
          <c:h val="0.68730074388947904"/>
        </c:manualLayout>
      </c:layout>
      <c:lineChart>
        <c:grouping val="standard"/>
        <c:varyColors val="0"/>
        <c:ser>
          <c:idx val="0"/>
          <c:order val="0"/>
          <c:tx>
            <c:strRef>
              <c:f>[工作簿1.xlsx]Sheet1!$A$2</c:f>
              <c:strCache>
                <c:ptCount val="1"/>
                <c:pt idx="0">
                  <c:v>LVMH</c:v>
                </c:pt>
              </c:strCache>
            </c:strRef>
          </c:tx>
          <c:spPr>
            <a:ln w="19050" cap="rnd" cmpd="sng" algn="ctr">
              <a:solidFill>
                <a:srgbClr val="0D4DA1"/>
              </a:solidFill>
              <a:prstDash val="solid"/>
              <a:round/>
            </a:ln>
          </c:spPr>
          <c:marker>
            <c:symbol val="none"/>
          </c:marker>
          <c:cat>
            <c:strRef>
              <c:f>[工作簿1.xlsx]Sheet1!$B$1:$I$1</c:f>
              <c:strCache>
                <c:ptCount val="8"/>
                <c:pt idx="0">
                  <c:v>2023 Q4 (Rep)</c:v>
                </c:pt>
                <c:pt idx="1">
                  <c:v>2024 Q1 (Rep)</c:v>
                </c:pt>
                <c:pt idx="2">
                  <c:v>2024 Q2 (Rep)</c:v>
                </c:pt>
                <c:pt idx="3">
                  <c:v>2024 Q3 (Rep)</c:v>
                </c:pt>
                <c:pt idx="4">
                  <c:v>2024 Q4 (Rep)</c:v>
                </c:pt>
                <c:pt idx="5">
                  <c:v>2025 Q1 (Rep)</c:v>
                </c:pt>
                <c:pt idx="6">
                  <c:v>2025 Q2 (Rep)</c:v>
                </c:pt>
                <c:pt idx="7">
                  <c:v>2025 Q3 (Rep)</c:v>
                </c:pt>
              </c:strCache>
            </c:strRef>
          </c:cat>
          <c:val>
            <c:numRef>
              <c:f>[工作簿1.xlsx]Sheet1!$B$2:$I$2</c:f>
              <c:numCache>
                <c:formatCode>0.0_ </c:formatCode>
                <c:ptCount val="8"/>
                <c:pt idx="0">
                  <c:v>15</c:v>
                </c:pt>
                <c:pt idx="1">
                  <c:v>-6</c:v>
                </c:pt>
                <c:pt idx="2">
                  <c:v>-14</c:v>
                </c:pt>
                <c:pt idx="3">
                  <c:v>-16</c:v>
                </c:pt>
                <c:pt idx="4">
                  <c:v>-10</c:v>
                </c:pt>
                <c:pt idx="5">
                  <c:v>-11</c:v>
                </c:pt>
                <c:pt idx="6">
                  <c:v>-6</c:v>
                </c:pt>
                <c:pt idx="7">
                  <c:v>2</c:v>
                </c:pt>
              </c:numCache>
            </c:numRef>
          </c:val>
          <c:smooth val="0"/>
          <c:extLst>
            <c:ext xmlns:c16="http://schemas.microsoft.com/office/drawing/2014/chart" uri="{C3380CC4-5D6E-409C-BE32-E72D297353CC}">
              <c16:uniqueId val="{00000000-F246-4BB2-A19E-72053FF3C4D5}"/>
            </c:ext>
          </c:extLst>
        </c:ser>
        <c:ser>
          <c:idx val="1"/>
          <c:order val="1"/>
          <c:tx>
            <c:strRef>
              <c:f>[工作簿1.xlsx]Sheet1!$A$3</c:f>
              <c:strCache>
                <c:ptCount val="1"/>
                <c:pt idx="0">
                  <c:v>KERING</c:v>
                </c:pt>
              </c:strCache>
            </c:strRef>
          </c:tx>
          <c:spPr>
            <a:ln w="19050" cap="rnd" cmpd="sng" algn="ctr">
              <a:solidFill>
                <a:srgbClr val="A6A6A6"/>
              </a:solidFill>
              <a:prstDash val="solid"/>
              <a:round/>
            </a:ln>
          </c:spPr>
          <c:marker>
            <c:symbol val="none"/>
          </c:marker>
          <c:cat>
            <c:strRef>
              <c:f>[工作簿1.xlsx]Sheet1!$B$1:$I$1</c:f>
              <c:strCache>
                <c:ptCount val="8"/>
                <c:pt idx="0">
                  <c:v>2023 Q4 (Rep)</c:v>
                </c:pt>
                <c:pt idx="1">
                  <c:v>2024 Q1 (Rep)</c:v>
                </c:pt>
                <c:pt idx="2">
                  <c:v>2024 Q2 (Rep)</c:v>
                </c:pt>
                <c:pt idx="3">
                  <c:v>2024 Q3 (Rep)</c:v>
                </c:pt>
                <c:pt idx="4">
                  <c:v>2024 Q4 (Rep)</c:v>
                </c:pt>
                <c:pt idx="5">
                  <c:v>2025 Q1 (Rep)</c:v>
                </c:pt>
                <c:pt idx="6">
                  <c:v>2025 Q2 (Rep)</c:v>
                </c:pt>
                <c:pt idx="7">
                  <c:v>2025 Q3 (Rep)</c:v>
                </c:pt>
              </c:strCache>
            </c:strRef>
          </c:cat>
          <c:val>
            <c:numRef>
              <c:f>[工作簿1.xlsx]Sheet1!$B$3:$I$3</c:f>
              <c:numCache>
                <c:formatCode>0.0_ </c:formatCode>
                <c:ptCount val="8"/>
                <c:pt idx="0">
                  <c:v>8</c:v>
                </c:pt>
                <c:pt idx="1">
                  <c:v>-19</c:v>
                </c:pt>
                <c:pt idx="2">
                  <c:v>-25</c:v>
                </c:pt>
                <c:pt idx="3">
                  <c:v>-30</c:v>
                </c:pt>
                <c:pt idx="4">
                  <c:v>-24</c:v>
                </c:pt>
                <c:pt idx="5">
                  <c:v>-25</c:v>
                </c:pt>
                <c:pt idx="6">
                  <c:v>-19</c:v>
                </c:pt>
                <c:pt idx="7">
                  <c:v>-10</c:v>
                </c:pt>
              </c:numCache>
            </c:numRef>
          </c:val>
          <c:smooth val="0"/>
          <c:extLst>
            <c:ext xmlns:c16="http://schemas.microsoft.com/office/drawing/2014/chart" uri="{C3380CC4-5D6E-409C-BE32-E72D297353CC}">
              <c16:uniqueId val="{00000001-F246-4BB2-A19E-72053FF3C4D5}"/>
            </c:ext>
          </c:extLst>
        </c:ser>
        <c:ser>
          <c:idx val="2"/>
          <c:order val="2"/>
          <c:tx>
            <c:strRef>
              <c:f>[工作簿1.xlsx]Sheet1!$A$4</c:f>
              <c:strCache>
                <c:ptCount val="1"/>
                <c:pt idx="0">
                  <c:v>爱马仕</c:v>
                </c:pt>
              </c:strCache>
            </c:strRef>
          </c:tx>
          <c:spPr>
            <a:ln w="19050" cap="rnd" cmpd="sng" algn="ctr">
              <a:solidFill>
                <a:srgbClr val="4986E7"/>
              </a:solidFill>
              <a:prstDash val="solid"/>
              <a:round/>
            </a:ln>
          </c:spPr>
          <c:marker>
            <c:symbol val="none"/>
          </c:marker>
          <c:cat>
            <c:strRef>
              <c:f>[工作簿1.xlsx]Sheet1!$B$1:$I$1</c:f>
              <c:strCache>
                <c:ptCount val="8"/>
                <c:pt idx="0">
                  <c:v>2023 Q4 (Rep)</c:v>
                </c:pt>
                <c:pt idx="1">
                  <c:v>2024 Q1 (Rep)</c:v>
                </c:pt>
                <c:pt idx="2">
                  <c:v>2024 Q2 (Rep)</c:v>
                </c:pt>
                <c:pt idx="3">
                  <c:v>2024 Q3 (Rep)</c:v>
                </c:pt>
                <c:pt idx="4">
                  <c:v>2024 Q4 (Rep)</c:v>
                </c:pt>
                <c:pt idx="5">
                  <c:v>2025 Q1 (Rep)</c:v>
                </c:pt>
                <c:pt idx="6">
                  <c:v>2025 Q2 (Rep)</c:v>
                </c:pt>
                <c:pt idx="7">
                  <c:v>2025 Q3 (Rep)</c:v>
                </c:pt>
              </c:strCache>
            </c:strRef>
          </c:cat>
          <c:val>
            <c:numRef>
              <c:f>[工作簿1.xlsx]Sheet1!$B$4:$I$4</c:f>
              <c:numCache>
                <c:formatCode>0.0_ </c:formatCode>
                <c:ptCount val="8"/>
                <c:pt idx="0">
                  <c:v>12.3</c:v>
                </c:pt>
                <c:pt idx="1">
                  <c:v>13.9</c:v>
                </c:pt>
                <c:pt idx="2">
                  <c:v>5.5</c:v>
                </c:pt>
                <c:pt idx="3">
                  <c:v>1</c:v>
                </c:pt>
                <c:pt idx="4">
                  <c:v>8.9</c:v>
                </c:pt>
                <c:pt idx="5">
                  <c:v>1.2</c:v>
                </c:pt>
                <c:pt idx="6">
                  <c:v>5.2</c:v>
                </c:pt>
                <c:pt idx="7">
                  <c:v>6.2</c:v>
                </c:pt>
              </c:numCache>
            </c:numRef>
          </c:val>
          <c:smooth val="0"/>
          <c:extLst>
            <c:ext xmlns:c16="http://schemas.microsoft.com/office/drawing/2014/chart" uri="{C3380CC4-5D6E-409C-BE32-E72D297353CC}">
              <c16:uniqueId val="{00000002-F246-4BB2-A19E-72053FF3C4D5}"/>
            </c:ext>
          </c:extLst>
        </c:ser>
        <c:ser>
          <c:idx val="3"/>
          <c:order val="3"/>
          <c:tx>
            <c:strRef>
              <c:f>[工作簿1.xlsx]Sheet1!$A$5</c:f>
              <c:strCache>
                <c:ptCount val="1"/>
                <c:pt idx="0">
                  <c:v>PRADA</c:v>
                </c:pt>
              </c:strCache>
            </c:strRef>
          </c:tx>
          <c:spPr>
            <a:ln w="19050" cap="rnd" cmpd="sng" algn="ctr">
              <a:solidFill>
                <a:srgbClr val="CC0000"/>
              </a:solidFill>
              <a:prstDash val="solid"/>
              <a:round/>
            </a:ln>
          </c:spPr>
          <c:marker>
            <c:symbol val="none"/>
          </c:marker>
          <c:cat>
            <c:strRef>
              <c:f>[工作簿1.xlsx]Sheet1!$B$1:$I$1</c:f>
              <c:strCache>
                <c:ptCount val="8"/>
                <c:pt idx="0">
                  <c:v>2023 Q4 (Rep)</c:v>
                </c:pt>
                <c:pt idx="1">
                  <c:v>2024 Q1 (Rep)</c:v>
                </c:pt>
                <c:pt idx="2">
                  <c:v>2024 Q2 (Rep)</c:v>
                </c:pt>
                <c:pt idx="3">
                  <c:v>2024 Q3 (Rep)</c:v>
                </c:pt>
                <c:pt idx="4">
                  <c:v>2024 Q4 (Rep)</c:v>
                </c:pt>
                <c:pt idx="5">
                  <c:v>2025 Q1 (Rep)</c:v>
                </c:pt>
                <c:pt idx="6">
                  <c:v>2025 Q2 (Rep)</c:v>
                </c:pt>
                <c:pt idx="7">
                  <c:v>2025 Q3 (Rep)</c:v>
                </c:pt>
              </c:strCache>
            </c:strRef>
          </c:cat>
          <c:val>
            <c:numRef>
              <c:f>[工作簿1.xlsx]Sheet1!$B$5:$I$5</c:f>
              <c:numCache>
                <c:formatCode>0.0_ </c:formatCode>
                <c:ptCount val="8"/>
                <c:pt idx="0">
                  <c:v>12</c:v>
                </c:pt>
                <c:pt idx="1">
                  <c:v>15.9</c:v>
                </c:pt>
                <c:pt idx="2">
                  <c:v>9.6</c:v>
                </c:pt>
                <c:pt idx="3">
                  <c:v>11.3</c:v>
                </c:pt>
                <c:pt idx="4">
                  <c:v>10.4</c:v>
                </c:pt>
                <c:pt idx="5">
                  <c:v>8.3369891251919093</c:v>
                </c:pt>
                <c:pt idx="6">
                  <c:v>9.3562430140588599</c:v>
                </c:pt>
                <c:pt idx="7">
                  <c:v>11.110592606618001</c:v>
                </c:pt>
              </c:numCache>
            </c:numRef>
          </c:val>
          <c:smooth val="0"/>
          <c:extLst>
            <c:ext xmlns:c16="http://schemas.microsoft.com/office/drawing/2014/chart" uri="{C3380CC4-5D6E-409C-BE32-E72D297353CC}">
              <c16:uniqueId val="{00000003-F246-4BB2-A19E-72053FF3C4D5}"/>
            </c:ext>
          </c:extLst>
        </c:ser>
        <c:ser>
          <c:idx val="4"/>
          <c:order val="4"/>
          <c:tx>
            <c:strRef>
              <c:f>[工作簿1.xlsx]Sheet1!$A$6</c:f>
              <c:strCache>
                <c:ptCount val="1"/>
                <c:pt idx="0">
                  <c:v>Moncler</c:v>
                </c:pt>
              </c:strCache>
            </c:strRef>
          </c:tx>
          <c:spPr>
            <a:ln w="19050" cap="rnd" cmpd="sng" algn="ctr">
              <a:solidFill>
                <a:srgbClr val="5645BB"/>
              </a:solidFill>
              <a:prstDash val="solid"/>
              <a:round/>
            </a:ln>
          </c:spPr>
          <c:marker>
            <c:symbol val="none"/>
          </c:marker>
          <c:cat>
            <c:strRef>
              <c:f>[工作簿1.xlsx]Sheet1!$B$1:$I$1</c:f>
              <c:strCache>
                <c:ptCount val="8"/>
                <c:pt idx="0">
                  <c:v>2023 Q4 (Rep)</c:v>
                </c:pt>
                <c:pt idx="1">
                  <c:v>2024 Q1 (Rep)</c:v>
                </c:pt>
                <c:pt idx="2">
                  <c:v>2024 Q2 (Rep)</c:v>
                </c:pt>
                <c:pt idx="3">
                  <c:v>2024 Q3 (Rep)</c:v>
                </c:pt>
                <c:pt idx="4">
                  <c:v>2024 Q4 (Rep)</c:v>
                </c:pt>
                <c:pt idx="5">
                  <c:v>2025 Q1 (Rep)</c:v>
                </c:pt>
                <c:pt idx="6">
                  <c:v>2025 Q2 (Rep)</c:v>
                </c:pt>
                <c:pt idx="7">
                  <c:v>2025 Q3 (Rep)</c:v>
                </c:pt>
              </c:strCache>
            </c:strRef>
          </c:cat>
          <c:val>
            <c:numRef>
              <c:f>[工作簿1.xlsx]Sheet1!$B$6:$I$6</c:f>
              <c:numCache>
                <c:formatCode>0.0_ </c:formatCode>
                <c:ptCount val="8"/>
                <c:pt idx="0">
                  <c:v>28</c:v>
                </c:pt>
                <c:pt idx="1">
                  <c:v>26</c:v>
                </c:pt>
                <c:pt idx="2">
                  <c:v>6</c:v>
                </c:pt>
                <c:pt idx="3">
                  <c:v>-2</c:v>
                </c:pt>
                <c:pt idx="4">
                  <c:v>11</c:v>
                </c:pt>
                <c:pt idx="5">
                  <c:v>6</c:v>
                </c:pt>
                <c:pt idx="6">
                  <c:v>0</c:v>
                </c:pt>
                <c:pt idx="7">
                  <c:v>0</c:v>
                </c:pt>
              </c:numCache>
            </c:numRef>
          </c:val>
          <c:smooth val="0"/>
          <c:extLst>
            <c:ext xmlns:c16="http://schemas.microsoft.com/office/drawing/2014/chart" uri="{C3380CC4-5D6E-409C-BE32-E72D297353CC}">
              <c16:uniqueId val="{00000004-F246-4BB2-A19E-72053FF3C4D5}"/>
            </c:ext>
          </c:extLst>
        </c:ser>
        <c:ser>
          <c:idx val="5"/>
          <c:order val="5"/>
          <c:tx>
            <c:strRef>
              <c:f>[工作簿1.xlsx]Sheet1!$A$8</c:f>
              <c:strCache>
                <c:ptCount val="1"/>
                <c:pt idx="0">
                  <c:v>拉夫劳伦</c:v>
                </c:pt>
              </c:strCache>
            </c:strRef>
          </c:tx>
          <c:spPr>
            <a:ln w="19050" cap="rnd" cmpd="sng" algn="ctr">
              <a:solidFill>
                <a:srgbClr val="CAD0E4"/>
              </a:solidFill>
              <a:prstDash val="solid"/>
              <a:round/>
            </a:ln>
          </c:spPr>
          <c:marker>
            <c:symbol val="none"/>
          </c:marker>
          <c:cat>
            <c:strRef>
              <c:f>[工作簿1.xlsx]Sheet1!$B$1:$I$1</c:f>
              <c:strCache>
                <c:ptCount val="8"/>
                <c:pt idx="0">
                  <c:v>2023 Q4 (Rep)</c:v>
                </c:pt>
                <c:pt idx="1">
                  <c:v>2024 Q1 (Rep)</c:v>
                </c:pt>
                <c:pt idx="2">
                  <c:v>2024 Q2 (Rep)</c:v>
                </c:pt>
                <c:pt idx="3">
                  <c:v>2024 Q3 (Rep)</c:v>
                </c:pt>
                <c:pt idx="4">
                  <c:v>2024 Q4 (Rep)</c:v>
                </c:pt>
                <c:pt idx="5">
                  <c:v>2025 Q1 (Rep)</c:v>
                </c:pt>
                <c:pt idx="6">
                  <c:v>2025 Q2 (Rep)</c:v>
                </c:pt>
                <c:pt idx="7">
                  <c:v>2025 Q3 (Rep)</c:v>
                </c:pt>
              </c:strCache>
            </c:strRef>
          </c:cat>
          <c:val>
            <c:numRef>
              <c:f>[工作簿1.xlsx]Sheet1!$B$8:$I$8</c:f>
              <c:numCache>
                <c:formatCode>0.0_ </c:formatCode>
                <c:ptCount val="8"/>
                <c:pt idx="0">
                  <c:v>14</c:v>
                </c:pt>
                <c:pt idx="1">
                  <c:v>6</c:v>
                </c:pt>
                <c:pt idx="2">
                  <c:v>9</c:v>
                </c:pt>
                <c:pt idx="3">
                  <c:v>11</c:v>
                </c:pt>
                <c:pt idx="4">
                  <c:v>14</c:v>
                </c:pt>
                <c:pt idx="5">
                  <c:v>15</c:v>
                </c:pt>
                <c:pt idx="6">
                  <c:v>18</c:v>
                </c:pt>
                <c:pt idx="7">
                  <c:v>16</c:v>
                </c:pt>
              </c:numCache>
            </c:numRef>
          </c:val>
          <c:smooth val="0"/>
          <c:extLst>
            <c:ext xmlns:c16="http://schemas.microsoft.com/office/drawing/2014/chart" uri="{C3380CC4-5D6E-409C-BE32-E72D297353CC}">
              <c16:uniqueId val="{00000005-F246-4BB2-A19E-72053FF3C4D5}"/>
            </c:ext>
          </c:extLst>
        </c:ser>
        <c:ser>
          <c:idx val="6"/>
          <c:order val="6"/>
          <c:tx>
            <c:strRef>
              <c:f>[工作簿1.xlsx]Sheet1!$A$7</c:f>
              <c:strCache>
                <c:ptCount val="1"/>
                <c:pt idx="0">
                  <c:v>Tapestry（Coach母公司）</c:v>
                </c:pt>
              </c:strCache>
            </c:strRef>
          </c:tx>
          <c:spPr>
            <a:ln w="19050" cap="rnd" cmpd="sng" algn="ctr">
              <a:solidFill>
                <a:srgbClr val="FFC000"/>
              </a:solidFill>
              <a:prstDash val="solid"/>
              <a:round/>
            </a:ln>
          </c:spPr>
          <c:marker>
            <c:symbol val="none"/>
          </c:marker>
          <c:cat>
            <c:strRef>
              <c:f>[工作簿1.xlsx]Sheet1!$B$1:$I$1</c:f>
              <c:strCache>
                <c:ptCount val="8"/>
                <c:pt idx="0">
                  <c:v>2023 Q4 (Rep)</c:v>
                </c:pt>
                <c:pt idx="1">
                  <c:v>2024 Q1 (Rep)</c:v>
                </c:pt>
                <c:pt idx="2">
                  <c:v>2024 Q2 (Rep)</c:v>
                </c:pt>
                <c:pt idx="3">
                  <c:v>2024 Q3 (Rep)</c:v>
                </c:pt>
                <c:pt idx="4">
                  <c:v>2024 Q4 (Rep)</c:v>
                </c:pt>
                <c:pt idx="5">
                  <c:v>2025 Q1 (Rep)</c:v>
                </c:pt>
                <c:pt idx="6">
                  <c:v>2025 Q2 (Rep)</c:v>
                </c:pt>
                <c:pt idx="7">
                  <c:v>2025 Q3 (Rep)</c:v>
                </c:pt>
              </c:strCache>
            </c:strRef>
          </c:cat>
          <c:val>
            <c:numRef>
              <c:f>[工作簿1.xlsx]Sheet1!$B$7:$I$7</c:f>
              <c:numCache>
                <c:formatCode>General</c:formatCode>
                <c:ptCount val="8"/>
                <c:pt idx="3" formatCode="0.0_ ">
                  <c:v>-5</c:v>
                </c:pt>
                <c:pt idx="4" formatCode="0.0_ ">
                  <c:v>2</c:v>
                </c:pt>
                <c:pt idx="5" formatCode="0.0_ ">
                  <c:v>5</c:v>
                </c:pt>
                <c:pt idx="6" formatCode="0.0_ ">
                  <c:v>18</c:v>
                </c:pt>
                <c:pt idx="7" formatCode="0.0_ ">
                  <c:v>19</c:v>
                </c:pt>
              </c:numCache>
            </c:numRef>
          </c:val>
          <c:smooth val="0"/>
          <c:extLst>
            <c:ext xmlns:c16="http://schemas.microsoft.com/office/drawing/2014/chart" uri="{C3380CC4-5D6E-409C-BE32-E72D297353CC}">
              <c16:uniqueId val="{00000006-F246-4BB2-A19E-72053FF3C4D5}"/>
            </c:ext>
          </c:extLst>
        </c:ser>
        <c:ser>
          <c:idx val="7"/>
          <c:order val="7"/>
          <c:tx>
            <c:strRef>
              <c:f>[工作簿1.xlsx]Sheet1!$A$9</c:f>
              <c:strCache>
                <c:ptCount val="1"/>
                <c:pt idx="0">
                  <c:v>加拿大鹅</c:v>
                </c:pt>
              </c:strCache>
            </c:strRef>
          </c:tx>
          <c:spPr>
            <a:ln w="19050" cap="rnd" cmpd="sng" algn="ctr">
              <a:solidFill>
                <a:srgbClr val="1B1835"/>
              </a:solidFill>
              <a:prstDash val="solid"/>
              <a:round/>
            </a:ln>
          </c:spPr>
          <c:marker>
            <c:symbol val="none"/>
          </c:marker>
          <c:cat>
            <c:strRef>
              <c:f>[工作簿1.xlsx]Sheet1!$B$1:$I$1</c:f>
              <c:strCache>
                <c:ptCount val="8"/>
                <c:pt idx="0">
                  <c:v>2023 Q4 (Rep)</c:v>
                </c:pt>
                <c:pt idx="1">
                  <c:v>2024 Q1 (Rep)</c:v>
                </c:pt>
                <c:pt idx="2">
                  <c:v>2024 Q2 (Rep)</c:v>
                </c:pt>
                <c:pt idx="3">
                  <c:v>2024 Q3 (Rep)</c:v>
                </c:pt>
                <c:pt idx="4">
                  <c:v>2024 Q4 (Rep)</c:v>
                </c:pt>
                <c:pt idx="5">
                  <c:v>2025 Q1 (Rep)</c:v>
                </c:pt>
                <c:pt idx="6">
                  <c:v>2025 Q2 (Rep)</c:v>
                </c:pt>
                <c:pt idx="7">
                  <c:v>2025 Q3 (Rep)</c:v>
                </c:pt>
              </c:strCache>
            </c:strRef>
          </c:cat>
          <c:val>
            <c:numRef>
              <c:f>[工作簿1.xlsx]Sheet1!$B$9:$I$9</c:f>
              <c:numCache>
                <c:formatCode>0.0_ </c:formatCode>
                <c:ptCount val="8"/>
                <c:pt idx="0">
                  <c:v>62.9</c:v>
                </c:pt>
                <c:pt idx="1">
                  <c:v>32.9</c:v>
                </c:pt>
                <c:pt idx="2">
                  <c:v>24.9</c:v>
                </c:pt>
                <c:pt idx="3">
                  <c:v>3</c:v>
                </c:pt>
                <c:pt idx="4">
                  <c:v>-2.2999999999999998</c:v>
                </c:pt>
                <c:pt idx="5">
                  <c:v>11.8</c:v>
                </c:pt>
                <c:pt idx="6">
                  <c:v>26.9</c:v>
                </c:pt>
                <c:pt idx="7">
                  <c:v>20.100000000000001</c:v>
                </c:pt>
              </c:numCache>
            </c:numRef>
          </c:val>
          <c:smooth val="0"/>
          <c:extLst>
            <c:ext xmlns:c16="http://schemas.microsoft.com/office/drawing/2014/chart" uri="{C3380CC4-5D6E-409C-BE32-E72D297353CC}">
              <c16:uniqueId val="{00000007-F246-4BB2-A19E-72053FF3C4D5}"/>
            </c:ext>
          </c:extLst>
        </c:ser>
        <c:ser>
          <c:idx val="8"/>
          <c:order val="8"/>
          <c:tx>
            <c:strRef>
              <c:f>[工作簿1.xlsx]Sheet1!$A$10</c:f>
              <c:strCache>
                <c:ptCount val="1"/>
                <c:pt idx="0">
                  <c:v>欧莱雅</c:v>
                </c:pt>
              </c:strCache>
            </c:strRef>
          </c:tx>
          <c:spPr>
            <a:ln w="19050" cap="rnd" cmpd="sng" algn="ctr">
              <a:solidFill>
                <a:srgbClr val="F79646"/>
              </a:solidFill>
              <a:prstDash val="solid"/>
              <a:round/>
            </a:ln>
          </c:spPr>
          <c:marker>
            <c:symbol val="none"/>
          </c:marker>
          <c:cat>
            <c:strRef>
              <c:f>[工作簿1.xlsx]Sheet1!$B$1:$I$1</c:f>
              <c:strCache>
                <c:ptCount val="8"/>
                <c:pt idx="0">
                  <c:v>2023 Q4 (Rep)</c:v>
                </c:pt>
                <c:pt idx="1">
                  <c:v>2024 Q1 (Rep)</c:v>
                </c:pt>
                <c:pt idx="2">
                  <c:v>2024 Q2 (Rep)</c:v>
                </c:pt>
                <c:pt idx="3">
                  <c:v>2024 Q3 (Rep)</c:v>
                </c:pt>
                <c:pt idx="4">
                  <c:v>2024 Q4 (Rep)</c:v>
                </c:pt>
                <c:pt idx="5">
                  <c:v>2025 Q1 (Rep)</c:v>
                </c:pt>
                <c:pt idx="6">
                  <c:v>2025 Q2 (Rep)</c:v>
                </c:pt>
                <c:pt idx="7">
                  <c:v>2025 Q3 (Rep)</c:v>
                </c:pt>
              </c:strCache>
            </c:strRef>
          </c:cat>
          <c:val>
            <c:numRef>
              <c:f>[工作簿1.xlsx]Sheet1!$B$10:$I$10</c:f>
              <c:numCache>
                <c:formatCode>0.0_ </c:formatCode>
                <c:ptCount val="8"/>
                <c:pt idx="0">
                  <c:v>-6.2</c:v>
                </c:pt>
                <c:pt idx="1">
                  <c:v>-1.1000000000000001</c:v>
                </c:pt>
                <c:pt idx="2">
                  <c:v>-2.4</c:v>
                </c:pt>
                <c:pt idx="3">
                  <c:v>-6.5</c:v>
                </c:pt>
                <c:pt idx="4">
                  <c:v>-3.6</c:v>
                </c:pt>
                <c:pt idx="5">
                  <c:v>6.9</c:v>
                </c:pt>
                <c:pt idx="6">
                  <c:v>-8.8000000000000007</c:v>
                </c:pt>
                <c:pt idx="7">
                  <c:v>4.7</c:v>
                </c:pt>
              </c:numCache>
            </c:numRef>
          </c:val>
          <c:smooth val="0"/>
          <c:extLst>
            <c:ext xmlns:c16="http://schemas.microsoft.com/office/drawing/2014/chart" uri="{C3380CC4-5D6E-409C-BE32-E72D297353CC}">
              <c16:uniqueId val="{00000008-F246-4BB2-A19E-72053FF3C4D5}"/>
            </c:ext>
          </c:extLst>
        </c:ser>
        <c:ser>
          <c:idx val="9"/>
          <c:order val="9"/>
          <c:tx>
            <c:strRef>
              <c:f>[工作簿1.xlsx]Sheet1!$A$11</c:f>
              <c:strCache>
                <c:ptCount val="1"/>
                <c:pt idx="0">
                  <c:v>雅诗兰黛</c:v>
                </c:pt>
              </c:strCache>
            </c:strRef>
          </c:tx>
          <c:spPr>
            <a:ln w="19050" cap="rnd" cmpd="sng" algn="ctr">
              <a:solidFill>
                <a:srgbClr val="B7DEE8"/>
              </a:solidFill>
              <a:prstDash val="solid"/>
              <a:round/>
            </a:ln>
          </c:spPr>
          <c:marker>
            <c:symbol val="none"/>
          </c:marker>
          <c:cat>
            <c:strRef>
              <c:f>[工作簿1.xlsx]Sheet1!$B$1:$I$1</c:f>
              <c:strCache>
                <c:ptCount val="8"/>
                <c:pt idx="0">
                  <c:v>2023 Q4 (Rep)</c:v>
                </c:pt>
                <c:pt idx="1">
                  <c:v>2024 Q1 (Rep)</c:v>
                </c:pt>
                <c:pt idx="2">
                  <c:v>2024 Q2 (Rep)</c:v>
                </c:pt>
                <c:pt idx="3">
                  <c:v>2024 Q3 (Rep)</c:v>
                </c:pt>
                <c:pt idx="4">
                  <c:v>2024 Q4 (Rep)</c:v>
                </c:pt>
                <c:pt idx="5">
                  <c:v>2025 Q1 (Rep)</c:v>
                </c:pt>
                <c:pt idx="6">
                  <c:v>2025 Q2 (Rep)</c:v>
                </c:pt>
                <c:pt idx="7">
                  <c:v>2025 Q3 (Rep)</c:v>
                </c:pt>
              </c:strCache>
            </c:strRef>
          </c:cat>
          <c:val>
            <c:numRef>
              <c:f>[工作簿1.xlsx]Sheet1!$B$11:$I$11</c:f>
              <c:numCache>
                <c:formatCode>0.0_ </c:formatCode>
                <c:ptCount val="8"/>
                <c:pt idx="0">
                  <c:v>-7</c:v>
                </c:pt>
                <c:pt idx="1">
                  <c:v>3</c:v>
                </c:pt>
                <c:pt idx="2">
                  <c:v>-4</c:v>
                </c:pt>
                <c:pt idx="3">
                  <c:v>-11</c:v>
                </c:pt>
                <c:pt idx="4">
                  <c:v>-11</c:v>
                </c:pt>
                <c:pt idx="5">
                  <c:v>-1</c:v>
                </c:pt>
                <c:pt idx="6">
                  <c:v>0</c:v>
                </c:pt>
                <c:pt idx="7">
                  <c:v>9</c:v>
                </c:pt>
              </c:numCache>
            </c:numRef>
          </c:val>
          <c:smooth val="0"/>
          <c:extLst>
            <c:ext xmlns:c16="http://schemas.microsoft.com/office/drawing/2014/chart" uri="{C3380CC4-5D6E-409C-BE32-E72D297353CC}">
              <c16:uniqueId val="{00000009-F246-4BB2-A19E-72053FF3C4D5}"/>
            </c:ext>
          </c:extLst>
        </c:ser>
        <c:dLbls>
          <c:showLegendKey val="0"/>
          <c:showVal val="0"/>
          <c:showCatName val="0"/>
          <c:showSerName val="0"/>
          <c:showPercent val="0"/>
          <c:showBubbleSize val="0"/>
        </c:dLbls>
        <c:smooth val="0"/>
        <c:axId val="587607064"/>
        <c:axId val="668883922"/>
      </c:lineChart>
      <c:catAx>
        <c:axId val="587607064"/>
        <c:scaling>
          <c:orientation val="minMax"/>
        </c:scaling>
        <c:delete val="0"/>
        <c:axPos val="b"/>
        <c:numFmt formatCode="General" sourceLinked="1"/>
        <c:majorTickMark val="out"/>
        <c:minorTickMark val="none"/>
        <c:tickLblPos val="nextTo"/>
        <c:spPr>
          <a:noFill/>
          <a:ln w="6350" cap="flat" cmpd="sng" algn="ctr">
            <a:solidFill>
              <a:srgbClr val="000000"/>
            </a:solidFill>
            <a:prstDash val="solid"/>
            <a:round/>
          </a:ln>
        </c:spPr>
        <c:txPr>
          <a:bodyPr rot="-60000000" spcFirstLastPara="0" vertOverflow="ellipsis" vert="horz" wrap="square" anchor="ctr" anchorCtr="1" forceAA="0"/>
          <a:lstStyle/>
          <a:p>
            <a:pPr>
              <a:defRPr lang="zh-CN" sz="700" b="0" i="0" u="none" strike="noStrike" kern="1200" baseline="0">
                <a:solidFill>
                  <a:srgbClr val="000000"/>
                </a:solidFill>
                <a:latin typeface="Times New Roman" panose="02020503050405090304" pitchFamily="12"/>
                <a:ea typeface="Times New Roman" panose="02020503050405090304" pitchFamily="12"/>
                <a:cs typeface="Times New Roman" panose="02020503050405090304" pitchFamily="12"/>
              </a:defRPr>
            </a:pPr>
            <a:endParaRPr lang="zh-CN"/>
          </a:p>
        </c:txPr>
        <c:crossAx val="668883922"/>
        <c:crosses val="autoZero"/>
        <c:auto val="1"/>
        <c:lblAlgn val="ctr"/>
        <c:lblOffset val="100"/>
        <c:noMultiLvlLbl val="0"/>
      </c:catAx>
      <c:valAx>
        <c:axId val="668883922"/>
        <c:scaling>
          <c:orientation val="minMax"/>
          <c:max val="30"/>
        </c:scaling>
        <c:delete val="0"/>
        <c:axPos val="l"/>
        <c:numFmt formatCode="0.0_ " sourceLinked="1"/>
        <c:majorTickMark val="out"/>
        <c:minorTickMark val="none"/>
        <c:tickLblPos val="nextTo"/>
        <c:spPr>
          <a:noFill/>
          <a:ln w="6350" cap="flat" cmpd="sng" algn="ctr">
            <a:solidFill>
              <a:srgbClr val="000000"/>
            </a:solidFill>
            <a:prstDash val="solid"/>
            <a:round/>
          </a:ln>
        </c:spPr>
        <c:txPr>
          <a:bodyPr rot="-60000000" spcFirstLastPara="0" vertOverflow="ellipsis" vert="horz" wrap="square" anchor="ctr" anchorCtr="1" forceAA="0"/>
          <a:lstStyle/>
          <a:p>
            <a:pPr>
              <a:defRPr lang="zh-CN" sz="700" b="0" i="0" u="none" strike="noStrike" kern="1200" baseline="0">
                <a:solidFill>
                  <a:srgbClr val="000000"/>
                </a:solidFill>
                <a:latin typeface="Times New Roman" panose="02020503050405090304" pitchFamily="12"/>
                <a:ea typeface="Times New Roman" panose="02020503050405090304" pitchFamily="12"/>
                <a:cs typeface="Times New Roman" panose="02020503050405090304" pitchFamily="12"/>
              </a:defRPr>
            </a:pPr>
            <a:endParaRPr lang="zh-CN"/>
          </a:p>
        </c:txPr>
        <c:crossAx val="587607064"/>
        <c:crosses val="autoZero"/>
        <c:crossBetween val="between"/>
      </c:valAx>
      <c:spPr>
        <a:solidFill>
          <a:sysClr val="window" lastClr="FFFFFF"/>
        </a:solidFill>
        <a:ln>
          <a:noFill/>
        </a:ln>
        <a:effectLst/>
      </c:spPr>
    </c:plotArea>
    <c:legend>
      <c:legendPos val="b"/>
      <c:layout>
        <c:manualLayout>
          <c:xMode val="edge"/>
          <c:yMode val="edge"/>
          <c:x val="4.7058823529411804E-3"/>
          <c:y val="0.777098831030818"/>
          <c:w val="0.99058823529411799"/>
          <c:h val="0.191020191285866"/>
        </c:manualLayout>
      </c:layout>
      <c:overlay val="0"/>
      <c:txPr>
        <a:bodyPr rot="0" spcFirstLastPara="0" vertOverflow="ellipsis" vert="horz" wrap="square" anchor="ctr" anchorCtr="1" forceAA="0"/>
        <a:lstStyle/>
        <a:p>
          <a:pPr>
            <a:defRPr lang="zh-CN" sz="700" b="0" i="0" u="none" strike="noStrike" kern="1200" baseline="0">
              <a:solidFill>
                <a:srgbClr val="000000"/>
              </a:solidFill>
              <a:latin typeface="Times New Roman" panose="02020503050405090304" charset="0"/>
              <a:ea typeface="楷体_GB2312" panose="02010609030101010101" pitchFamily="49" charset="-122"/>
              <a:cs typeface="+mn-cs"/>
            </a:defRPr>
          </a:pPr>
          <a:endParaRPr lang="zh-CN"/>
        </a:p>
      </c:txPr>
    </c:legend>
    <c:plotVisOnly val="1"/>
    <c:dispBlanksAs val="gap"/>
    <c:showDLblsOverMax val="0"/>
  </c:chart>
  <c:spPr>
    <a:ln w="9525" cap="flat" cmpd="sng" algn="ctr">
      <a:noFill/>
      <a:prstDash val="solid"/>
      <a:round/>
    </a:ln>
  </c:spPr>
  <c:txPr>
    <a:bodyPr/>
    <a:lstStyle/>
    <a:p>
      <a:pPr>
        <a:defRPr lang="zh-CN"/>
      </a:pPr>
      <a:endParaRPr lang="zh-CN"/>
    </a:p>
  </c:txPr>
  <c:externalData r:id="rId2">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lineChart>
        <c:grouping val="standard"/>
        <c:varyColors val="0"/>
        <c:ser>
          <c:idx val="0"/>
          <c:order val="0"/>
          <c:spPr>
            <a:ln w="19050" cap="rnd" cmpd="sng" algn="ctr">
              <a:solidFill>
                <a:srgbClr val="3072C4"/>
              </a:solidFill>
              <a:prstDash val="solid"/>
              <a:round/>
              <a:headEnd type="none" w="med" len="med"/>
              <a:tailEnd type="none" w="med" len="med"/>
            </a:ln>
          </c:spPr>
          <c:marker>
            <c:symbol val="none"/>
          </c:marker>
          <c:dLbls>
            <c:dLbl>
              <c:idx val="0"/>
              <c:delete val="1"/>
              <c:extLst>
                <c:ext xmlns:c15="http://schemas.microsoft.com/office/drawing/2012/chart" uri="{CE6537A1-D6FC-4f65-9D91-7224C49458BB}"/>
                <c:ext xmlns:c16="http://schemas.microsoft.com/office/drawing/2014/chart" uri="{C3380CC4-5D6E-409C-BE32-E72D297353CC}">
                  <c16:uniqueId val="{00000000-59AD-4003-9BD5-7CF05A64144F}"/>
                </c:ext>
              </c:extLst>
            </c:dLbl>
            <c:dLbl>
              <c:idx val="1"/>
              <c:delete val="1"/>
              <c:extLst>
                <c:ext xmlns:c15="http://schemas.microsoft.com/office/drawing/2012/chart" uri="{CE6537A1-D6FC-4f65-9D91-7224C49458BB}"/>
                <c:ext xmlns:c16="http://schemas.microsoft.com/office/drawing/2014/chart" uri="{C3380CC4-5D6E-409C-BE32-E72D297353CC}">
                  <c16:uniqueId val="{00000001-59AD-4003-9BD5-7CF05A64144F}"/>
                </c:ext>
              </c:extLst>
            </c:dLbl>
            <c:dLbl>
              <c:idx val="2"/>
              <c:delete val="1"/>
              <c:extLst>
                <c:ext xmlns:c15="http://schemas.microsoft.com/office/drawing/2012/chart" uri="{CE6537A1-D6FC-4f65-9D91-7224C49458BB}"/>
                <c:ext xmlns:c16="http://schemas.microsoft.com/office/drawing/2014/chart" uri="{C3380CC4-5D6E-409C-BE32-E72D297353CC}">
                  <c16:uniqueId val="{00000002-59AD-4003-9BD5-7CF05A64144F}"/>
                </c:ext>
              </c:extLst>
            </c:dLbl>
            <c:dLbl>
              <c:idx val="3"/>
              <c:delete val="1"/>
              <c:extLst>
                <c:ext xmlns:c15="http://schemas.microsoft.com/office/drawing/2012/chart" uri="{CE6537A1-D6FC-4f65-9D91-7224C49458BB}"/>
                <c:ext xmlns:c16="http://schemas.microsoft.com/office/drawing/2014/chart" uri="{C3380CC4-5D6E-409C-BE32-E72D297353CC}">
                  <c16:uniqueId val="{00000003-59AD-4003-9BD5-7CF05A64144F}"/>
                </c:ext>
              </c:extLst>
            </c:dLbl>
            <c:dLbl>
              <c:idx val="4"/>
              <c:delete val="1"/>
              <c:extLst>
                <c:ext xmlns:c15="http://schemas.microsoft.com/office/drawing/2012/chart" uri="{CE6537A1-D6FC-4f65-9D91-7224C49458BB}"/>
                <c:ext xmlns:c16="http://schemas.microsoft.com/office/drawing/2014/chart" uri="{C3380CC4-5D6E-409C-BE32-E72D297353CC}">
                  <c16:uniqueId val="{00000004-59AD-4003-9BD5-7CF05A64144F}"/>
                </c:ext>
              </c:extLst>
            </c:dLbl>
            <c:dLbl>
              <c:idx val="5"/>
              <c:delete val="1"/>
              <c:extLst>
                <c:ext xmlns:c15="http://schemas.microsoft.com/office/drawing/2012/chart" uri="{CE6537A1-D6FC-4f65-9D91-7224C49458BB}"/>
                <c:ext xmlns:c16="http://schemas.microsoft.com/office/drawing/2014/chart" uri="{C3380CC4-5D6E-409C-BE32-E72D297353CC}">
                  <c16:uniqueId val="{00000005-59AD-4003-9BD5-7CF05A64144F}"/>
                </c:ext>
              </c:extLst>
            </c:dLbl>
            <c:dLbl>
              <c:idx val="6"/>
              <c:delete val="1"/>
              <c:extLst>
                <c:ext xmlns:c15="http://schemas.microsoft.com/office/drawing/2012/chart" uri="{CE6537A1-D6FC-4f65-9D91-7224C49458BB}"/>
                <c:ext xmlns:c16="http://schemas.microsoft.com/office/drawing/2014/chart" uri="{C3380CC4-5D6E-409C-BE32-E72D297353CC}">
                  <c16:uniqueId val="{00000006-59AD-4003-9BD5-7CF05A64144F}"/>
                </c:ext>
              </c:extLst>
            </c:dLbl>
            <c:dLbl>
              <c:idx val="7"/>
              <c:delete val="1"/>
              <c:extLst>
                <c:ext xmlns:c15="http://schemas.microsoft.com/office/drawing/2012/chart" uri="{CE6537A1-D6FC-4f65-9D91-7224C49458BB}"/>
                <c:ext xmlns:c16="http://schemas.microsoft.com/office/drawing/2014/chart" uri="{C3380CC4-5D6E-409C-BE32-E72D297353CC}">
                  <c16:uniqueId val="{00000007-59AD-4003-9BD5-7CF05A64144F}"/>
                </c:ext>
              </c:extLst>
            </c:dLbl>
            <c:dLbl>
              <c:idx val="8"/>
              <c:delete val="1"/>
              <c:extLst>
                <c:ext xmlns:c15="http://schemas.microsoft.com/office/drawing/2012/chart" uri="{CE6537A1-D6FC-4f65-9D91-7224C49458BB}"/>
                <c:ext xmlns:c16="http://schemas.microsoft.com/office/drawing/2014/chart" uri="{C3380CC4-5D6E-409C-BE32-E72D297353CC}">
                  <c16:uniqueId val="{00000008-59AD-4003-9BD5-7CF05A64144F}"/>
                </c:ext>
              </c:extLst>
            </c:dLbl>
            <c:dLbl>
              <c:idx val="9"/>
              <c:delete val="1"/>
              <c:extLst>
                <c:ext xmlns:c15="http://schemas.microsoft.com/office/drawing/2012/chart" uri="{CE6537A1-D6FC-4f65-9D91-7224C49458BB}"/>
                <c:ext xmlns:c16="http://schemas.microsoft.com/office/drawing/2014/chart" uri="{C3380CC4-5D6E-409C-BE32-E72D297353CC}">
                  <c16:uniqueId val="{00000009-59AD-4003-9BD5-7CF05A64144F}"/>
                </c:ext>
              </c:extLst>
            </c:dLbl>
            <c:dLbl>
              <c:idx val="10"/>
              <c:delete val="1"/>
              <c:extLst>
                <c:ext xmlns:c15="http://schemas.microsoft.com/office/drawing/2012/chart" uri="{CE6537A1-D6FC-4f65-9D91-7224C49458BB}"/>
                <c:ext xmlns:c16="http://schemas.microsoft.com/office/drawing/2014/chart" uri="{C3380CC4-5D6E-409C-BE32-E72D297353CC}">
                  <c16:uniqueId val="{0000000A-59AD-4003-9BD5-7CF05A64144F}"/>
                </c:ext>
              </c:extLst>
            </c:dLbl>
            <c:dLbl>
              <c:idx val="11"/>
              <c:delete val="1"/>
              <c:extLst>
                <c:ext xmlns:c15="http://schemas.microsoft.com/office/drawing/2012/chart" uri="{CE6537A1-D6FC-4f65-9D91-7224C49458BB}"/>
                <c:ext xmlns:c16="http://schemas.microsoft.com/office/drawing/2014/chart" uri="{C3380CC4-5D6E-409C-BE32-E72D297353CC}">
                  <c16:uniqueId val="{0000000B-59AD-4003-9BD5-7CF05A64144F}"/>
                </c:ext>
              </c:extLst>
            </c:dLbl>
            <c:dLbl>
              <c:idx val="12"/>
              <c:delete val="1"/>
              <c:extLst>
                <c:ext xmlns:c15="http://schemas.microsoft.com/office/drawing/2012/chart" uri="{CE6537A1-D6FC-4f65-9D91-7224C49458BB}"/>
                <c:ext xmlns:c16="http://schemas.microsoft.com/office/drawing/2014/chart" uri="{C3380CC4-5D6E-409C-BE32-E72D297353CC}">
                  <c16:uniqueId val="{0000000C-59AD-4003-9BD5-7CF05A64144F}"/>
                </c:ext>
              </c:extLst>
            </c:dLbl>
            <c:dLbl>
              <c:idx val="13"/>
              <c:delete val="1"/>
              <c:extLst>
                <c:ext xmlns:c15="http://schemas.microsoft.com/office/drawing/2012/chart" uri="{CE6537A1-D6FC-4f65-9D91-7224C49458BB}"/>
                <c:ext xmlns:c16="http://schemas.microsoft.com/office/drawing/2014/chart" uri="{C3380CC4-5D6E-409C-BE32-E72D297353CC}">
                  <c16:uniqueId val="{0000000D-59AD-4003-9BD5-7CF05A64144F}"/>
                </c:ext>
              </c:extLst>
            </c:dLbl>
            <c:dLbl>
              <c:idx val="14"/>
              <c:delete val="1"/>
              <c:extLst>
                <c:ext xmlns:c15="http://schemas.microsoft.com/office/drawing/2012/chart" uri="{CE6537A1-D6FC-4f65-9D91-7224C49458BB}"/>
                <c:ext xmlns:c16="http://schemas.microsoft.com/office/drawing/2014/chart" uri="{C3380CC4-5D6E-409C-BE32-E72D297353CC}">
                  <c16:uniqueId val="{0000000E-59AD-4003-9BD5-7CF05A64144F}"/>
                </c:ext>
              </c:extLst>
            </c:dLbl>
            <c:dLbl>
              <c:idx val="15"/>
              <c:delete val="1"/>
              <c:extLst>
                <c:ext xmlns:c15="http://schemas.microsoft.com/office/drawing/2012/chart" uri="{CE6537A1-D6FC-4f65-9D91-7224C49458BB}"/>
                <c:ext xmlns:c16="http://schemas.microsoft.com/office/drawing/2014/chart" uri="{C3380CC4-5D6E-409C-BE32-E72D297353CC}">
                  <c16:uniqueId val="{0000000F-59AD-4003-9BD5-7CF05A64144F}"/>
                </c:ext>
              </c:extLst>
            </c:dLbl>
            <c:dLbl>
              <c:idx val="16"/>
              <c:delete val="1"/>
              <c:extLst>
                <c:ext xmlns:c15="http://schemas.microsoft.com/office/drawing/2012/chart" uri="{CE6537A1-D6FC-4f65-9D91-7224C49458BB}"/>
                <c:ext xmlns:c16="http://schemas.microsoft.com/office/drawing/2014/chart" uri="{C3380CC4-5D6E-409C-BE32-E72D297353CC}">
                  <c16:uniqueId val="{00000010-59AD-4003-9BD5-7CF05A64144F}"/>
                </c:ext>
              </c:extLst>
            </c:dLbl>
            <c:dLbl>
              <c:idx val="17"/>
              <c:delete val="1"/>
              <c:extLst>
                <c:ext xmlns:c15="http://schemas.microsoft.com/office/drawing/2012/chart" uri="{CE6537A1-D6FC-4f65-9D91-7224C49458BB}"/>
                <c:ext xmlns:c16="http://schemas.microsoft.com/office/drawing/2014/chart" uri="{C3380CC4-5D6E-409C-BE32-E72D297353CC}">
                  <c16:uniqueId val="{00000011-59AD-4003-9BD5-7CF05A64144F}"/>
                </c:ext>
              </c:extLst>
            </c:dLbl>
            <c:dLbl>
              <c:idx val="18"/>
              <c:delete val="1"/>
              <c:extLst>
                <c:ext xmlns:c15="http://schemas.microsoft.com/office/drawing/2012/chart" uri="{CE6537A1-D6FC-4f65-9D91-7224C49458BB}"/>
                <c:ext xmlns:c16="http://schemas.microsoft.com/office/drawing/2014/chart" uri="{C3380CC4-5D6E-409C-BE32-E72D297353CC}">
                  <c16:uniqueId val="{00000012-59AD-4003-9BD5-7CF05A64144F}"/>
                </c:ext>
              </c:extLst>
            </c:dLbl>
            <c:dLbl>
              <c:idx val="19"/>
              <c:delete val="1"/>
              <c:extLst>
                <c:ext xmlns:c15="http://schemas.microsoft.com/office/drawing/2012/chart" uri="{CE6537A1-D6FC-4f65-9D91-7224C49458BB}"/>
                <c:ext xmlns:c16="http://schemas.microsoft.com/office/drawing/2014/chart" uri="{C3380CC4-5D6E-409C-BE32-E72D297353CC}">
                  <c16:uniqueId val="{00000013-59AD-4003-9BD5-7CF05A64144F}"/>
                </c:ext>
              </c:extLst>
            </c:dLbl>
            <c:dLbl>
              <c:idx val="20"/>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4-59AD-4003-9BD5-7CF05A64144F}"/>
                </c:ext>
              </c:extLst>
            </c:dLbl>
            <c:spPr>
              <a:noFill/>
              <a:ln>
                <a:noFill/>
              </a:ln>
              <a:effectLst/>
            </c:spPr>
            <c:txPr>
              <a:bodyPr rot="0" spcFirstLastPara="0" vertOverflow="ellipsis" vert="horz" wrap="square" lIns="38100" tIns="19050" rIns="38100" bIns="19050" anchor="ctr" anchorCtr="1"/>
              <a:lstStyle/>
              <a:p>
                <a:pPr>
                  <a:defRPr lang="zh-CN" sz="800" b="0" i="0" u="none" strike="noStrike" kern="1200" baseline="0">
                    <a:solidFill>
                      <a:srgbClr val="000000"/>
                    </a:solidFill>
                    <a:latin typeface="华文楷体" panose="02010600040101010101" charset="-122"/>
                    <a:ea typeface="华文楷体" panose="02010600040101010101" charset="-122"/>
                    <a:cs typeface="华文楷体" panose="02010600040101010101" charset="-122"/>
                  </a:defRPr>
                </a:pPr>
                <a:endParaRPr lang="zh-CN"/>
              </a:p>
            </c:txPr>
            <c:dLblPos val="r"/>
            <c:showLegendKey val="0"/>
            <c:showVal val="0"/>
            <c:showCatName val="0"/>
            <c:showSerName val="0"/>
            <c:showPercent val="0"/>
            <c:showBubbleSize val="0"/>
            <c:extLst>
              <c:ext xmlns:c15="http://schemas.microsoft.com/office/drawing/2012/chart" uri="{CE6537A1-D6FC-4f65-9D91-7224C49458BB}">
                <c15:showLeaderLines val="1"/>
              </c:ext>
            </c:extLst>
          </c:dLbls>
          <c:cat>
            <c:numRef>
              <c:f>'月度-海口海关-海南免税数据库'!$C$156:$C$176</c:f>
              <c:numCache>
                <c:formatCode>yyyy\-mm;@</c:formatCode>
                <c:ptCount val="21"/>
                <c:pt idx="0">
                  <c:v>45322</c:v>
                </c:pt>
                <c:pt idx="1">
                  <c:v>45351</c:v>
                </c:pt>
                <c:pt idx="2">
                  <c:v>45382</c:v>
                </c:pt>
                <c:pt idx="3">
                  <c:v>45412</c:v>
                </c:pt>
                <c:pt idx="4">
                  <c:v>45443</c:v>
                </c:pt>
                <c:pt idx="5">
                  <c:v>45473</c:v>
                </c:pt>
                <c:pt idx="6">
                  <c:v>45504</c:v>
                </c:pt>
                <c:pt idx="7">
                  <c:v>45535</c:v>
                </c:pt>
                <c:pt idx="8">
                  <c:v>45565</c:v>
                </c:pt>
                <c:pt idx="9">
                  <c:v>45596</c:v>
                </c:pt>
                <c:pt idx="10">
                  <c:v>45626</c:v>
                </c:pt>
                <c:pt idx="11">
                  <c:v>45657</c:v>
                </c:pt>
                <c:pt idx="12">
                  <c:v>45688</c:v>
                </c:pt>
                <c:pt idx="13">
                  <c:v>45716</c:v>
                </c:pt>
                <c:pt idx="14">
                  <c:v>45747</c:v>
                </c:pt>
                <c:pt idx="15">
                  <c:v>45777</c:v>
                </c:pt>
                <c:pt idx="16">
                  <c:v>45808</c:v>
                </c:pt>
                <c:pt idx="17">
                  <c:v>45838</c:v>
                </c:pt>
                <c:pt idx="18">
                  <c:v>45869</c:v>
                </c:pt>
                <c:pt idx="19">
                  <c:v>45900</c:v>
                </c:pt>
                <c:pt idx="20">
                  <c:v>45930</c:v>
                </c:pt>
              </c:numCache>
            </c:numRef>
          </c:cat>
          <c:val>
            <c:numRef>
              <c:f>'月度-海口海关-海南免税数据库'!$D$156:$D$176</c:f>
              <c:numCache>
                <c:formatCode>0.00%</c:formatCode>
                <c:ptCount val="21"/>
                <c:pt idx="0">
                  <c:v>-0.43445909468529698</c:v>
                </c:pt>
                <c:pt idx="1">
                  <c:v>2.4691918580403802E-2</c:v>
                </c:pt>
                <c:pt idx="2">
                  <c:v>-0.32603394545486603</c:v>
                </c:pt>
                <c:pt idx="3">
                  <c:v>-0.445147199693467</c:v>
                </c:pt>
                <c:pt idx="4">
                  <c:v>-0.38275208047396497</c:v>
                </c:pt>
                <c:pt idx="5">
                  <c:v>-0.329432481629999</c:v>
                </c:pt>
                <c:pt idx="6">
                  <c:v>-0.35872318606555498</c:v>
                </c:pt>
                <c:pt idx="7">
                  <c:v>-0.33119939117199398</c:v>
                </c:pt>
                <c:pt idx="8">
                  <c:v>-0.38374234820492997</c:v>
                </c:pt>
                <c:pt idx="9">
                  <c:v>-0.35371379132589498</c:v>
                </c:pt>
                <c:pt idx="10">
                  <c:v>-0.224123352399901</c:v>
                </c:pt>
                <c:pt idx="11">
                  <c:v>-5.7936428486083498E-2</c:v>
                </c:pt>
                <c:pt idx="12">
                  <c:v>-0.13295570513699201</c:v>
                </c:pt>
                <c:pt idx="13">
                  <c:v>-0.13351692265779999</c:v>
                </c:pt>
                <c:pt idx="14">
                  <c:v>-5.34656504503093E-2</c:v>
                </c:pt>
                <c:pt idx="15">
                  <c:v>-6.8463383530300001E-2</c:v>
                </c:pt>
                <c:pt idx="16">
                  <c:v>-8.6452653657789202E-3</c:v>
                </c:pt>
                <c:pt idx="17">
                  <c:v>-4.7129643534576202E-2</c:v>
                </c:pt>
                <c:pt idx="18">
                  <c:v>-6.6549316785011095E-2</c:v>
                </c:pt>
                <c:pt idx="19">
                  <c:v>-4.1724889736505601E-2</c:v>
                </c:pt>
                <c:pt idx="20">
                  <c:v>3.4154839248533797E-2</c:v>
                </c:pt>
              </c:numCache>
            </c:numRef>
          </c:val>
          <c:smooth val="0"/>
          <c:extLst>
            <c:ext xmlns:c16="http://schemas.microsoft.com/office/drawing/2014/chart" uri="{C3380CC4-5D6E-409C-BE32-E72D297353CC}">
              <c16:uniqueId val="{00000015-59AD-4003-9BD5-7CF05A64144F}"/>
            </c:ext>
          </c:extLst>
        </c:ser>
        <c:dLbls>
          <c:showLegendKey val="0"/>
          <c:showVal val="0"/>
          <c:showCatName val="0"/>
          <c:showSerName val="0"/>
          <c:showPercent val="0"/>
          <c:showBubbleSize val="0"/>
        </c:dLbls>
        <c:smooth val="0"/>
        <c:axId val="1745960752"/>
        <c:axId val="1745952592"/>
      </c:lineChart>
      <c:dateAx>
        <c:axId val="1745960752"/>
        <c:scaling>
          <c:orientation val="minMax"/>
        </c:scaling>
        <c:delete val="0"/>
        <c:axPos val="b"/>
        <c:numFmt formatCode="yyyy\-mm;@" sourceLinked="1"/>
        <c:majorTickMark val="out"/>
        <c:minorTickMark val="none"/>
        <c:tickLblPos val="low"/>
        <c:spPr>
          <a:ln w="6350" cap="flat" cmpd="sng" algn="ctr">
            <a:solidFill>
              <a:sysClr val="windowText" lastClr="000000">
                <a:lumMod val="100000"/>
              </a:sysClr>
            </a:solidFill>
            <a:prstDash val="solid"/>
            <a:round/>
          </a:ln>
        </c:spPr>
        <c:txPr>
          <a:bodyPr rot="-60000000" spcFirstLastPara="0" vertOverflow="ellipsis" vert="horz" wrap="square" anchor="ctr" anchorCtr="1"/>
          <a:lstStyle/>
          <a:p>
            <a:pPr>
              <a:defRPr lang="zh-CN" sz="800" b="0" i="0" u="none" strike="noStrike" kern="1200" baseline="0">
                <a:solidFill>
                  <a:srgbClr val="000000"/>
                </a:solidFill>
                <a:latin typeface="华文楷体" panose="02010600040101010101" charset="-122"/>
                <a:ea typeface="华文楷体" panose="02010600040101010101" charset="-122"/>
                <a:cs typeface="华文楷体" panose="02010600040101010101" charset="-122"/>
              </a:defRPr>
            </a:pPr>
            <a:endParaRPr lang="zh-CN"/>
          </a:p>
        </c:txPr>
        <c:crossAx val="1745952592"/>
        <c:crosses val="autoZero"/>
        <c:auto val="1"/>
        <c:lblOffset val="100"/>
        <c:baseTimeUnit val="months"/>
        <c:majorUnit val="1"/>
        <c:majorTimeUnit val="months"/>
      </c:dateAx>
      <c:valAx>
        <c:axId val="1745952592"/>
        <c:scaling>
          <c:orientation val="minMax"/>
        </c:scaling>
        <c:delete val="0"/>
        <c:axPos val="l"/>
        <c:numFmt formatCode="0%" sourceLinked="0"/>
        <c:majorTickMark val="out"/>
        <c:minorTickMark val="none"/>
        <c:tickLblPos val="nextTo"/>
        <c:spPr>
          <a:ln w="6350" cap="flat" cmpd="sng" algn="ctr">
            <a:solidFill>
              <a:sysClr val="windowText" lastClr="000000">
                <a:lumMod val="100000"/>
              </a:sysClr>
            </a:solidFill>
            <a:prstDash val="solid"/>
            <a:round/>
          </a:ln>
        </c:spPr>
        <c:txPr>
          <a:bodyPr rot="-60000000" spcFirstLastPara="0" vertOverflow="ellipsis" vert="horz" wrap="square" anchor="ctr" anchorCtr="1"/>
          <a:lstStyle/>
          <a:p>
            <a:pPr>
              <a:defRPr lang="zh-CN" sz="800" b="0" i="0" u="none" strike="noStrike" kern="1200" baseline="0">
                <a:solidFill>
                  <a:srgbClr val="000000"/>
                </a:solidFill>
                <a:latin typeface="华文楷体" panose="02010600040101010101" charset="-122"/>
                <a:ea typeface="华文楷体" panose="02010600040101010101" charset="-122"/>
                <a:cs typeface="华文楷体" panose="02010600040101010101" charset="-122"/>
              </a:defRPr>
            </a:pPr>
            <a:endParaRPr lang="zh-CN"/>
          </a:p>
        </c:txPr>
        <c:crossAx val="1745960752"/>
        <c:crosses val="autoZero"/>
        <c:crossBetween val="between"/>
      </c:valAx>
      <c:spPr>
        <a:noFill/>
        <a:ln w="25400">
          <a:noFill/>
        </a:ln>
      </c:spPr>
    </c:plotArea>
    <c:plotVisOnly val="1"/>
    <c:dispBlanksAs val="gap"/>
    <c:showDLblsOverMax val="0"/>
  </c:chart>
  <c:spPr>
    <a:noFill/>
    <a:ln w="6350" cap="flat" cmpd="sng" algn="ctr">
      <a:noFill/>
      <a:prstDash val="solid"/>
      <a:round/>
    </a:ln>
  </c:spPr>
  <c:txPr>
    <a:bodyPr/>
    <a:lstStyle/>
    <a:p>
      <a:pPr>
        <a:defRPr lang="zh-CN" sz="800" b="0" i="0">
          <a:solidFill>
            <a:srgbClr val="000000"/>
          </a:solidFill>
          <a:latin typeface="华文楷体" panose="02010600040101010101" charset="-122"/>
          <a:ea typeface="华文楷体" panose="02010600040101010101" charset="-122"/>
          <a:cs typeface="华文楷体" panose="02010600040101010101" charset="-122"/>
        </a:defRPr>
      </a:pPr>
      <a:endParaRPr lang="zh-CN"/>
    </a:p>
  </c:txPr>
  <c:externalData r:id="rId2">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9.6880222841225605E-2"/>
          <c:y val="5.1857949200376299E-2"/>
          <c:w val="0.88041782729804996"/>
          <c:h val="0.67448259642521202"/>
        </c:manualLayout>
      </c:layout>
      <c:lineChart>
        <c:grouping val="standard"/>
        <c:varyColors val="0"/>
        <c:ser>
          <c:idx val="0"/>
          <c:order val="0"/>
          <c:tx>
            <c:strRef>
              <c:f>'[副本奢侈品集团2010起亚太区增速变化.xlsx]奢侈品亚太&amp;海南'!$D$5</c:f>
              <c:strCache>
                <c:ptCount val="1"/>
                <c:pt idx="0">
                  <c:v>LVMH亚太yoy</c:v>
                </c:pt>
              </c:strCache>
            </c:strRef>
          </c:tx>
          <c:spPr>
            <a:ln w="28575" cap="rnd">
              <a:solidFill>
                <a:schemeClr val="accent1"/>
              </a:solidFill>
              <a:round/>
            </a:ln>
            <a:effectLst/>
          </c:spPr>
          <c:marker>
            <c:symbol val="none"/>
          </c:marker>
          <c:cat>
            <c:strRef>
              <c:f>'[副本奢侈品集团2010起亚太区增速变化.xlsx]奢侈品亚太&amp;海南'!$N$4:$BO$4</c:f>
              <c:strCache>
                <c:ptCount val="54"/>
                <c:pt idx="0">
                  <c:v>2Q12</c:v>
                </c:pt>
                <c:pt idx="1">
                  <c:v>3Q12</c:v>
                </c:pt>
                <c:pt idx="2">
                  <c:v>4Q12</c:v>
                </c:pt>
                <c:pt idx="3">
                  <c:v>1Q13</c:v>
                </c:pt>
                <c:pt idx="4">
                  <c:v>2Q13</c:v>
                </c:pt>
                <c:pt idx="5">
                  <c:v>3Q13</c:v>
                </c:pt>
                <c:pt idx="6">
                  <c:v>4Q13</c:v>
                </c:pt>
                <c:pt idx="7">
                  <c:v>1Q14</c:v>
                </c:pt>
                <c:pt idx="8">
                  <c:v>2Q14</c:v>
                </c:pt>
                <c:pt idx="9">
                  <c:v>3Q14</c:v>
                </c:pt>
                <c:pt idx="10">
                  <c:v>4Q14</c:v>
                </c:pt>
                <c:pt idx="11">
                  <c:v>1Q15</c:v>
                </c:pt>
                <c:pt idx="12">
                  <c:v>2Q15</c:v>
                </c:pt>
                <c:pt idx="13">
                  <c:v>3Q15</c:v>
                </c:pt>
                <c:pt idx="14">
                  <c:v>4Q15</c:v>
                </c:pt>
                <c:pt idx="15">
                  <c:v>1Q16</c:v>
                </c:pt>
                <c:pt idx="16">
                  <c:v>2Q16</c:v>
                </c:pt>
                <c:pt idx="17">
                  <c:v>3Q16</c:v>
                </c:pt>
                <c:pt idx="18">
                  <c:v>4Q16</c:v>
                </c:pt>
                <c:pt idx="19">
                  <c:v>1Q17</c:v>
                </c:pt>
                <c:pt idx="20">
                  <c:v>2Q17</c:v>
                </c:pt>
                <c:pt idx="21">
                  <c:v>3Q17</c:v>
                </c:pt>
                <c:pt idx="22">
                  <c:v>4Q17</c:v>
                </c:pt>
                <c:pt idx="23">
                  <c:v>1Q18</c:v>
                </c:pt>
                <c:pt idx="24">
                  <c:v>2Q18</c:v>
                </c:pt>
                <c:pt idx="25">
                  <c:v>3Q18</c:v>
                </c:pt>
                <c:pt idx="26">
                  <c:v>4Q18</c:v>
                </c:pt>
                <c:pt idx="27">
                  <c:v>1Q19</c:v>
                </c:pt>
                <c:pt idx="28">
                  <c:v>2Q19</c:v>
                </c:pt>
                <c:pt idx="29">
                  <c:v>3Q19</c:v>
                </c:pt>
                <c:pt idx="30">
                  <c:v>4Q19</c:v>
                </c:pt>
                <c:pt idx="31">
                  <c:v>1Q20</c:v>
                </c:pt>
                <c:pt idx="32">
                  <c:v>2Q20</c:v>
                </c:pt>
                <c:pt idx="33">
                  <c:v>3Q20</c:v>
                </c:pt>
                <c:pt idx="34">
                  <c:v>4Q20</c:v>
                </c:pt>
                <c:pt idx="35">
                  <c:v>1Q21</c:v>
                </c:pt>
                <c:pt idx="36">
                  <c:v>2Q21</c:v>
                </c:pt>
                <c:pt idx="37">
                  <c:v>3Q21</c:v>
                </c:pt>
                <c:pt idx="38">
                  <c:v>4Q21</c:v>
                </c:pt>
                <c:pt idx="39">
                  <c:v>1Q22</c:v>
                </c:pt>
                <c:pt idx="40">
                  <c:v>2Q22</c:v>
                </c:pt>
                <c:pt idx="41">
                  <c:v>3Q22</c:v>
                </c:pt>
                <c:pt idx="42">
                  <c:v>4Q22</c:v>
                </c:pt>
                <c:pt idx="43">
                  <c:v>1Q23</c:v>
                </c:pt>
                <c:pt idx="44">
                  <c:v>2Q23</c:v>
                </c:pt>
                <c:pt idx="45">
                  <c:v>3Q23</c:v>
                </c:pt>
                <c:pt idx="46">
                  <c:v>4Q23</c:v>
                </c:pt>
                <c:pt idx="47">
                  <c:v>1Q24</c:v>
                </c:pt>
                <c:pt idx="48">
                  <c:v>2Q24</c:v>
                </c:pt>
                <c:pt idx="49">
                  <c:v>3Q24</c:v>
                </c:pt>
                <c:pt idx="50">
                  <c:v>4Q24</c:v>
                </c:pt>
                <c:pt idx="51">
                  <c:v>1Q25</c:v>
                </c:pt>
                <c:pt idx="52">
                  <c:v>2Q25</c:v>
                </c:pt>
                <c:pt idx="53">
                  <c:v>3Q25</c:v>
                </c:pt>
              </c:strCache>
            </c:strRef>
          </c:cat>
          <c:val>
            <c:numRef>
              <c:f>'[副本奢侈品集团2010起亚太区增速变化.xlsx]奢侈品亚太&amp;海南'!$N$5:$BO$5</c:f>
              <c:numCache>
                <c:formatCode>General</c:formatCode>
                <c:ptCount val="54"/>
                <c:pt idx="0">
                  <c:v>13</c:v>
                </c:pt>
                <c:pt idx="1">
                  <c:v>3</c:v>
                </c:pt>
                <c:pt idx="2">
                  <c:v>8</c:v>
                </c:pt>
                <c:pt idx="3">
                  <c:v>12</c:v>
                </c:pt>
                <c:pt idx="4">
                  <c:v>14</c:v>
                </c:pt>
                <c:pt idx="5">
                  <c:v>13</c:v>
                </c:pt>
                <c:pt idx="6">
                  <c:v>11</c:v>
                </c:pt>
                <c:pt idx="7">
                  <c:v>4</c:v>
                </c:pt>
                <c:pt idx="8">
                  <c:v>3</c:v>
                </c:pt>
                <c:pt idx="9">
                  <c:v>-3</c:v>
                </c:pt>
                <c:pt idx="10">
                  <c:v>-8</c:v>
                </c:pt>
                <c:pt idx="11">
                  <c:v>-6</c:v>
                </c:pt>
                <c:pt idx="12">
                  <c:v>5</c:v>
                </c:pt>
                <c:pt idx="13">
                  <c:v>-8</c:v>
                </c:pt>
                <c:pt idx="14">
                  <c:v>-2</c:v>
                </c:pt>
                <c:pt idx="15">
                  <c:v>-2</c:v>
                </c:pt>
                <c:pt idx="16">
                  <c:v>3</c:v>
                </c:pt>
                <c:pt idx="17">
                  <c:v>10</c:v>
                </c:pt>
                <c:pt idx="18">
                  <c:v>10</c:v>
                </c:pt>
                <c:pt idx="19">
                  <c:v>20</c:v>
                </c:pt>
                <c:pt idx="20">
                  <c:v>17</c:v>
                </c:pt>
                <c:pt idx="21">
                  <c:v>21</c:v>
                </c:pt>
                <c:pt idx="22">
                  <c:v>12</c:v>
                </c:pt>
                <c:pt idx="23">
                  <c:v>21</c:v>
                </c:pt>
                <c:pt idx="24">
                  <c:v>15</c:v>
                </c:pt>
                <c:pt idx="25">
                  <c:v>11</c:v>
                </c:pt>
                <c:pt idx="26">
                  <c:v>15</c:v>
                </c:pt>
                <c:pt idx="27">
                  <c:v>17</c:v>
                </c:pt>
                <c:pt idx="28">
                  <c:v>18</c:v>
                </c:pt>
                <c:pt idx="29">
                  <c:v>12</c:v>
                </c:pt>
                <c:pt idx="30">
                  <c:v>11</c:v>
                </c:pt>
                <c:pt idx="31">
                  <c:v>-32</c:v>
                </c:pt>
                <c:pt idx="32">
                  <c:v>-13</c:v>
                </c:pt>
                <c:pt idx="33">
                  <c:v>13</c:v>
                </c:pt>
                <c:pt idx="34">
                  <c:v>21</c:v>
                </c:pt>
                <c:pt idx="35">
                  <c:v>86</c:v>
                </c:pt>
                <c:pt idx="36">
                  <c:v>54</c:v>
                </c:pt>
                <c:pt idx="37">
                  <c:v>12</c:v>
                </c:pt>
                <c:pt idx="38">
                  <c:v>16</c:v>
                </c:pt>
                <c:pt idx="39">
                  <c:v>8</c:v>
                </c:pt>
                <c:pt idx="40">
                  <c:v>-8</c:v>
                </c:pt>
                <c:pt idx="41">
                  <c:v>6</c:v>
                </c:pt>
                <c:pt idx="42">
                  <c:v>-8</c:v>
                </c:pt>
                <c:pt idx="43">
                  <c:v>14</c:v>
                </c:pt>
                <c:pt idx="44">
                  <c:v>34</c:v>
                </c:pt>
                <c:pt idx="45">
                  <c:v>11</c:v>
                </c:pt>
                <c:pt idx="46">
                  <c:v>15</c:v>
                </c:pt>
                <c:pt idx="47">
                  <c:v>-6</c:v>
                </c:pt>
                <c:pt idx="48">
                  <c:v>-14</c:v>
                </c:pt>
                <c:pt idx="49">
                  <c:v>-16</c:v>
                </c:pt>
                <c:pt idx="50">
                  <c:v>-10</c:v>
                </c:pt>
                <c:pt idx="51">
                  <c:v>-11</c:v>
                </c:pt>
                <c:pt idx="52">
                  <c:v>-6</c:v>
                </c:pt>
                <c:pt idx="53">
                  <c:v>2</c:v>
                </c:pt>
              </c:numCache>
            </c:numRef>
          </c:val>
          <c:smooth val="0"/>
          <c:extLst>
            <c:ext xmlns:c16="http://schemas.microsoft.com/office/drawing/2014/chart" uri="{C3380CC4-5D6E-409C-BE32-E72D297353CC}">
              <c16:uniqueId val="{00000000-7892-45EE-82AF-2BC7DCA24F5E}"/>
            </c:ext>
          </c:extLst>
        </c:ser>
        <c:dLbls>
          <c:showLegendKey val="0"/>
          <c:showVal val="0"/>
          <c:showCatName val="0"/>
          <c:showSerName val="0"/>
          <c:showPercent val="0"/>
          <c:showBubbleSize val="0"/>
        </c:dLbls>
        <c:marker val="1"/>
        <c:smooth val="0"/>
        <c:axId val="592438687"/>
        <c:axId val="257472445"/>
      </c:lineChart>
      <c:lineChart>
        <c:grouping val="standard"/>
        <c:varyColors val="0"/>
        <c:ser>
          <c:idx val="1"/>
          <c:order val="1"/>
          <c:tx>
            <c:strRef>
              <c:f>'[副本奢侈品集团2010起亚太区增速变化.xlsx]奢侈品亚太&amp;海南'!$D$6</c:f>
              <c:strCache>
                <c:ptCount val="1"/>
                <c:pt idx="0">
                  <c:v>海南离岛免税yoy（右轴）</c:v>
                </c:pt>
              </c:strCache>
            </c:strRef>
          </c:tx>
          <c:spPr>
            <a:ln w="28575" cap="rnd">
              <a:solidFill>
                <a:schemeClr val="accent2"/>
              </a:solidFill>
              <a:round/>
            </a:ln>
            <a:effectLst/>
          </c:spPr>
          <c:marker>
            <c:symbol val="none"/>
          </c:marker>
          <c:cat>
            <c:strRef>
              <c:f>'[副本奢侈品集团2010起亚太区增速变化.xlsx]奢侈品亚太&amp;海南'!$N$4:$BO$4</c:f>
              <c:strCache>
                <c:ptCount val="54"/>
                <c:pt idx="0">
                  <c:v>2Q12</c:v>
                </c:pt>
                <c:pt idx="1">
                  <c:v>3Q12</c:v>
                </c:pt>
                <c:pt idx="2">
                  <c:v>4Q12</c:v>
                </c:pt>
                <c:pt idx="3">
                  <c:v>1Q13</c:v>
                </c:pt>
                <c:pt idx="4">
                  <c:v>2Q13</c:v>
                </c:pt>
                <c:pt idx="5">
                  <c:v>3Q13</c:v>
                </c:pt>
                <c:pt idx="6">
                  <c:v>4Q13</c:v>
                </c:pt>
                <c:pt idx="7">
                  <c:v>1Q14</c:v>
                </c:pt>
                <c:pt idx="8">
                  <c:v>2Q14</c:v>
                </c:pt>
                <c:pt idx="9">
                  <c:v>3Q14</c:v>
                </c:pt>
                <c:pt idx="10">
                  <c:v>4Q14</c:v>
                </c:pt>
                <c:pt idx="11">
                  <c:v>1Q15</c:v>
                </c:pt>
                <c:pt idx="12">
                  <c:v>2Q15</c:v>
                </c:pt>
                <c:pt idx="13">
                  <c:v>3Q15</c:v>
                </c:pt>
                <c:pt idx="14">
                  <c:v>4Q15</c:v>
                </c:pt>
                <c:pt idx="15">
                  <c:v>1Q16</c:v>
                </c:pt>
                <c:pt idx="16">
                  <c:v>2Q16</c:v>
                </c:pt>
                <c:pt idx="17">
                  <c:v>3Q16</c:v>
                </c:pt>
                <c:pt idx="18">
                  <c:v>4Q16</c:v>
                </c:pt>
                <c:pt idx="19">
                  <c:v>1Q17</c:v>
                </c:pt>
                <c:pt idx="20">
                  <c:v>2Q17</c:v>
                </c:pt>
                <c:pt idx="21">
                  <c:v>3Q17</c:v>
                </c:pt>
                <c:pt idx="22">
                  <c:v>4Q17</c:v>
                </c:pt>
                <c:pt idx="23">
                  <c:v>1Q18</c:v>
                </c:pt>
                <c:pt idx="24">
                  <c:v>2Q18</c:v>
                </c:pt>
                <c:pt idx="25">
                  <c:v>3Q18</c:v>
                </c:pt>
                <c:pt idx="26">
                  <c:v>4Q18</c:v>
                </c:pt>
                <c:pt idx="27">
                  <c:v>1Q19</c:v>
                </c:pt>
                <c:pt idx="28">
                  <c:v>2Q19</c:v>
                </c:pt>
                <c:pt idx="29">
                  <c:v>3Q19</c:v>
                </c:pt>
                <c:pt idx="30">
                  <c:v>4Q19</c:v>
                </c:pt>
                <c:pt idx="31">
                  <c:v>1Q20</c:v>
                </c:pt>
                <c:pt idx="32">
                  <c:v>2Q20</c:v>
                </c:pt>
                <c:pt idx="33">
                  <c:v>3Q20</c:v>
                </c:pt>
                <c:pt idx="34">
                  <c:v>4Q20</c:v>
                </c:pt>
                <c:pt idx="35">
                  <c:v>1Q21</c:v>
                </c:pt>
                <c:pt idx="36">
                  <c:v>2Q21</c:v>
                </c:pt>
                <c:pt idx="37">
                  <c:v>3Q21</c:v>
                </c:pt>
                <c:pt idx="38">
                  <c:v>4Q21</c:v>
                </c:pt>
                <c:pt idx="39">
                  <c:v>1Q22</c:v>
                </c:pt>
                <c:pt idx="40">
                  <c:v>2Q22</c:v>
                </c:pt>
                <c:pt idx="41">
                  <c:v>3Q22</c:v>
                </c:pt>
                <c:pt idx="42">
                  <c:v>4Q22</c:v>
                </c:pt>
                <c:pt idx="43">
                  <c:v>1Q23</c:v>
                </c:pt>
                <c:pt idx="44">
                  <c:v>2Q23</c:v>
                </c:pt>
                <c:pt idx="45">
                  <c:v>3Q23</c:v>
                </c:pt>
                <c:pt idx="46">
                  <c:v>4Q23</c:v>
                </c:pt>
                <c:pt idx="47">
                  <c:v>1Q24</c:v>
                </c:pt>
                <c:pt idx="48">
                  <c:v>2Q24</c:v>
                </c:pt>
                <c:pt idx="49">
                  <c:v>3Q24</c:v>
                </c:pt>
                <c:pt idx="50">
                  <c:v>4Q24</c:v>
                </c:pt>
                <c:pt idx="51">
                  <c:v>1Q25</c:v>
                </c:pt>
                <c:pt idx="52">
                  <c:v>2Q25</c:v>
                </c:pt>
                <c:pt idx="53">
                  <c:v>3Q25</c:v>
                </c:pt>
              </c:strCache>
            </c:strRef>
          </c:cat>
          <c:val>
            <c:numRef>
              <c:f>'[副本奢侈品集团2010起亚太区增速变化.xlsx]奢侈品亚太&amp;海南'!$N$6:$BO$6</c:f>
              <c:numCache>
                <c:formatCode>0.00_);[Red]\(0.00\)</c:formatCode>
                <c:ptCount val="54"/>
                <c:pt idx="0">
                  <c:v>119.878963931252</c:v>
                </c:pt>
                <c:pt idx="1">
                  <c:v>52.4792776791001</c:v>
                </c:pt>
                <c:pt idx="2">
                  <c:v>54.359535090916403</c:v>
                </c:pt>
                <c:pt idx="3">
                  <c:v>59.3411232772239</c:v>
                </c:pt>
                <c:pt idx="4">
                  <c:v>34.921613528271997</c:v>
                </c:pt>
                <c:pt idx="5">
                  <c:v>42.064262486045699</c:v>
                </c:pt>
                <c:pt idx="6">
                  <c:v>21.139416517997699</c:v>
                </c:pt>
                <c:pt idx="7">
                  <c:v>29.421970752386699</c:v>
                </c:pt>
                <c:pt idx="8">
                  <c:v>18.444415431816701</c:v>
                </c:pt>
                <c:pt idx="9">
                  <c:v>40.784775961324897</c:v>
                </c:pt>
                <c:pt idx="10">
                  <c:v>35.686053688804201</c:v>
                </c:pt>
                <c:pt idx="11">
                  <c:v>40.6967145451544</c:v>
                </c:pt>
                <c:pt idx="12">
                  <c:v>46.286753561685401</c:v>
                </c:pt>
                <c:pt idx="13">
                  <c:v>15.326279515616299</c:v>
                </c:pt>
                <c:pt idx="14">
                  <c:v>11.3477837544492</c:v>
                </c:pt>
                <c:pt idx="15">
                  <c:v>6.0295705233513397</c:v>
                </c:pt>
                <c:pt idx="16">
                  <c:v>1.38360396338018</c:v>
                </c:pt>
                <c:pt idx="17">
                  <c:v>8.2476721552948504</c:v>
                </c:pt>
                <c:pt idx="18">
                  <c:v>22.3471735437676</c:v>
                </c:pt>
                <c:pt idx="19">
                  <c:v>19.258419803803498</c:v>
                </c:pt>
                <c:pt idx="20">
                  <c:v>42.970615285996999</c:v>
                </c:pt>
                <c:pt idx="21">
                  <c:v>51.058473620776802</c:v>
                </c:pt>
                <c:pt idx="22">
                  <c:v>29.902167545401301</c:v>
                </c:pt>
                <c:pt idx="23">
                  <c:v>24.084632516703799</c:v>
                </c:pt>
                <c:pt idx="24">
                  <c:v>26.1892849020436</c:v>
                </c:pt>
                <c:pt idx="25">
                  <c:v>24.705466010359402</c:v>
                </c:pt>
                <c:pt idx="26">
                  <c:v>13.8187000266074</c:v>
                </c:pt>
                <c:pt idx="27">
                  <c:v>27.844886384032701</c:v>
                </c:pt>
                <c:pt idx="28">
                  <c:v>21.7168986452041</c:v>
                </c:pt>
                <c:pt idx="29">
                  <c:v>35.5686725727642</c:v>
                </c:pt>
                <c:pt idx="30">
                  <c:v>67.497672207143907</c:v>
                </c:pt>
                <c:pt idx="31">
                  <c:v>-30.314134288020799</c:v>
                </c:pt>
                <c:pt idx="32">
                  <c:v>91.037047378507694</c:v>
                </c:pt>
                <c:pt idx="33">
                  <c:v>227.53028578823</c:v>
                </c:pt>
                <c:pt idx="34">
                  <c:v>169.190682667083</c:v>
                </c:pt>
                <c:pt idx="35">
                  <c:v>355.693001984467</c:v>
                </c:pt>
                <c:pt idx="36">
                  <c:v>192.227610948711</c:v>
                </c:pt>
                <c:pt idx="37">
                  <c:v>1.9951753244338699</c:v>
                </c:pt>
                <c:pt idx="38">
                  <c:v>22.368437240218199</c:v>
                </c:pt>
                <c:pt idx="39">
                  <c:v>8.4326802558077194</c:v>
                </c:pt>
                <c:pt idx="40">
                  <c:v>-51.171544343932901</c:v>
                </c:pt>
                <c:pt idx="41">
                  <c:v>-31.6211067894357</c:v>
                </c:pt>
                <c:pt idx="42">
                  <c:v>-44.432651284971598</c:v>
                </c:pt>
                <c:pt idx="43">
                  <c:v>14.6400335971361</c:v>
                </c:pt>
                <c:pt idx="44">
                  <c:v>46.198698807447101</c:v>
                </c:pt>
                <c:pt idx="45">
                  <c:v>43.592644366062302</c:v>
                </c:pt>
                <c:pt idx="46">
                  <c:v>14.0688587427806</c:v>
                </c:pt>
                <c:pt idx="47">
                  <c:v>-24.340934445373101</c:v>
                </c:pt>
                <c:pt idx="48">
                  <c:v>-39.562529922877303</c:v>
                </c:pt>
                <c:pt idx="49">
                  <c:v>-35.6128159399791</c:v>
                </c:pt>
                <c:pt idx="50">
                  <c:v>-21.4522177533564</c:v>
                </c:pt>
                <c:pt idx="51">
                  <c:v>-11.4151783734956</c:v>
                </c:pt>
                <c:pt idx="52">
                  <c:v>-4.1923387068231497</c:v>
                </c:pt>
                <c:pt idx="53">
                  <c:v>-2.63015624155268</c:v>
                </c:pt>
              </c:numCache>
            </c:numRef>
          </c:val>
          <c:smooth val="0"/>
          <c:extLst>
            <c:ext xmlns:c16="http://schemas.microsoft.com/office/drawing/2014/chart" uri="{C3380CC4-5D6E-409C-BE32-E72D297353CC}">
              <c16:uniqueId val="{00000001-7892-45EE-82AF-2BC7DCA24F5E}"/>
            </c:ext>
          </c:extLst>
        </c:ser>
        <c:dLbls>
          <c:showLegendKey val="0"/>
          <c:showVal val="0"/>
          <c:showCatName val="0"/>
          <c:showSerName val="0"/>
          <c:showPercent val="0"/>
          <c:showBubbleSize val="0"/>
        </c:dLbls>
        <c:marker val="1"/>
        <c:smooth val="0"/>
        <c:axId val="718419335"/>
        <c:axId val="765642003"/>
      </c:lineChart>
      <c:catAx>
        <c:axId val="592438687"/>
        <c:scaling>
          <c:orientation val="minMax"/>
        </c:scaling>
        <c:delete val="0"/>
        <c:axPos val="b"/>
        <c:numFmt formatCode="General" sourceLinked="0"/>
        <c:majorTickMark val="none"/>
        <c:minorTickMark val="none"/>
        <c:tickLblPos val="low"/>
        <c:spPr>
          <a:noFill/>
          <a:ln w="9525" cap="flat" cmpd="sng" algn="ctr">
            <a:solidFill>
              <a:schemeClr val="tx1">
                <a:lumMod val="15000"/>
                <a:lumOff val="85000"/>
              </a:schemeClr>
            </a:solidFill>
            <a:round/>
          </a:ln>
          <a:effectLst/>
        </c:spPr>
        <c:txPr>
          <a:bodyPr rot="-60000000" spcFirstLastPara="0" vertOverflow="ellipsis" vert="horz" wrap="square" anchor="ctr" anchorCtr="1" forceAA="0"/>
          <a:lstStyle/>
          <a:p>
            <a:pPr>
              <a:defRPr lang="zh-CN" sz="900" b="0" i="0" u="none" strike="noStrike" kern="1200" baseline="0">
                <a:solidFill>
                  <a:schemeClr val="tx1">
                    <a:lumMod val="65000"/>
                    <a:lumOff val="35000"/>
                  </a:schemeClr>
                </a:solidFill>
                <a:latin typeface="+mn-lt"/>
                <a:ea typeface="+mn-ea"/>
                <a:cs typeface="+mn-cs"/>
              </a:defRPr>
            </a:pPr>
            <a:endParaRPr lang="zh-CN"/>
          </a:p>
        </c:txPr>
        <c:crossAx val="257472445"/>
        <c:crosses val="autoZero"/>
        <c:auto val="1"/>
        <c:lblAlgn val="ctr"/>
        <c:lblOffset val="100"/>
        <c:noMultiLvlLbl val="0"/>
      </c:catAx>
      <c:valAx>
        <c:axId val="257472445"/>
        <c:scaling>
          <c:orientation val="minMax"/>
        </c:scaling>
        <c:delete val="0"/>
        <c:axPos val="l"/>
        <c:numFmt formatCode="General" sourceLinked="1"/>
        <c:majorTickMark val="out"/>
        <c:minorTickMark val="none"/>
        <c:tickLblPos val="nextTo"/>
        <c:spPr>
          <a:noFill/>
          <a:ln>
            <a:solidFill>
              <a:schemeClr val="accent1"/>
            </a:solidFill>
          </a:ln>
          <a:effectLst/>
        </c:spPr>
        <c:txPr>
          <a:bodyPr rot="-60000000" spcFirstLastPara="0" vertOverflow="ellipsis" vert="horz" wrap="square" anchor="ctr" anchorCtr="1" forceAA="0"/>
          <a:lstStyle/>
          <a:p>
            <a:pPr>
              <a:defRPr lang="zh-CN" sz="900" b="0" i="0" u="none" strike="noStrike" kern="1200" baseline="0">
                <a:solidFill>
                  <a:schemeClr val="tx1">
                    <a:lumMod val="65000"/>
                    <a:lumOff val="35000"/>
                  </a:schemeClr>
                </a:solidFill>
                <a:latin typeface="+mn-lt"/>
                <a:ea typeface="+mn-ea"/>
                <a:cs typeface="+mn-cs"/>
              </a:defRPr>
            </a:pPr>
            <a:endParaRPr lang="zh-CN"/>
          </a:p>
        </c:txPr>
        <c:crossAx val="592438687"/>
        <c:crosses val="autoZero"/>
        <c:crossBetween val="between"/>
      </c:valAx>
      <c:catAx>
        <c:axId val="718419335"/>
        <c:scaling>
          <c:orientation val="minMax"/>
        </c:scaling>
        <c:delete val="1"/>
        <c:axPos val="b"/>
        <c:numFmt formatCode="General" sourceLinked="1"/>
        <c:majorTickMark val="none"/>
        <c:minorTickMark val="none"/>
        <c:tickLblPos val="nextTo"/>
        <c:crossAx val="765642003"/>
        <c:crosses val="autoZero"/>
        <c:auto val="1"/>
        <c:lblAlgn val="ctr"/>
        <c:lblOffset val="100"/>
        <c:noMultiLvlLbl val="0"/>
      </c:catAx>
      <c:valAx>
        <c:axId val="765642003"/>
        <c:scaling>
          <c:orientation val="minMax"/>
        </c:scaling>
        <c:delete val="0"/>
        <c:axPos val="r"/>
        <c:numFmt formatCode="0_ " sourceLinked="0"/>
        <c:majorTickMark val="out"/>
        <c:minorTickMark val="none"/>
        <c:tickLblPos val="nextTo"/>
        <c:spPr>
          <a:noFill/>
          <a:ln>
            <a:solidFill>
              <a:schemeClr val="accent1"/>
            </a:solidFill>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endParaRPr lang="zh-CN"/>
          </a:p>
        </c:txPr>
        <c:crossAx val="718419335"/>
        <c:crosses val="max"/>
        <c:crossBetween val="between"/>
      </c:valAx>
      <c:spPr>
        <a:noFill/>
        <a:ln>
          <a:noFill/>
        </a:ln>
        <a:effectLst/>
      </c:spPr>
    </c:plotArea>
    <c:legend>
      <c:legendPos val="b"/>
      <c:layout>
        <c:manualLayout>
          <c:xMode val="edge"/>
          <c:yMode val="edge"/>
          <c:x val="4.7066206463758998E-3"/>
          <c:y val="0.94521764880071102"/>
          <c:w val="0.99058675870724799"/>
          <c:h val="4.5898726680485599E-2"/>
        </c:manualLayout>
      </c:layout>
      <c:overlay val="0"/>
      <c:spPr>
        <a:noFill/>
        <a:ln>
          <a:noFill/>
        </a:ln>
        <a:effectLst/>
      </c:spPr>
      <c:txPr>
        <a:bodyPr rot="0" spcFirstLastPara="0" vertOverflow="ellipsis" vert="horz" wrap="square" anchor="ctr" anchorCtr="1" forceAA="0"/>
        <a:lstStyle/>
        <a:p>
          <a:pPr>
            <a:defRPr lang="zh-CN" sz="900"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solidFill>
      <a:schemeClr val="bg1"/>
    </a:solidFill>
    <a:ln w="9525" cap="flat" cmpd="sng" algn="ctr">
      <a:noFill/>
      <a:prstDash val="solid"/>
      <a:round/>
    </a:ln>
    <a:effectLst/>
  </c:spPr>
  <c:txPr>
    <a:bodyPr/>
    <a:lstStyle/>
    <a:p>
      <a:pPr>
        <a:defRPr lang="zh-CN"/>
      </a:pPr>
      <a:endParaRPr lang="zh-CN"/>
    </a:p>
  </c:txPr>
  <c:externalData r:id="rId4">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clustered"/>
        <c:varyColors val="0"/>
        <c:ser>
          <c:idx val="0"/>
          <c:order val="0"/>
          <c:tx>
            <c:strRef>
              <c:f>'彭博-修复节奏分析'!$A$13</c:f>
              <c:strCache>
                <c:ptCount val="1"/>
                <c:pt idx="0">
                  <c:v>Asia/Pacific</c:v>
                </c:pt>
              </c:strCache>
            </c:strRef>
          </c:tx>
          <c:spPr>
            <a:solidFill>
              <a:srgbClr val="0D4DA1"/>
            </a:solidFill>
            <a:ln w="19050">
              <a:noFill/>
            </a:ln>
          </c:spPr>
          <c:invertIfNegative val="0"/>
          <c:cat>
            <c:strRef>
              <c:f>'彭博-修复节奏分析'!$B$12:$BK$12</c:f>
              <c:strCache>
                <c:ptCount val="62"/>
                <c:pt idx="0">
                  <c:v>03/31/2010</c:v>
                </c:pt>
                <c:pt idx="1">
                  <c:v>06/30/2010</c:v>
                </c:pt>
                <c:pt idx="2">
                  <c:v>09/30/2010</c:v>
                </c:pt>
                <c:pt idx="3">
                  <c:v>12/31/2010</c:v>
                </c:pt>
                <c:pt idx="4">
                  <c:v>03/31/2011</c:v>
                </c:pt>
                <c:pt idx="5">
                  <c:v>06/30/2011</c:v>
                </c:pt>
                <c:pt idx="6">
                  <c:v>09/30/2011</c:v>
                </c:pt>
                <c:pt idx="7">
                  <c:v>12/31/2011</c:v>
                </c:pt>
                <c:pt idx="8">
                  <c:v>03/31/2012</c:v>
                </c:pt>
                <c:pt idx="9">
                  <c:v>06/30/2012</c:v>
                </c:pt>
                <c:pt idx="10">
                  <c:v>09/30/2012</c:v>
                </c:pt>
                <c:pt idx="11">
                  <c:v>12/31/2012</c:v>
                </c:pt>
                <c:pt idx="12">
                  <c:v>03/31/2013</c:v>
                </c:pt>
                <c:pt idx="13">
                  <c:v>06/30/2013</c:v>
                </c:pt>
                <c:pt idx="14">
                  <c:v>09/30/2013</c:v>
                </c:pt>
                <c:pt idx="15">
                  <c:v>12/31/2013</c:v>
                </c:pt>
                <c:pt idx="16">
                  <c:v>03/31/2014</c:v>
                </c:pt>
                <c:pt idx="17">
                  <c:v>06/30/2014</c:v>
                </c:pt>
                <c:pt idx="18">
                  <c:v>09/30/2014</c:v>
                </c:pt>
                <c:pt idx="19">
                  <c:v>12/31/2014</c:v>
                </c:pt>
                <c:pt idx="20">
                  <c:v>03/31/2015</c:v>
                </c:pt>
                <c:pt idx="21">
                  <c:v>06/30/2015</c:v>
                </c:pt>
                <c:pt idx="22">
                  <c:v>09/30/2015</c:v>
                </c:pt>
                <c:pt idx="23">
                  <c:v>12/31/2015</c:v>
                </c:pt>
                <c:pt idx="24">
                  <c:v>03/31/2016</c:v>
                </c:pt>
                <c:pt idx="25">
                  <c:v>06/30/2016</c:v>
                </c:pt>
                <c:pt idx="26">
                  <c:v>09/30/2016</c:v>
                </c:pt>
                <c:pt idx="27">
                  <c:v>12/31/2016</c:v>
                </c:pt>
                <c:pt idx="28">
                  <c:v>03/31/2017</c:v>
                </c:pt>
                <c:pt idx="29">
                  <c:v>06/30/2017</c:v>
                </c:pt>
                <c:pt idx="30">
                  <c:v>09/30/2017</c:v>
                </c:pt>
                <c:pt idx="31">
                  <c:v>12/31/2017</c:v>
                </c:pt>
                <c:pt idx="32">
                  <c:v>03/31/2018</c:v>
                </c:pt>
                <c:pt idx="33">
                  <c:v>06/30/2018</c:v>
                </c:pt>
                <c:pt idx="34">
                  <c:v>09/30/2018</c:v>
                </c:pt>
                <c:pt idx="35">
                  <c:v>12/31/2018</c:v>
                </c:pt>
                <c:pt idx="36">
                  <c:v>03/31/2019</c:v>
                </c:pt>
                <c:pt idx="37">
                  <c:v>06/30/2019</c:v>
                </c:pt>
                <c:pt idx="38">
                  <c:v>09/30/2019</c:v>
                </c:pt>
                <c:pt idx="39">
                  <c:v>12/31/2019</c:v>
                </c:pt>
                <c:pt idx="40">
                  <c:v>03/31/2020</c:v>
                </c:pt>
                <c:pt idx="41">
                  <c:v>06/30/2020</c:v>
                </c:pt>
                <c:pt idx="42">
                  <c:v>09/30/2020</c:v>
                </c:pt>
                <c:pt idx="43">
                  <c:v>12/31/2020</c:v>
                </c:pt>
                <c:pt idx="44">
                  <c:v>03/31/2021</c:v>
                </c:pt>
                <c:pt idx="45">
                  <c:v>06/30/2021</c:v>
                </c:pt>
                <c:pt idx="46">
                  <c:v>09/30/2021</c:v>
                </c:pt>
                <c:pt idx="47">
                  <c:v>12/31/2021</c:v>
                </c:pt>
                <c:pt idx="48">
                  <c:v>03/31/2022</c:v>
                </c:pt>
                <c:pt idx="49">
                  <c:v>06/30/2022</c:v>
                </c:pt>
                <c:pt idx="50">
                  <c:v>09/30/2022</c:v>
                </c:pt>
                <c:pt idx="51">
                  <c:v>12/31/2022</c:v>
                </c:pt>
                <c:pt idx="52">
                  <c:v>03/31/2023</c:v>
                </c:pt>
                <c:pt idx="53">
                  <c:v>06/30/2023</c:v>
                </c:pt>
                <c:pt idx="54">
                  <c:v>09/30/2023</c:v>
                </c:pt>
                <c:pt idx="55">
                  <c:v>12/30/2023</c:v>
                </c:pt>
                <c:pt idx="56">
                  <c:v>03/31/2024</c:v>
                </c:pt>
                <c:pt idx="57">
                  <c:v>06/30/2024</c:v>
                </c:pt>
                <c:pt idx="58">
                  <c:v>09/30/2024</c:v>
                </c:pt>
                <c:pt idx="59">
                  <c:v>12/30/2024</c:v>
                </c:pt>
                <c:pt idx="60">
                  <c:v>03/31/2025</c:v>
                </c:pt>
                <c:pt idx="61">
                  <c:v>06/30/2025</c:v>
                </c:pt>
              </c:strCache>
            </c:strRef>
          </c:cat>
          <c:val>
            <c:numRef>
              <c:f>'彭博-修复节奏分析'!$B$13:$BK$13</c:f>
              <c:numCache>
                <c:formatCode>General</c:formatCode>
                <c:ptCount val="62"/>
                <c:pt idx="0">
                  <c:v>371.1</c:v>
                </c:pt>
                <c:pt idx="1">
                  <c:v>338.8</c:v>
                </c:pt>
                <c:pt idx="2">
                  <c:v>413.6</c:v>
                </c:pt>
                <c:pt idx="3">
                  <c:v>512.20000000000005</c:v>
                </c:pt>
                <c:pt idx="4">
                  <c:v>442.8</c:v>
                </c:pt>
                <c:pt idx="5">
                  <c:v>428.7</c:v>
                </c:pt>
                <c:pt idx="6">
                  <c:v>512.4</c:v>
                </c:pt>
                <c:pt idx="7">
                  <c:v>620</c:v>
                </c:pt>
                <c:pt idx="8">
                  <c:v>450.3</c:v>
                </c:pt>
                <c:pt idx="9">
                  <c:v>428.7</c:v>
                </c:pt>
                <c:pt idx="10">
                  <c:v>542.5</c:v>
                </c:pt>
                <c:pt idx="11">
                  <c:v>687.6</c:v>
                </c:pt>
                <c:pt idx="12">
                  <c:v>455.8</c:v>
                </c:pt>
                <c:pt idx="13">
                  <c:v>435.7</c:v>
                </c:pt>
                <c:pt idx="14">
                  <c:v>581.4</c:v>
                </c:pt>
                <c:pt idx="15">
                  <c:v>643</c:v>
                </c:pt>
                <c:pt idx="16">
                  <c:v>518.4</c:v>
                </c:pt>
                <c:pt idx="17">
                  <c:v>489.9</c:v>
                </c:pt>
                <c:pt idx="18">
                  <c:v>574</c:v>
                </c:pt>
                <c:pt idx="19">
                  <c:v>631.6</c:v>
                </c:pt>
                <c:pt idx="20">
                  <c:v>520.29999999999995</c:v>
                </c:pt>
                <c:pt idx="21">
                  <c:v>454.3</c:v>
                </c:pt>
                <c:pt idx="22">
                  <c:v>550</c:v>
                </c:pt>
                <c:pt idx="23">
                  <c:v>629</c:v>
                </c:pt>
                <c:pt idx="24">
                  <c:v>522</c:v>
                </c:pt>
                <c:pt idx="25">
                  <c:v>472.2</c:v>
                </c:pt>
                <c:pt idx="26">
                  <c:v>590</c:v>
                </c:pt>
                <c:pt idx="27">
                  <c:v>659</c:v>
                </c:pt>
                <c:pt idx="28">
                  <c:v>560</c:v>
                </c:pt>
                <c:pt idx="29">
                  <c:v>548</c:v>
                </c:pt>
                <c:pt idx="30">
                  <c:v>687</c:v>
                </c:pt>
                <c:pt idx="31">
                  <c:v>874</c:v>
                </c:pt>
                <c:pt idx="32">
                  <c:v>773</c:v>
                </c:pt>
                <c:pt idx="33">
                  <c:v>708</c:v>
                </c:pt>
                <c:pt idx="34">
                  <c:v>855</c:v>
                </c:pt>
                <c:pt idx="35" formatCode="#,##0.00">
                  <c:v>1020</c:v>
                </c:pt>
                <c:pt idx="36" formatCode="#,##0.0">
                  <c:v>860.30028000000004</c:v>
                </c:pt>
                <c:pt idx="37" formatCode="#,##0.0">
                  <c:v>740.96256000000005</c:v>
                </c:pt>
                <c:pt idx="38" formatCode="#,##0.0">
                  <c:v>761.44590000000005</c:v>
                </c:pt>
                <c:pt idx="39" formatCode="#,##0.0">
                  <c:v>1174.6750199999999</c:v>
                </c:pt>
                <c:pt idx="40" formatCode="#,##0.0">
                  <c:v>826.45824000000005</c:v>
                </c:pt>
                <c:pt idx="41" formatCode="#,##0.0">
                  <c:v>830.91114000000005</c:v>
                </c:pt>
                <c:pt idx="42" formatCode="#,##0.0">
                  <c:v>1023.27642</c:v>
                </c:pt>
                <c:pt idx="43" formatCode="#,##0.0">
                  <c:v>1580.7795000000001</c:v>
                </c:pt>
                <c:pt idx="44" formatCode="#,##0.0">
                  <c:v>1115.0061599999999</c:v>
                </c:pt>
                <c:pt idx="45" formatCode="#,##0.0">
                  <c:v>1166.6597999999999</c:v>
                </c:pt>
                <c:pt idx="46" formatCode="#,##0.0">
                  <c:v>1180.9090799999999</c:v>
                </c:pt>
                <c:pt idx="47" formatCode="#,##0.0">
                  <c:v>1693.8831600000001</c:v>
                </c:pt>
                <c:pt idx="48" formatCode="#,##0.0">
                  <c:v>1071.3677399999999</c:v>
                </c:pt>
                <c:pt idx="49" formatCode="#,##0.0">
                  <c:v>895.92348000000004</c:v>
                </c:pt>
                <c:pt idx="50" formatCode="#,##0.0">
                  <c:v>1130</c:v>
                </c:pt>
                <c:pt idx="51" formatCode="#,##0.0">
                  <c:v>1570</c:v>
                </c:pt>
                <c:pt idx="52" formatCode="#,##0.0">
                  <c:v>1192</c:v>
                </c:pt>
                <c:pt idx="53" formatCode="#,##0.0">
                  <c:v>1302</c:v>
                </c:pt>
                <c:pt idx="54" formatCode="#,##0.0">
                  <c:v>1058</c:v>
                </c:pt>
                <c:pt idx="55" formatCode="#,##0.0">
                  <c:v>1449</c:v>
                </c:pt>
                <c:pt idx="56" formatCode="#,##0.0">
                  <c:v>1176</c:v>
                </c:pt>
                <c:pt idx="57" formatCode="0.00_ ">
                  <c:v>1205</c:v>
                </c:pt>
                <c:pt idx="58" formatCode="0.00_ ">
                  <c:v>944</c:v>
                </c:pt>
                <c:pt idx="59" formatCode="0.00_ ">
                  <c:v>1287</c:v>
                </c:pt>
                <c:pt idx="60">
                  <c:v>1140</c:v>
                </c:pt>
                <c:pt idx="61">
                  <c:v>1166</c:v>
                </c:pt>
              </c:numCache>
            </c:numRef>
          </c:val>
          <c:extLst>
            <c:ext xmlns:c16="http://schemas.microsoft.com/office/drawing/2014/chart" uri="{C3380CC4-5D6E-409C-BE32-E72D297353CC}">
              <c16:uniqueId val="{00000000-79B0-4F9C-A376-07A5A7ADD18E}"/>
            </c:ext>
          </c:extLst>
        </c:ser>
        <c:dLbls>
          <c:showLegendKey val="0"/>
          <c:showVal val="0"/>
          <c:showCatName val="0"/>
          <c:showSerName val="0"/>
          <c:showPercent val="0"/>
          <c:showBubbleSize val="0"/>
        </c:dLbls>
        <c:gapWidth val="150"/>
        <c:axId val="-2134769488"/>
        <c:axId val="-2134766224"/>
      </c:barChart>
      <c:lineChart>
        <c:grouping val="standard"/>
        <c:varyColors val="0"/>
        <c:ser>
          <c:idx val="1"/>
          <c:order val="1"/>
          <c:tx>
            <c:strRef>
              <c:f>'彭博-修复节奏分析'!$A$14</c:f>
              <c:strCache>
                <c:ptCount val="1"/>
                <c:pt idx="0">
                  <c:v>增速</c:v>
                </c:pt>
              </c:strCache>
            </c:strRef>
          </c:tx>
          <c:spPr>
            <a:ln w="19050" cap="rnd" cmpd="sng" algn="ctr">
              <a:solidFill>
                <a:srgbClr val="A6A6A6"/>
              </a:solidFill>
              <a:prstDash val="solid"/>
              <a:round/>
            </a:ln>
          </c:spPr>
          <c:marker>
            <c:symbol val="none"/>
          </c:marker>
          <c:cat>
            <c:strRef>
              <c:f>'彭博-修复节奏分析'!$B$12:$BK$12</c:f>
              <c:strCache>
                <c:ptCount val="62"/>
                <c:pt idx="0">
                  <c:v>03/31/2010</c:v>
                </c:pt>
                <c:pt idx="1">
                  <c:v>06/30/2010</c:v>
                </c:pt>
                <c:pt idx="2">
                  <c:v>09/30/2010</c:v>
                </c:pt>
                <c:pt idx="3">
                  <c:v>12/31/2010</c:v>
                </c:pt>
                <c:pt idx="4">
                  <c:v>03/31/2011</c:v>
                </c:pt>
                <c:pt idx="5">
                  <c:v>06/30/2011</c:v>
                </c:pt>
                <c:pt idx="6">
                  <c:v>09/30/2011</c:v>
                </c:pt>
                <c:pt idx="7">
                  <c:v>12/31/2011</c:v>
                </c:pt>
                <c:pt idx="8">
                  <c:v>03/31/2012</c:v>
                </c:pt>
                <c:pt idx="9">
                  <c:v>06/30/2012</c:v>
                </c:pt>
                <c:pt idx="10">
                  <c:v>09/30/2012</c:v>
                </c:pt>
                <c:pt idx="11">
                  <c:v>12/31/2012</c:v>
                </c:pt>
                <c:pt idx="12">
                  <c:v>03/31/2013</c:v>
                </c:pt>
                <c:pt idx="13">
                  <c:v>06/30/2013</c:v>
                </c:pt>
                <c:pt idx="14">
                  <c:v>09/30/2013</c:v>
                </c:pt>
                <c:pt idx="15">
                  <c:v>12/31/2013</c:v>
                </c:pt>
                <c:pt idx="16">
                  <c:v>03/31/2014</c:v>
                </c:pt>
                <c:pt idx="17">
                  <c:v>06/30/2014</c:v>
                </c:pt>
                <c:pt idx="18">
                  <c:v>09/30/2014</c:v>
                </c:pt>
                <c:pt idx="19">
                  <c:v>12/31/2014</c:v>
                </c:pt>
                <c:pt idx="20">
                  <c:v>03/31/2015</c:v>
                </c:pt>
                <c:pt idx="21">
                  <c:v>06/30/2015</c:v>
                </c:pt>
                <c:pt idx="22">
                  <c:v>09/30/2015</c:v>
                </c:pt>
                <c:pt idx="23">
                  <c:v>12/31/2015</c:v>
                </c:pt>
                <c:pt idx="24">
                  <c:v>03/31/2016</c:v>
                </c:pt>
                <c:pt idx="25">
                  <c:v>06/30/2016</c:v>
                </c:pt>
                <c:pt idx="26">
                  <c:v>09/30/2016</c:v>
                </c:pt>
                <c:pt idx="27">
                  <c:v>12/31/2016</c:v>
                </c:pt>
                <c:pt idx="28">
                  <c:v>03/31/2017</c:v>
                </c:pt>
                <c:pt idx="29">
                  <c:v>06/30/2017</c:v>
                </c:pt>
                <c:pt idx="30">
                  <c:v>09/30/2017</c:v>
                </c:pt>
                <c:pt idx="31">
                  <c:v>12/31/2017</c:v>
                </c:pt>
                <c:pt idx="32">
                  <c:v>03/31/2018</c:v>
                </c:pt>
                <c:pt idx="33">
                  <c:v>06/30/2018</c:v>
                </c:pt>
                <c:pt idx="34">
                  <c:v>09/30/2018</c:v>
                </c:pt>
                <c:pt idx="35">
                  <c:v>12/31/2018</c:v>
                </c:pt>
                <c:pt idx="36">
                  <c:v>03/31/2019</c:v>
                </c:pt>
                <c:pt idx="37">
                  <c:v>06/30/2019</c:v>
                </c:pt>
                <c:pt idx="38">
                  <c:v>09/30/2019</c:v>
                </c:pt>
                <c:pt idx="39">
                  <c:v>12/31/2019</c:v>
                </c:pt>
                <c:pt idx="40">
                  <c:v>03/31/2020</c:v>
                </c:pt>
                <c:pt idx="41">
                  <c:v>06/30/2020</c:v>
                </c:pt>
                <c:pt idx="42">
                  <c:v>09/30/2020</c:v>
                </c:pt>
                <c:pt idx="43">
                  <c:v>12/31/2020</c:v>
                </c:pt>
                <c:pt idx="44">
                  <c:v>03/31/2021</c:v>
                </c:pt>
                <c:pt idx="45">
                  <c:v>06/30/2021</c:v>
                </c:pt>
                <c:pt idx="46">
                  <c:v>09/30/2021</c:v>
                </c:pt>
                <c:pt idx="47">
                  <c:v>12/31/2021</c:v>
                </c:pt>
                <c:pt idx="48">
                  <c:v>03/31/2022</c:v>
                </c:pt>
                <c:pt idx="49">
                  <c:v>06/30/2022</c:v>
                </c:pt>
                <c:pt idx="50">
                  <c:v>09/30/2022</c:v>
                </c:pt>
                <c:pt idx="51">
                  <c:v>12/31/2022</c:v>
                </c:pt>
                <c:pt idx="52">
                  <c:v>03/31/2023</c:v>
                </c:pt>
                <c:pt idx="53">
                  <c:v>06/30/2023</c:v>
                </c:pt>
                <c:pt idx="54">
                  <c:v>09/30/2023</c:v>
                </c:pt>
                <c:pt idx="55">
                  <c:v>12/30/2023</c:v>
                </c:pt>
                <c:pt idx="56">
                  <c:v>03/31/2024</c:v>
                </c:pt>
                <c:pt idx="57">
                  <c:v>06/30/2024</c:v>
                </c:pt>
                <c:pt idx="58">
                  <c:v>09/30/2024</c:v>
                </c:pt>
                <c:pt idx="59">
                  <c:v>12/30/2024</c:v>
                </c:pt>
                <c:pt idx="60">
                  <c:v>03/31/2025</c:v>
                </c:pt>
                <c:pt idx="61">
                  <c:v>06/30/2025</c:v>
                </c:pt>
              </c:strCache>
            </c:strRef>
          </c:cat>
          <c:val>
            <c:numRef>
              <c:f>'彭博-修复节奏分析'!$B$14:$BK$14</c:f>
              <c:numCache>
                <c:formatCode>General</c:formatCode>
                <c:ptCount val="62"/>
                <c:pt idx="4" formatCode="0.0%">
                  <c:v>0.19320937752627301</c:v>
                </c:pt>
                <c:pt idx="5" formatCode="0.0%">
                  <c:v>0.26534828807556099</c:v>
                </c:pt>
                <c:pt idx="6" formatCode="0.0%">
                  <c:v>0.23887814313346201</c:v>
                </c:pt>
                <c:pt idx="7" formatCode="0.0%">
                  <c:v>0.21046466224131199</c:v>
                </c:pt>
                <c:pt idx="8" formatCode="0.0%">
                  <c:v>1.69376693766938E-2</c:v>
                </c:pt>
                <c:pt idx="9" formatCode="0.0%">
                  <c:v>0</c:v>
                </c:pt>
                <c:pt idx="10" formatCode="0.0%">
                  <c:v>5.87431693989071E-2</c:v>
                </c:pt>
                <c:pt idx="11" formatCode="0.0%">
                  <c:v>0.109032258064516</c:v>
                </c:pt>
                <c:pt idx="12" formatCode="0.0%">
                  <c:v>1.22140795025538E-2</c:v>
                </c:pt>
                <c:pt idx="13" formatCode="0.0%">
                  <c:v>1.6328434802892498E-2</c:v>
                </c:pt>
                <c:pt idx="14" formatCode="0.0%">
                  <c:v>7.1705069124423898E-2</c:v>
                </c:pt>
                <c:pt idx="15" formatCode="0.0%">
                  <c:v>-6.48632926119838E-2</c:v>
                </c:pt>
                <c:pt idx="16" formatCode="0.0%">
                  <c:v>0.13734093900833699</c:v>
                </c:pt>
                <c:pt idx="17" formatCode="0.0%">
                  <c:v>0.12439752123020401</c:v>
                </c:pt>
                <c:pt idx="18" formatCode="0.0%">
                  <c:v>-1.27278981768145E-2</c:v>
                </c:pt>
                <c:pt idx="19" formatCode="0.0%">
                  <c:v>-1.77293934681182E-2</c:v>
                </c:pt>
                <c:pt idx="20" formatCode="0.0%">
                  <c:v>3.6651234567901501E-3</c:v>
                </c:pt>
                <c:pt idx="21" formatCode="0.0%">
                  <c:v>-7.2667891406409404E-2</c:v>
                </c:pt>
                <c:pt idx="22" formatCode="0.0%">
                  <c:v>-4.1811846689895502E-2</c:v>
                </c:pt>
                <c:pt idx="23" formatCode="0.0%">
                  <c:v>-4.11652944901841E-3</c:v>
                </c:pt>
                <c:pt idx="24" formatCode="0.0%">
                  <c:v>3.26734576206045E-3</c:v>
                </c:pt>
                <c:pt idx="25" formatCode="0.0%">
                  <c:v>3.9401276689412297E-2</c:v>
                </c:pt>
                <c:pt idx="26" formatCode="0.0%">
                  <c:v>7.2727272727272793E-2</c:v>
                </c:pt>
                <c:pt idx="27" formatCode="0.0%">
                  <c:v>4.7694753577106598E-2</c:v>
                </c:pt>
                <c:pt idx="28" formatCode="0.0%">
                  <c:v>7.2796934865900303E-2</c:v>
                </c:pt>
                <c:pt idx="29" formatCode="0.0%">
                  <c:v>0.16052520118593799</c:v>
                </c:pt>
                <c:pt idx="30" formatCode="0.0%">
                  <c:v>0.16440677966101699</c:v>
                </c:pt>
                <c:pt idx="31" formatCode="0.0%">
                  <c:v>0.32625189681335398</c:v>
                </c:pt>
                <c:pt idx="32" formatCode="0.0%">
                  <c:v>0.380357142857143</c:v>
                </c:pt>
                <c:pt idx="33" formatCode="0.0%">
                  <c:v>0.29197080291970801</c:v>
                </c:pt>
                <c:pt idx="34" formatCode="0.0%">
                  <c:v>0.244541484716157</c:v>
                </c:pt>
                <c:pt idx="35" formatCode="0.0%">
                  <c:v>0.16704805491990801</c:v>
                </c:pt>
                <c:pt idx="36" formatCode="0.0%">
                  <c:v>0.112936972833118</c:v>
                </c:pt>
                <c:pt idx="37" formatCode="0.0%">
                  <c:v>4.6557288135593303E-2</c:v>
                </c:pt>
                <c:pt idx="38" formatCode="0.0%">
                  <c:v>-0.10942</c:v>
                </c:pt>
                <c:pt idx="39" formatCode="0.0%">
                  <c:v>0.151642176470588</c:v>
                </c:pt>
                <c:pt idx="40" formatCode="0.0%">
                  <c:v>-3.9337474120082802E-2</c:v>
                </c:pt>
                <c:pt idx="41" formatCode="0.0%">
                  <c:v>0.121394230769231</c:v>
                </c:pt>
                <c:pt idx="42" formatCode="0.0%">
                  <c:v>0.34385964912280698</c:v>
                </c:pt>
                <c:pt idx="43" formatCode="0.0%">
                  <c:v>0.34571645185746802</c:v>
                </c:pt>
                <c:pt idx="44" formatCode="0.0%">
                  <c:v>0.34913793103448298</c:v>
                </c:pt>
                <c:pt idx="45" formatCode="0.0%">
                  <c:v>0.40407288317256201</c:v>
                </c:pt>
                <c:pt idx="46" formatCode="0.0%">
                  <c:v>0.15404699738903399</c:v>
                </c:pt>
                <c:pt idx="47" formatCode="0.0%">
                  <c:v>7.1549295774647997E-2</c:v>
                </c:pt>
                <c:pt idx="48" formatCode="0.0%">
                  <c:v>-3.91373801916933E-2</c:v>
                </c:pt>
                <c:pt idx="49" formatCode="0.0%">
                  <c:v>-0.23206106870229001</c:v>
                </c:pt>
                <c:pt idx="50" formatCode="0.0%">
                  <c:v>-4.31100758408937E-2</c:v>
                </c:pt>
                <c:pt idx="51" formatCode="0.0%">
                  <c:v>-7.3135599270022902E-2</c:v>
                </c:pt>
                <c:pt idx="52" formatCode="0.0%">
                  <c:v>0.112596502112337</c:v>
                </c:pt>
                <c:pt idx="53" formatCode="0.0%">
                  <c:v>0.45324911006908802</c:v>
                </c:pt>
                <c:pt idx="54" formatCode="0.0%">
                  <c:v>-6.3716814159292104E-2</c:v>
                </c:pt>
                <c:pt idx="55" formatCode="0.0%">
                  <c:v>-7.7070063694267499E-2</c:v>
                </c:pt>
                <c:pt idx="56" formatCode="0.0%">
                  <c:v>-1.34228187919463E-2</c:v>
                </c:pt>
                <c:pt idx="57" formatCode="0.0%">
                  <c:v>-7.4500768049155203E-2</c:v>
                </c:pt>
                <c:pt idx="58" formatCode="0.0%">
                  <c:v>-0.10775047258979201</c:v>
                </c:pt>
                <c:pt idx="59" formatCode="0.0%">
                  <c:v>-0.111801242236025</c:v>
                </c:pt>
                <c:pt idx="60" formatCode="0.0%">
                  <c:v>-3.06122448979592E-2</c:v>
                </c:pt>
                <c:pt idx="61" formatCode="0.0%">
                  <c:v>-3.2365145228215798E-2</c:v>
                </c:pt>
              </c:numCache>
            </c:numRef>
          </c:val>
          <c:smooth val="0"/>
          <c:extLst>
            <c:ext xmlns:c16="http://schemas.microsoft.com/office/drawing/2014/chart" uri="{C3380CC4-5D6E-409C-BE32-E72D297353CC}">
              <c16:uniqueId val="{00000001-79B0-4F9C-A376-07A5A7ADD18E}"/>
            </c:ext>
          </c:extLst>
        </c:ser>
        <c:ser>
          <c:idx val="3"/>
          <c:order val="3"/>
          <c:tx>
            <c:strRef>
              <c:f>'彭博-修复节奏分析'!$A$16</c:f>
              <c:strCache>
                <c:ptCount val="1"/>
                <c:pt idx="0">
                  <c:v>占比</c:v>
                </c:pt>
              </c:strCache>
            </c:strRef>
          </c:tx>
          <c:spPr>
            <a:ln w="19050" cap="rnd" cmpd="sng" algn="ctr">
              <a:solidFill>
                <a:srgbClr val="CC0000"/>
              </a:solidFill>
              <a:prstDash val="solid"/>
              <a:round/>
            </a:ln>
          </c:spPr>
          <c:marker>
            <c:symbol val="none"/>
          </c:marker>
          <c:cat>
            <c:strRef>
              <c:f>'彭博-修复节奏分析'!$B$12:$BK$12</c:f>
              <c:strCache>
                <c:ptCount val="62"/>
                <c:pt idx="0">
                  <c:v>03/31/2010</c:v>
                </c:pt>
                <c:pt idx="1">
                  <c:v>06/30/2010</c:v>
                </c:pt>
                <c:pt idx="2">
                  <c:v>09/30/2010</c:v>
                </c:pt>
                <c:pt idx="3">
                  <c:v>12/31/2010</c:v>
                </c:pt>
                <c:pt idx="4">
                  <c:v>03/31/2011</c:v>
                </c:pt>
                <c:pt idx="5">
                  <c:v>06/30/2011</c:v>
                </c:pt>
                <c:pt idx="6">
                  <c:v>09/30/2011</c:v>
                </c:pt>
                <c:pt idx="7">
                  <c:v>12/31/2011</c:v>
                </c:pt>
                <c:pt idx="8">
                  <c:v>03/31/2012</c:v>
                </c:pt>
                <c:pt idx="9">
                  <c:v>06/30/2012</c:v>
                </c:pt>
                <c:pt idx="10">
                  <c:v>09/30/2012</c:v>
                </c:pt>
                <c:pt idx="11">
                  <c:v>12/31/2012</c:v>
                </c:pt>
                <c:pt idx="12">
                  <c:v>03/31/2013</c:v>
                </c:pt>
                <c:pt idx="13">
                  <c:v>06/30/2013</c:v>
                </c:pt>
                <c:pt idx="14">
                  <c:v>09/30/2013</c:v>
                </c:pt>
                <c:pt idx="15">
                  <c:v>12/31/2013</c:v>
                </c:pt>
                <c:pt idx="16">
                  <c:v>03/31/2014</c:v>
                </c:pt>
                <c:pt idx="17">
                  <c:v>06/30/2014</c:v>
                </c:pt>
                <c:pt idx="18">
                  <c:v>09/30/2014</c:v>
                </c:pt>
                <c:pt idx="19">
                  <c:v>12/31/2014</c:v>
                </c:pt>
                <c:pt idx="20">
                  <c:v>03/31/2015</c:v>
                </c:pt>
                <c:pt idx="21">
                  <c:v>06/30/2015</c:v>
                </c:pt>
                <c:pt idx="22">
                  <c:v>09/30/2015</c:v>
                </c:pt>
                <c:pt idx="23">
                  <c:v>12/31/2015</c:v>
                </c:pt>
                <c:pt idx="24">
                  <c:v>03/31/2016</c:v>
                </c:pt>
                <c:pt idx="25">
                  <c:v>06/30/2016</c:v>
                </c:pt>
                <c:pt idx="26">
                  <c:v>09/30/2016</c:v>
                </c:pt>
                <c:pt idx="27">
                  <c:v>12/31/2016</c:v>
                </c:pt>
                <c:pt idx="28">
                  <c:v>03/31/2017</c:v>
                </c:pt>
                <c:pt idx="29">
                  <c:v>06/30/2017</c:v>
                </c:pt>
                <c:pt idx="30">
                  <c:v>09/30/2017</c:v>
                </c:pt>
                <c:pt idx="31">
                  <c:v>12/31/2017</c:v>
                </c:pt>
                <c:pt idx="32">
                  <c:v>03/31/2018</c:v>
                </c:pt>
                <c:pt idx="33">
                  <c:v>06/30/2018</c:v>
                </c:pt>
                <c:pt idx="34">
                  <c:v>09/30/2018</c:v>
                </c:pt>
                <c:pt idx="35">
                  <c:v>12/31/2018</c:v>
                </c:pt>
                <c:pt idx="36">
                  <c:v>03/31/2019</c:v>
                </c:pt>
                <c:pt idx="37">
                  <c:v>06/30/2019</c:v>
                </c:pt>
                <c:pt idx="38">
                  <c:v>09/30/2019</c:v>
                </c:pt>
                <c:pt idx="39">
                  <c:v>12/31/2019</c:v>
                </c:pt>
                <c:pt idx="40">
                  <c:v>03/31/2020</c:v>
                </c:pt>
                <c:pt idx="41">
                  <c:v>06/30/2020</c:v>
                </c:pt>
                <c:pt idx="42">
                  <c:v>09/30/2020</c:v>
                </c:pt>
                <c:pt idx="43">
                  <c:v>12/31/2020</c:v>
                </c:pt>
                <c:pt idx="44">
                  <c:v>03/31/2021</c:v>
                </c:pt>
                <c:pt idx="45">
                  <c:v>06/30/2021</c:v>
                </c:pt>
                <c:pt idx="46">
                  <c:v>09/30/2021</c:v>
                </c:pt>
                <c:pt idx="47">
                  <c:v>12/31/2021</c:v>
                </c:pt>
                <c:pt idx="48">
                  <c:v>03/31/2022</c:v>
                </c:pt>
                <c:pt idx="49">
                  <c:v>06/30/2022</c:v>
                </c:pt>
                <c:pt idx="50">
                  <c:v>09/30/2022</c:v>
                </c:pt>
                <c:pt idx="51">
                  <c:v>12/31/2022</c:v>
                </c:pt>
                <c:pt idx="52">
                  <c:v>03/31/2023</c:v>
                </c:pt>
                <c:pt idx="53">
                  <c:v>06/30/2023</c:v>
                </c:pt>
                <c:pt idx="54">
                  <c:v>09/30/2023</c:v>
                </c:pt>
                <c:pt idx="55">
                  <c:v>12/30/2023</c:v>
                </c:pt>
                <c:pt idx="56">
                  <c:v>03/31/2024</c:v>
                </c:pt>
                <c:pt idx="57">
                  <c:v>06/30/2024</c:v>
                </c:pt>
                <c:pt idx="58">
                  <c:v>09/30/2024</c:v>
                </c:pt>
                <c:pt idx="59">
                  <c:v>12/30/2024</c:v>
                </c:pt>
                <c:pt idx="60">
                  <c:v>03/31/2025</c:v>
                </c:pt>
                <c:pt idx="61">
                  <c:v>06/30/2025</c:v>
                </c:pt>
              </c:strCache>
            </c:strRef>
          </c:cat>
          <c:val>
            <c:numRef>
              <c:f>'彭博-修复节奏分析'!$B$16:$BK$16</c:f>
              <c:numCache>
                <c:formatCode>0%</c:formatCode>
                <c:ptCount val="62"/>
                <c:pt idx="0">
                  <c:v>0.199280421007411</c:v>
                </c:pt>
                <c:pt idx="1">
                  <c:v>0.18388059701492501</c:v>
                </c:pt>
                <c:pt idx="2">
                  <c:v>0.19773390065497001</c:v>
                </c:pt>
                <c:pt idx="3">
                  <c:v>0.205414076599158</c:v>
                </c:pt>
                <c:pt idx="4">
                  <c:v>0.204394387001477</c:v>
                </c:pt>
                <c:pt idx="5">
                  <c:v>0.190203647011846</c:v>
                </c:pt>
                <c:pt idx="6">
                  <c:v>0.206946688206785</c:v>
                </c:pt>
                <c:pt idx="7">
                  <c:v>0.226475745178258</c:v>
                </c:pt>
                <c:pt idx="8">
                  <c:v>0.20029356818788399</c:v>
                </c:pt>
                <c:pt idx="9">
                  <c:v>0.190203647011846</c:v>
                </c:pt>
                <c:pt idx="10">
                  <c:v>0.21278682094528301</c:v>
                </c:pt>
                <c:pt idx="11">
                  <c:v>0.23442773857011401</c:v>
                </c:pt>
                <c:pt idx="12">
                  <c:v>0.19888297408150801</c:v>
                </c:pt>
                <c:pt idx="13">
                  <c:v>0.180878445699103</c:v>
                </c:pt>
                <c:pt idx="14">
                  <c:v>0.217345794392523</c:v>
                </c:pt>
                <c:pt idx="15">
                  <c:v>0.21301265487311999</c:v>
                </c:pt>
                <c:pt idx="16">
                  <c:v>0.20331006353439501</c:v>
                </c:pt>
                <c:pt idx="17">
                  <c:v>0.17976002641910999</c:v>
                </c:pt>
                <c:pt idx="18">
                  <c:v>0.21816799695933101</c:v>
                </c:pt>
                <c:pt idx="19">
                  <c:v>0.207456068319921</c:v>
                </c:pt>
                <c:pt idx="20">
                  <c:v>0.201627591552025</c:v>
                </c:pt>
                <c:pt idx="21">
                  <c:v>0.17996355569640299</c:v>
                </c:pt>
                <c:pt idx="22">
                  <c:v>0.19400352733686099</c:v>
                </c:pt>
                <c:pt idx="23">
                  <c:v>0.20134443021767001</c:v>
                </c:pt>
                <c:pt idx="24">
                  <c:v>0.19646217538577301</c:v>
                </c:pt>
                <c:pt idx="25">
                  <c:v>0.178343467915549</c:v>
                </c:pt>
                <c:pt idx="26">
                  <c:v>0.20579002441576599</c:v>
                </c:pt>
                <c:pt idx="27">
                  <c:v>0.20542394014962601</c:v>
                </c:pt>
                <c:pt idx="28">
                  <c:v>0.196009800490025</c:v>
                </c:pt>
                <c:pt idx="29">
                  <c:v>0.18935729094678599</c:v>
                </c:pt>
                <c:pt idx="30">
                  <c:v>0.20983506414172301</c:v>
                </c:pt>
                <c:pt idx="31">
                  <c:v>0.233440170940171</c:v>
                </c:pt>
                <c:pt idx="32">
                  <c:v>0.22937685459940699</c:v>
                </c:pt>
                <c:pt idx="33">
                  <c:v>0.21435059037238899</c:v>
                </c:pt>
                <c:pt idx="34">
                  <c:v>0.24262202043132799</c:v>
                </c:pt>
                <c:pt idx="35">
                  <c:v>0.25468164794007497</c:v>
                </c:pt>
                <c:pt idx="36">
                  <c:v>0.25787506673785399</c:v>
                </c:pt>
                <c:pt idx="37">
                  <c:v>0.231690336953495</c:v>
                </c:pt>
                <c:pt idx="38">
                  <c:v>0.23158179848320701</c:v>
                </c:pt>
                <c:pt idx="39">
                  <c:v>0.285250865051903</c:v>
                </c:pt>
                <c:pt idx="40">
                  <c:v>0.27742899850523201</c:v>
                </c:pt>
                <c:pt idx="41">
                  <c:v>0.38395061728395102</c:v>
                </c:pt>
                <c:pt idx="42">
                  <c:v>0.32257158899494698</c:v>
                </c:pt>
                <c:pt idx="43">
                  <c:v>0.36575314238615297</c:v>
                </c:pt>
                <c:pt idx="44">
                  <c:v>0.323180175529169</c:v>
                </c:pt>
                <c:pt idx="45">
                  <c:v>0.33248730964466999</c:v>
                </c:pt>
                <c:pt idx="46">
                  <c:v>0.30184384247666701</c:v>
                </c:pt>
                <c:pt idx="47">
                  <c:v>0.343321299638989</c:v>
                </c:pt>
                <c:pt idx="48">
                  <c:v>0.28332548280734798</c:v>
                </c:pt>
                <c:pt idx="49">
                  <c:v>0.28242560359348701</c:v>
                </c:pt>
                <c:pt idx="50">
                  <c:v>0.28716645489199499</c:v>
                </c:pt>
                <c:pt idx="51">
                  <c:v>0.33975330015148197</c:v>
                </c:pt>
                <c:pt idx="52">
                  <c:v>0.31744340878828198</c:v>
                </c:pt>
                <c:pt idx="53">
                  <c:v>0.35907335907335902</c:v>
                </c:pt>
                <c:pt idx="54">
                  <c:v>0.300739056281978</c:v>
                </c:pt>
                <c:pt idx="55">
                  <c:v>0.338551401869159</c:v>
                </c:pt>
                <c:pt idx="56">
                  <c:v>0.29847715736040598</c:v>
                </c:pt>
                <c:pt idx="57">
                  <c:v>0.31128907259106198</c:v>
                </c:pt>
                <c:pt idx="58">
                  <c:v>0.28086878905087798</c:v>
                </c:pt>
                <c:pt idx="59">
                  <c:v>0.32142857142857101</c:v>
                </c:pt>
                <c:pt idx="60">
                  <c:v>0.32112676056338002</c:v>
                </c:pt>
                <c:pt idx="61">
                  <c:v>0.34213615023474198</c:v>
                </c:pt>
              </c:numCache>
            </c:numRef>
          </c:val>
          <c:smooth val="0"/>
          <c:extLst>
            <c:ext xmlns:c16="http://schemas.microsoft.com/office/drawing/2014/chart" uri="{C3380CC4-5D6E-409C-BE32-E72D297353CC}">
              <c16:uniqueId val="{00000002-79B0-4F9C-A376-07A5A7ADD18E}"/>
            </c:ext>
          </c:extLst>
        </c:ser>
        <c:dLbls>
          <c:showLegendKey val="0"/>
          <c:showVal val="0"/>
          <c:showCatName val="0"/>
          <c:showSerName val="0"/>
          <c:showPercent val="0"/>
          <c:showBubbleSize val="0"/>
        </c:dLbls>
        <c:marker val="1"/>
        <c:smooth val="0"/>
        <c:axId val="-2132921536"/>
        <c:axId val="-2134765680"/>
        <c:extLst>
          <c:ext xmlns:c15="http://schemas.microsoft.com/office/drawing/2012/chart" uri="{02D57815-91ED-43cb-92C2-25804820EDAC}">
            <c15:filteredLineSeries>
              <c15:ser>
                <c:idx val="2"/>
                <c:order val="2"/>
                <c:tx>
                  <c:strRef>
                    <c:extLst>
                      <c:ext uri="{02D57815-91ED-43cb-92C2-25804820EDAC}">
                        <c15:formulaRef>
                          <c15:sqref>'彭博-修复节奏分析'!$A$15</c15:sqref>
                        </c15:formulaRef>
                      </c:ext>
                    </c:extLst>
                    <c:strCache>
                      <c:ptCount val="1"/>
                      <c:pt idx="0">
                        <c:v>2019YOY</c:v>
                      </c:pt>
                    </c:strCache>
                  </c:strRef>
                </c:tx>
                <c:marker>
                  <c:symbol val="none"/>
                </c:marker>
                <c:cat>
                  <c:strRef>
                    <c:extLst>
                      <c:ext uri="{02D57815-91ED-43cb-92C2-25804820EDAC}">
                        <c15:formulaRef>
                          <c15:sqref>'彭博-修复节奏分析'!$B$12:$BK$12</c15:sqref>
                        </c15:formulaRef>
                      </c:ext>
                    </c:extLst>
                    <c:strCache>
                      <c:ptCount val="62"/>
                      <c:pt idx="0">
                        <c:v>03/31/2010</c:v>
                      </c:pt>
                      <c:pt idx="1">
                        <c:v>06/30/2010</c:v>
                      </c:pt>
                      <c:pt idx="2">
                        <c:v>09/30/2010</c:v>
                      </c:pt>
                      <c:pt idx="3">
                        <c:v>12/31/2010</c:v>
                      </c:pt>
                      <c:pt idx="4">
                        <c:v>03/31/2011</c:v>
                      </c:pt>
                      <c:pt idx="5">
                        <c:v>06/30/2011</c:v>
                      </c:pt>
                      <c:pt idx="6">
                        <c:v>09/30/2011</c:v>
                      </c:pt>
                      <c:pt idx="7">
                        <c:v>12/31/2011</c:v>
                      </c:pt>
                      <c:pt idx="8">
                        <c:v>03/31/2012</c:v>
                      </c:pt>
                      <c:pt idx="9">
                        <c:v>06/30/2012</c:v>
                      </c:pt>
                      <c:pt idx="10">
                        <c:v>09/30/2012</c:v>
                      </c:pt>
                      <c:pt idx="11">
                        <c:v>12/31/2012</c:v>
                      </c:pt>
                      <c:pt idx="12">
                        <c:v>03/31/2013</c:v>
                      </c:pt>
                      <c:pt idx="13">
                        <c:v>06/30/2013</c:v>
                      </c:pt>
                      <c:pt idx="14">
                        <c:v>09/30/2013</c:v>
                      </c:pt>
                      <c:pt idx="15">
                        <c:v>12/31/2013</c:v>
                      </c:pt>
                      <c:pt idx="16">
                        <c:v>03/31/2014</c:v>
                      </c:pt>
                      <c:pt idx="17">
                        <c:v>06/30/2014</c:v>
                      </c:pt>
                      <c:pt idx="18">
                        <c:v>09/30/2014</c:v>
                      </c:pt>
                      <c:pt idx="19">
                        <c:v>12/31/2014</c:v>
                      </c:pt>
                      <c:pt idx="20">
                        <c:v>03/31/2015</c:v>
                      </c:pt>
                      <c:pt idx="21">
                        <c:v>06/30/2015</c:v>
                      </c:pt>
                      <c:pt idx="22">
                        <c:v>09/30/2015</c:v>
                      </c:pt>
                      <c:pt idx="23">
                        <c:v>12/31/2015</c:v>
                      </c:pt>
                      <c:pt idx="24">
                        <c:v>03/31/2016</c:v>
                      </c:pt>
                      <c:pt idx="25">
                        <c:v>06/30/2016</c:v>
                      </c:pt>
                      <c:pt idx="26">
                        <c:v>09/30/2016</c:v>
                      </c:pt>
                      <c:pt idx="27">
                        <c:v>12/31/2016</c:v>
                      </c:pt>
                      <c:pt idx="28">
                        <c:v>03/31/2017</c:v>
                      </c:pt>
                      <c:pt idx="29">
                        <c:v>06/30/2017</c:v>
                      </c:pt>
                      <c:pt idx="30">
                        <c:v>09/30/2017</c:v>
                      </c:pt>
                      <c:pt idx="31">
                        <c:v>12/31/2017</c:v>
                      </c:pt>
                      <c:pt idx="32">
                        <c:v>03/31/2018</c:v>
                      </c:pt>
                      <c:pt idx="33">
                        <c:v>06/30/2018</c:v>
                      </c:pt>
                      <c:pt idx="34">
                        <c:v>09/30/2018</c:v>
                      </c:pt>
                      <c:pt idx="35">
                        <c:v>12/31/2018</c:v>
                      </c:pt>
                      <c:pt idx="36">
                        <c:v>03/31/2019</c:v>
                      </c:pt>
                      <c:pt idx="37">
                        <c:v>06/30/2019</c:v>
                      </c:pt>
                      <c:pt idx="38">
                        <c:v>09/30/2019</c:v>
                      </c:pt>
                      <c:pt idx="39">
                        <c:v>12/31/2019</c:v>
                      </c:pt>
                      <c:pt idx="40">
                        <c:v>03/31/2020</c:v>
                      </c:pt>
                      <c:pt idx="41">
                        <c:v>06/30/2020</c:v>
                      </c:pt>
                      <c:pt idx="42">
                        <c:v>09/30/2020</c:v>
                      </c:pt>
                      <c:pt idx="43">
                        <c:v>12/31/2020</c:v>
                      </c:pt>
                      <c:pt idx="44">
                        <c:v>03/31/2021</c:v>
                      </c:pt>
                      <c:pt idx="45">
                        <c:v>06/30/2021</c:v>
                      </c:pt>
                      <c:pt idx="46">
                        <c:v>09/30/2021</c:v>
                      </c:pt>
                      <c:pt idx="47">
                        <c:v>12/31/2021</c:v>
                      </c:pt>
                      <c:pt idx="48">
                        <c:v>03/31/2022</c:v>
                      </c:pt>
                      <c:pt idx="49">
                        <c:v>06/30/2022</c:v>
                      </c:pt>
                      <c:pt idx="50">
                        <c:v>09/30/2022</c:v>
                      </c:pt>
                      <c:pt idx="51">
                        <c:v>12/31/2022</c:v>
                      </c:pt>
                      <c:pt idx="52">
                        <c:v>03/31/2023</c:v>
                      </c:pt>
                      <c:pt idx="53">
                        <c:v>06/30/2023</c:v>
                      </c:pt>
                      <c:pt idx="54">
                        <c:v>09/30/2023</c:v>
                      </c:pt>
                      <c:pt idx="55">
                        <c:v>12/30/2023</c:v>
                      </c:pt>
                      <c:pt idx="56">
                        <c:v>03/31/2024</c:v>
                      </c:pt>
                      <c:pt idx="57">
                        <c:v>06/30/2024</c:v>
                      </c:pt>
                      <c:pt idx="58">
                        <c:v>09/30/2024</c:v>
                      </c:pt>
                      <c:pt idx="59">
                        <c:v>12/30/2024</c:v>
                      </c:pt>
                      <c:pt idx="60">
                        <c:v>03/31/2025</c:v>
                      </c:pt>
                      <c:pt idx="61">
                        <c:v>06/30/2025</c:v>
                      </c:pt>
                    </c:strCache>
                  </c:strRef>
                </c:cat>
                <c:val>
                  <c:numRef>
                    <c:extLst>
                      <c:ext uri="{02D57815-91ED-43cb-92C2-25804820EDAC}">
                        <c15:formulaRef>
                          <c15:sqref>'彭博-修复节奏分析'!$B$15:$BK$15</c15:sqref>
                        </c15:formulaRef>
                      </c:ext>
                    </c:extLst>
                    <c:numCache>
                      <c:formatCode>General</c:formatCode>
                      <c:ptCount val="62"/>
                      <c:pt idx="44" formatCode="0.0%">
                        <c:v>0.29606625258799202</c:v>
                      </c:pt>
                      <c:pt idx="45" formatCode="0.0%">
                        <c:v>0.57451923076923095</c:v>
                      </c:pt>
                      <c:pt idx="46" formatCode="0.0%">
                        <c:v>0.55087719298245597</c:v>
                      </c:pt>
                      <c:pt idx="47" formatCode="0.0%">
                        <c:v>0.44200151630022799</c:v>
                      </c:pt>
                      <c:pt idx="48" formatCode="0.0%">
                        <c:v>0.24534161490683201</c:v>
                      </c:pt>
                      <c:pt idx="49" formatCode="0.0%">
                        <c:v>0.209134615384615</c:v>
                      </c:pt>
                      <c:pt idx="50" formatCode="0.0%">
                        <c:v>0.48401875957307</c:v>
                      </c:pt>
                      <c:pt idx="51" formatCode="0.0%">
                        <c:v>0.33653987125732898</c:v>
                      </c:pt>
                      <c:pt idx="52" formatCode="0.0%">
                        <c:v>0.38556272468027097</c:v>
                      </c:pt>
                      <c:pt idx="53" formatCode="0.0%">
                        <c:v>0.75717380376142096</c:v>
                      </c:pt>
                      <c:pt idx="54" formatCode="0.0%">
                        <c:v>0.38946181206045</c:v>
                      </c:pt>
                      <c:pt idx="55" formatCode="0.0%">
                        <c:v>0.23353265824959801</c:v>
                      </c:pt>
                      <c:pt idx="56" formatCode="0.0%">
                        <c:v>0.36696456730201199</c:v>
                      </c:pt>
                      <c:pt idx="57" formatCode="0.0%">
                        <c:v>0.626263005785339</c:v>
                      </c:pt>
                      <c:pt idx="58" formatCode="0.0%">
                        <c:v>0.23974664516546701</c:v>
                      </c:pt>
                      <c:pt idx="59" formatCode="0.0%">
                        <c:v>9.5622174718587499E-2</c:v>
                      </c:pt>
                      <c:pt idx="60" formatCode="0.0%">
                        <c:v>0.32511871320093</c:v>
                      </c:pt>
                      <c:pt idx="61" formatCode="0.0%">
                        <c:v>0.57362876742382196</c:v>
                      </c:pt>
                    </c:numCache>
                  </c:numRef>
                </c:val>
                <c:smooth val="0"/>
                <c:extLst>
                  <c:ext xmlns:c16="http://schemas.microsoft.com/office/drawing/2014/chart" uri="{C3380CC4-5D6E-409C-BE32-E72D297353CC}">
                    <c16:uniqueId val="{00000003-79B0-4F9C-A376-07A5A7ADD18E}"/>
                  </c:ext>
                </c:extLst>
              </c15:ser>
            </c15:filteredLineSeries>
          </c:ext>
        </c:extLst>
      </c:lineChart>
      <c:catAx>
        <c:axId val="-2134769488"/>
        <c:scaling>
          <c:orientation val="minMax"/>
        </c:scaling>
        <c:delete val="0"/>
        <c:axPos val="b"/>
        <c:numFmt formatCode="yy\-mm" sourceLinked="0"/>
        <c:majorTickMark val="out"/>
        <c:minorTickMark val="none"/>
        <c:tickLblPos val="nextTo"/>
        <c:spPr>
          <a:noFill/>
          <a:ln w="6350" cap="flat" cmpd="sng" algn="ctr">
            <a:solidFill>
              <a:srgbClr val="000000"/>
            </a:solidFill>
            <a:prstDash val="solid"/>
            <a:round/>
          </a:ln>
        </c:spPr>
        <c:txPr>
          <a:bodyPr rot="-60000000" spcFirstLastPara="0" vertOverflow="ellipsis" vert="horz" wrap="square" anchor="ctr" anchorCtr="1"/>
          <a:lstStyle/>
          <a:p>
            <a:pPr>
              <a:defRPr lang="zh-CN" sz="700" b="0" i="0" u="none" strike="noStrike" kern="1200" baseline="0">
                <a:solidFill>
                  <a:srgbClr val="000000"/>
                </a:solidFill>
                <a:latin typeface="Times New Roman" panose="02020503050405090304" pitchFamily="12"/>
                <a:ea typeface="Times New Roman" panose="02020503050405090304" pitchFamily="12"/>
                <a:cs typeface="Times New Roman" panose="02020503050405090304" pitchFamily="12"/>
              </a:defRPr>
            </a:pPr>
            <a:endParaRPr lang="zh-CN"/>
          </a:p>
        </c:txPr>
        <c:crossAx val="-2134766224"/>
        <c:crosses val="autoZero"/>
        <c:auto val="1"/>
        <c:lblAlgn val="ctr"/>
        <c:lblOffset val="100"/>
        <c:noMultiLvlLbl val="0"/>
      </c:catAx>
      <c:valAx>
        <c:axId val="-2134766224"/>
        <c:scaling>
          <c:orientation val="minMax"/>
        </c:scaling>
        <c:delete val="0"/>
        <c:axPos val="l"/>
        <c:numFmt formatCode="General" sourceLinked="1"/>
        <c:majorTickMark val="out"/>
        <c:minorTickMark val="none"/>
        <c:tickLblPos val="nextTo"/>
        <c:spPr>
          <a:noFill/>
          <a:ln w="6350" cap="flat" cmpd="sng" algn="ctr">
            <a:solidFill>
              <a:srgbClr val="000000"/>
            </a:solidFill>
            <a:prstDash val="solid"/>
            <a:round/>
          </a:ln>
        </c:spPr>
        <c:txPr>
          <a:bodyPr rot="-60000000" spcFirstLastPara="0" vertOverflow="ellipsis" vert="horz" wrap="square" anchor="ctr" anchorCtr="1"/>
          <a:lstStyle/>
          <a:p>
            <a:pPr>
              <a:defRPr lang="zh-CN" sz="700" b="0" i="0" u="none" strike="noStrike" kern="1200" baseline="0">
                <a:solidFill>
                  <a:srgbClr val="000000"/>
                </a:solidFill>
                <a:latin typeface="Times New Roman" panose="02020503050405090304" pitchFamily="12"/>
                <a:ea typeface="Times New Roman" panose="02020503050405090304" pitchFamily="12"/>
                <a:cs typeface="Times New Roman" panose="02020503050405090304" pitchFamily="12"/>
              </a:defRPr>
            </a:pPr>
            <a:endParaRPr lang="zh-CN"/>
          </a:p>
        </c:txPr>
        <c:crossAx val="-2134769488"/>
        <c:crosses val="autoZero"/>
        <c:crossBetween val="between"/>
      </c:valAx>
      <c:catAx>
        <c:axId val="-2132921536"/>
        <c:scaling>
          <c:orientation val="minMax"/>
        </c:scaling>
        <c:delete val="1"/>
        <c:axPos val="b"/>
        <c:numFmt formatCode="General" sourceLinked="1"/>
        <c:majorTickMark val="out"/>
        <c:minorTickMark val="none"/>
        <c:tickLblPos val="nextTo"/>
        <c:crossAx val="-2134765680"/>
        <c:crosses val="autoZero"/>
        <c:auto val="1"/>
        <c:lblAlgn val="ctr"/>
        <c:lblOffset val="100"/>
        <c:noMultiLvlLbl val="0"/>
      </c:catAx>
      <c:valAx>
        <c:axId val="-2134765680"/>
        <c:scaling>
          <c:orientation val="minMax"/>
        </c:scaling>
        <c:delete val="0"/>
        <c:axPos val="r"/>
        <c:numFmt formatCode="General" sourceLinked="1"/>
        <c:majorTickMark val="out"/>
        <c:minorTickMark val="none"/>
        <c:tickLblPos val="nextTo"/>
        <c:spPr>
          <a:ln w="6350" cap="flat" cmpd="sng" algn="ctr">
            <a:solidFill>
              <a:srgbClr val="000000"/>
            </a:solidFill>
            <a:prstDash val="solid"/>
            <a:round/>
          </a:ln>
        </c:spPr>
        <c:txPr>
          <a:bodyPr rot="-60000000" spcFirstLastPara="0" vertOverflow="ellipsis" vert="horz" wrap="square" anchor="ctr" anchorCtr="1"/>
          <a:lstStyle/>
          <a:p>
            <a:pPr>
              <a:defRPr lang="zh-CN" sz="700" b="0" i="0" u="none" strike="noStrike" kern="1200" baseline="0">
                <a:solidFill>
                  <a:srgbClr val="000000"/>
                </a:solidFill>
                <a:latin typeface="Times New Roman" panose="02020503050405090304" pitchFamily="12"/>
                <a:ea typeface="Times New Roman" panose="02020503050405090304" pitchFamily="12"/>
                <a:cs typeface="Times New Roman" panose="02020503050405090304" pitchFamily="12"/>
              </a:defRPr>
            </a:pPr>
            <a:endParaRPr lang="zh-CN"/>
          </a:p>
        </c:txPr>
        <c:crossAx val="-2132921536"/>
        <c:crosses val="max"/>
        <c:crossBetween val="between"/>
      </c:valAx>
      <c:spPr>
        <a:solidFill>
          <a:sysClr val="window" lastClr="FFFFFF"/>
        </a:solidFill>
        <a:ln>
          <a:noFill/>
        </a:ln>
        <a:effectLst/>
      </c:spPr>
    </c:plotArea>
    <c:legend>
      <c:legendPos val="b"/>
      <c:overlay val="0"/>
      <c:txPr>
        <a:bodyPr rot="0" spcFirstLastPara="0" vertOverflow="ellipsis" vert="horz" wrap="square" anchor="ctr" anchorCtr="1"/>
        <a:lstStyle/>
        <a:p>
          <a:pPr>
            <a:defRPr lang="zh-CN" sz="700" b="0" i="0" u="none" strike="noStrike" kern="1200" baseline="0">
              <a:solidFill>
                <a:srgbClr val="000000"/>
              </a:solidFill>
              <a:latin typeface="Times New Roman" panose="02020503050405090304" charset="0"/>
              <a:ea typeface="楷体_GB2312" panose="02010609030101010101" pitchFamily="49" charset="-122"/>
              <a:cs typeface="+mn-cs"/>
            </a:defRPr>
          </a:pPr>
          <a:endParaRPr lang="zh-CN"/>
        </a:p>
      </c:txPr>
    </c:legend>
    <c:plotVisOnly val="1"/>
    <c:dispBlanksAs val="gap"/>
    <c:showDLblsOverMax val="0"/>
  </c:chart>
  <c:spPr>
    <a:ln w="9525" cap="flat" cmpd="sng" algn="ctr">
      <a:noFill/>
      <a:prstDash val="solid"/>
      <a:round/>
    </a:ln>
  </c:spPr>
  <c:txPr>
    <a:bodyPr/>
    <a:lstStyle/>
    <a:p>
      <a:pPr>
        <a:defRPr lang="zh-CN"/>
      </a:pPr>
      <a:endParaRPr lang="zh-CN"/>
    </a:p>
  </c:txPr>
  <c:externalData r:id="rId2">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7.3273429289434394E-2"/>
          <c:y val="6.53058553220532E-2"/>
          <c:w val="0.908244555385046"/>
          <c:h val="0.75256513639667799"/>
        </c:manualLayout>
      </c:layout>
      <c:lineChart>
        <c:grouping val="standard"/>
        <c:varyColors val="0"/>
        <c:ser>
          <c:idx val="0"/>
          <c:order val="0"/>
          <c:tx>
            <c:strRef>
              <c:f>资产增速与高化之间的相关性!$W$6</c:f>
              <c:strCache>
                <c:ptCount val="1"/>
                <c:pt idx="0">
                  <c:v>雅诗兰黛亚太区增速</c:v>
                </c:pt>
              </c:strCache>
            </c:strRef>
          </c:tx>
          <c:spPr>
            <a:ln w="19050" cap="rnd" cmpd="sng" algn="ctr">
              <a:solidFill>
                <a:srgbClr val="0D4DA1"/>
              </a:solidFill>
              <a:prstDash val="solid"/>
              <a:round/>
            </a:ln>
          </c:spPr>
          <c:marker>
            <c:symbol val="none"/>
          </c:marker>
          <c:cat>
            <c:numRef>
              <c:f>资产增速与高化之间的相关性!$V$7:$V$64</c:f>
              <c:numCache>
                <c:formatCode>yyyy"年"m"月";@</c:formatCode>
                <c:ptCount val="58"/>
                <c:pt idx="0">
                  <c:v>40633</c:v>
                </c:pt>
                <c:pt idx="1">
                  <c:v>40724</c:v>
                </c:pt>
                <c:pt idx="2">
                  <c:v>40816</c:v>
                </c:pt>
                <c:pt idx="3">
                  <c:v>40908</c:v>
                </c:pt>
                <c:pt idx="4">
                  <c:v>40999</c:v>
                </c:pt>
                <c:pt idx="5">
                  <c:v>41090</c:v>
                </c:pt>
                <c:pt idx="6">
                  <c:v>41182</c:v>
                </c:pt>
                <c:pt idx="7">
                  <c:v>41274</c:v>
                </c:pt>
                <c:pt idx="8">
                  <c:v>41364</c:v>
                </c:pt>
                <c:pt idx="9">
                  <c:v>41455</c:v>
                </c:pt>
                <c:pt idx="10">
                  <c:v>41547</c:v>
                </c:pt>
                <c:pt idx="11">
                  <c:v>41639</c:v>
                </c:pt>
                <c:pt idx="12">
                  <c:v>41729</c:v>
                </c:pt>
                <c:pt idx="13">
                  <c:v>41820</c:v>
                </c:pt>
                <c:pt idx="14">
                  <c:v>41912</c:v>
                </c:pt>
                <c:pt idx="15">
                  <c:v>42004</c:v>
                </c:pt>
                <c:pt idx="16">
                  <c:v>42094</c:v>
                </c:pt>
                <c:pt idx="17">
                  <c:v>42185</c:v>
                </c:pt>
                <c:pt idx="18">
                  <c:v>42277</c:v>
                </c:pt>
                <c:pt idx="19">
                  <c:v>42369</c:v>
                </c:pt>
                <c:pt idx="20">
                  <c:v>42460</c:v>
                </c:pt>
                <c:pt idx="21">
                  <c:v>42551</c:v>
                </c:pt>
                <c:pt idx="22">
                  <c:v>42643</c:v>
                </c:pt>
                <c:pt idx="23">
                  <c:v>42735</c:v>
                </c:pt>
                <c:pt idx="24">
                  <c:v>42825</c:v>
                </c:pt>
                <c:pt idx="25">
                  <c:v>42916</c:v>
                </c:pt>
                <c:pt idx="26">
                  <c:v>43008</c:v>
                </c:pt>
                <c:pt idx="27">
                  <c:v>43100</c:v>
                </c:pt>
                <c:pt idx="28">
                  <c:v>43190</c:v>
                </c:pt>
                <c:pt idx="29">
                  <c:v>43281</c:v>
                </c:pt>
                <c:pt idx="30">
                  <c:v>43373</c:v>
                </c:pt>
                <c:pt idx="31">
                  <c:v>43465</c:v>
                </c:pt>
                <c:pt idx="32">
                  <c:v>43555</c:v>
                </c:pt>
                <c:pt idx="33">
                  <c:v>43646</c:v>
                </c:pt>
                <c:pt idx="34">
                  <c:v>43738</c:v>
                </c:pt>
                <c:pt idx="35">
                  <c:v>43830</c:v>
                </c:pt>
                <c:pt idx="36">
                  <c:v>43921</c:v>
                </c:pt>
                <c:pt idx="37">
                  <c:v>44012</c:v>
                </c:pt>
                <c:pt idx="38">
                  <c:v>44104</c:v>
                </c:pt>
                <c:pt idx="39">
                  <c:v>44196</c:v>
                </c:pt>
                <c:pt idx="40">
                  <c:v>44286</c:v>
                </c:pt>
                <c:pt idx="41">
                  <c:v>44377</c:v>
                </c:pt>
                <c:pt idx="42">
                  <c:v>44469</c:v>
                </c:pt>
                <c:pt idx="43">
                  <c:v>44561</c:v>
                </c:pt>
                <c:pt idx="44">
                  <c:v>44651</c:v>
                </c:pt>
                <c:pt idx="45">
                  <c:v>44742</c:v>
                </c:pt>
                <c:pt idx="46">
                  <c:v>44834</c:v>
                </c:pt>
                <c:pt idx="47">
                  <c:v>44926</c:v>
                </c:pt>
                <c:pt idx="48">
                  <c:v>45016</c:v>
                </c:pt>
                <c:pt idx="49">
                  <c:v>45107</c:v>
                </c:pt>
                <c:pt idx="50">
                  <c:v>45199</c:v>
                </c:pt>
                <c:pt idx="51">
                  <c:v>45290</c:v>
                </c:pt>
                <c:pt idx="52">
                  <c:v>45381</c:v>
                </c:pt>
                <c:pt idx="53">
                  <c:v>45473</c:v>
                </c:pt>
                <c:pt idx="54">
                  <c:v>45565</c:v>
                </c:pt>
                <c:pt idx="55">
                  <c:v>45656</c:v>
                </c:pt>
                <c:pt idx="56">
                  <c:v>45746</c:v>
                </c:pt>
                <c:pt idx="57">
                  <c:v>45838</c:v>
                </c:pt>
              </c:numCache>
            </c:numRef>
          </c:cat>
          <c:val>
            <c:numRef>
              <c:f>资产增速与高化之间的相关性!$W$7:$W$64</c:f>
              <c:numCache>
                <c:formatCode>0.0_ </c:formatCode>
                <c:ptCount val="58"/>
                <c:pt idx="0">
                  <c:v>19.320937752627302</c:v>
                </c:pt>
                <c:pt idx="1">
                  <c:v>26.534828807556099</c:v>
                </c:pt>
                <c:pt idx="2">
                  <c:v>23.887814313346201</c:v>
                </c:pt>
                <c:pt idx="3">
                  <c:v>21.046466224131201</c:v>
                </c:pt>
                <c:pt idx="4">
                  <c:v>1.69376693766938</c:v>
                </c:pt>
                <c:pt idx="5">
                  <c:v>0</c:v>
                </c:pt>
                <c:pt idx="6">
                  <c:v>5.8743169398907096</c:v>
                </c:pt>
                <c:pt idx="7">
                  <c:v>10.9032258064516</c:v>
                </c:pt>
                <c:pt idx="8">
                  <c:v>1.2214079502553801</c:v>
                </c:pt>
                <c:pt idx="9">
                  <c:v>1.63284348028925</c:v>
                </c:pt>
                <c:pt idx="10">
                  <c:v>7.1705069124423897</c:v>
                </c:pt>
                <c:pt idx="11">
                  <c:v>-6.4863292611983798</c:v>
                </c:pt>
                <c:pt idx="12">
                  <c:v>13.734093900833701</c:v>
                </c:pt>
                <c:pt idx="13">
                  <c:v>12.4397521230204</c:v>
                </c:pt>
                <c:pt idx="14">
                  <c:v>-1.2727898176814501</c:v>
                </c:pt>
                <c:pt idx="15">
                  <c:v>-1.77293934681182</c:v>
                </c:pt>
                <c:pt idx="16">
                  <c:v>0.36651234567901497</c:v>
                </c:pt>
                <c:pt idx="17">
                  <c:v>-7.2667891406409399</c:v>
                </c:pt>
                <c:pt idx="18">
                  <c:v>-4.18118466898955</c:v>
                </c:pt>
                <c:pt idx="19">
                  <c:v>-0.41165294490184101</c:v>
                </c:pt>
                <c:pt idx="20">
                  <c:v>0.32673457620604501</c:v>
                </c:pt>
                <c:pt idx="21">
                  <c:v>3.9401276689412299</c:v>
                </c:pt>
                <c:pt idx="22">
                  <c:v>7.2727272727272796</c:v>
                </c:pt>
                <c:pt idx="23">
                  <c:v>4.7694753577106601</c:v>
                </c:pt>
                <c:pt idx="24">
                  <c:v>7.2796934865900296</c:v>
                </c:pt>
                <c:pt idx="25">
                  <c:v>16.052520118593801</c:v>
                </c:pt>
                <c:pt idx="26">
                  <c:v>16.440677966101699</c:v>
                </c:pt>
                <c:pt idx="27">
                  <c:v>32.625189681335399</c:v>
                </c:pt>
                <c:pt idx="28">
                  <c:v>38.035714285714299</c:v>
                </c:pt>
                <c:pt idx="29">
                  <c:v>29.197080291970799</c:v>
                </c:pt>
                <c:pt idx="30">
                  <c:v>24.454148471615699</c:v>
                </c:pt>
                <c:pt idx="31">
                  <c:v>16.7048054919908</c:v>
                </c:pt>
                <c:pt idx="32">
                  <c:v>11.293697283311801</c:v>
                </c:pt>
                <c:pt idx="33">
                  <c:v>4.65572881355933</c:v>
                </c:pt>
                <c:pt idx="34">
                  <c:v>-10.942</c:v>
                </c:pt>
                <c:pt idx="35">
                  <c:v>15.1642176470588</c:v>
                </c:pt>
                <c:pt idx="36">
                  <c:v>-3.9337474120082798</c:v>
                </c:pt>
                <c:pt idx="37">
                  <c:v>12.1394230769231</c:v>
                </c:pt>
                <c:pt idx="38">
                  <c:v>34.385964912280699</c:v>
                </c:pt>
                <c:pt idx="39">
                  <c:v>34.571645185746803</c:v>
                </c:pt>
                <c:pt idx="40">
                  <c:v>34.913793103448299</c:v>
                </c:pt>
                <c:pt idx="41">
                  <c:v>40.407288317256203</c:v>
                </c:pt>
                <c:pt idx="42">
                  <c:v>15.4046997389034</c:v>
                </c:pt>
                <c:pt idx="43">
                  <c:v>7.1549295774647996</c:v>
                </c:pt>
                <c:pt idx="44">
                  <c:v>-3.9137380191693301</c:v>
                </c:pt>
                <c:pt idx="45">
                  <c:v>-23.206106870229</c:v>
                </c:pt>
                <c:pt idx="46">
                  <c:v>-4.3110075840893698</c:v>
                </c:pt>
                <c:pt idx="47">
                  <c:v>-7.3135599270022897</c:v>
                </c:pt>
                <c:pt idx="48">
                  <c:v>11.2596502112337</c:v>
                </c:pt>
                <c:pt idx="49">
                  <c:v>45.324911006908799</c:v>
                </c:pt>
                <c:pt idx="50">
                  <c:v>-6.3716814159292099</c:v>
                </c:pt>
                <c:pt idx="51">
                  <c:v>-7.7070063694267503</c:v>
                </c:pt>
                <c:pt idx="52">
                  <c:v>-1.34228187919463</c:v>
                </c:pt>
                <c:pt idx="53">
                  <c:v>-7.4500768049155202</c:v>
                </c:pt>
                <c:pt idx="54">
                  <c:v>-10.7750472589792</c:v>
                </c:pt>
                <c:pt idx="55">
                  <c:v>-11.180124223602499</c:v>
                </c:pt>
                <c:pt idx="56">
                  <c:v>-3.06122448979592</c:v>
                </c:pt>
                <c:pt idx="57">
                  <c:v>-3.2365145228215799</c:v>
                </c:pt>
              </c:numCache>
            </c:numRef>
          </c:val>
          <c:smooth val="0"/>
          <c:extLst>
            <c:ext xmlns:c16="http://schemas.microsoft.com/office/drawing/2014/chart" uri="{C3380CC4-5D6E-409C-BE32-E72D297353CC}">
              <c16:uniqueId val="{00000000-C006-45A1-AC32-35C4F3E492BD}"/>
            </c:ext>
          </c:extLst>
        </c:ser>
        <c:ser>
          <c:idx val="1"/>
          <c:order val="1"/>
          <c:tx>
            <c:strRef>
              <c:f>资产增速与高化之间的相关性!$X$6</c:f>
              <c:strCache>
                <c:ptCount val="1"/>
                <c:pt idx="0">
                  <c:v>大众资产增速T-1</c:v>
                </c:pt>
              </c:strCache>
            </c:strRef>
          </c:tx>
          <c:spPr>
            <a:ln w="19050" cap="rnd" cmpd="sng" algn="ctr">
              <a:solidFill>
                <a:srgbClr val="FF0000"/>
              </a:solidFill>
              <a:prstDash val="solid"/>
              <a:round/>
            </a:ln>
          </c:spPr>
          <c:marker>
            <c:symbol val="none"/>
          </c:marker>
          <c:cat>
            <c:numRef>
              <c:f>资产增速与高化之间的相关性!$V$7:$V$64</c:f>
              <c:numCache>
                <c:formatCode>yyyy"年"m"月";@</c:formatCode>
                <c:ptCount val="58"/>
                <c:pt idx="0">
                  <c:v>40633</c:v>
                </c:pt>
                <c:pt idx="1">
                  <c:v>40724</c:v>
                </c:pt>
                <c:pt idx="2">
                  <c:v>40816</c:v>
                </c:pt>
                <c:pt idx="3">
                  <c:v>40908</c:v>
                </c:pt>
                <c:pt idx="4">
                  <c:v>40999</c:v>
                </c:pt>
                <c:pt idx="5">
                  <c:v>41090</c:v>
                </c:pt>
                <c:pt idx="6">
                  <c:v>41182</c:v>
                </c:pt>
                <c:pt idx="7">
                  <c:v>41274</c:v>
                </c:pt>
                <c:pt idx="8">
                  <c:v>41364</c:v>
                </c:pt>
                <c:pt idx="9">
                  <c:v>41455</c:v>
                </c:pt>
                <c:pt idx="10">
                  <c:v>41547</c:v>
                </c:pt>
                <c:pt idx="11">
                  <c:v>41639</c:v>
                </c:pt>
                <c:pt idx="12">
                  <c:v>41729</c:v>
                </c:pt>
                <c:pt idx="13">
                  <c:v>41820</c:v>
                </c:pt>
                <c:pt idx="14">
                  <c:v>41912</c:v>
                </c:pt>
                <c:pt idx="15">
                  <c:v>42004</c:v>
                </c:pt>
                <c:pt idx="16">
                  <c:v>42094</c:v>
                </c:pt>
                <c:pt idx="17">
                  <c:v>42185</c:v>
                </c:pt>
                <c:pt idx="18">
                  <c:v>42277</c:v>
                </c:pt>
                <c:pt idx="19">
                  <c:v>42369</c:v>
                </c:pt>
                <c:pt idx="20">
                  <c:v>42460</c:v>
                </c:pt>
                <c:pt idx="21">
                  <c:v>42551</c:v>
                </c:pt>
                <c:pt idx="22">
                  <c:v>42643</c:v>
                </c:pt>
                <c:pt idx="23">
                  <c:v>42735</c:v>
                </c:pt>
                <c:pt idx="24">
                  <c:v>42825</c:v>
                </c:pt>
                <c:pt idx="25">
                  <c:v>42916</c:v>
                </c:pt>
                <c:pt idx="26">
                  <c:v>43008</c:v>
                </c:pt>
                <c:pt idx="27">
                  <c:v>43100</c:v>
                </c:pt>
                <c:pt idx="28">
                  <c:v>43190</c:v>
                </c:pt>
                <c:pt idx="29">
                  <c:v>43281</c:v>
                </c:pt>
                <c:pt idx="30">
                  <c:v>43373</c:v>
                </c:pt>
                <c:pt idx="31">
                  <c:v>43465</c:v>
                </c:pt>
                <c:pt idx="32">
                  <c:v>43555</c:v>
                </c:pt>
                <c:pt idx="33">
                  <c:v>43646</c:v>
                </c:pt>
                <c:pt idx="34">
                  <c:v>43738</c:v>
                </c:pt>
                <c:pt idx="35">
                  <c:v>43830</c:v>
                </c:pt>
                <c:pt idx="36">
                  <c:v>43921</c:v>
                </c:pt>
                <c:pt idx="37">
                  <c:v>44012</c:v>
                </c:pt>
                <c:pt idx="38">
                  <c:v>44104</c:v>
                </c:pt>
                <c:pt idx="39">
                  <c:v>44196</c:v>
                </c:pt>
                <c:pt idx="40">
                  <c:v>44286</c:v>
                </c:pt>
                <c:pt idx="41">
                  <c:v>44377</c:v>
                </c:pt>
                <c:pt idx="42">
                  <c:v>44469</c:v>
                </c:pt>
                <c:pt idx="43">
                  <c:v>44561</c:v>
                </c:pt>
                <c:pt idx="44">
                  <c:v>44651</c:v>
                </c:pt>
                <c:pt idx="45">
                  <c:v>44742</c:v>
                </c:pt>
                <c:pt idx="46">
                  <c:v>44834</c:v>
                </c:pt>
                <c:pt idx="47">
                  <c:v>44926</c:v>
                </c:pt>
                <c:pt idx="48">
                  <c:v>45016</c:v>
                </c:pt>
                <c:pt idx="49">
                  <c:v>45107</c:v>
                </c:pt>
                <c:pt idx="50">
                  <c:v>45199</c:v>
                </c:pt>
                <c:pt idx="51">
                  <c:v>45290</c:v>
                </c:pt>
                <c:pt idx="52">
                  <c:v>45381</c:v>
                </c:pt>
                <c:pt idx="53">
                  <c:v>45473</c:v>
                </c:pt>
                <c:pt idx="54">
                  <c:v>45565</c:v>
                </c:pt>
                <c:pt idx="55">
                  <c:v>45656</c:v>
                </c:pt>
                <c:pt idx="56">
                  <c:v>45746</c:v>
                </c:pt>
                <c:pt idx="57">
                  <c:v>45838</c:v>
                </c:pt>
              </c:numCache>
            </c:numRef>
          </c:cat>
          <c:val>
            <c:numRef>
              <c:f>资产增速与高化之间的相关性!$X$7:$X$64</c:f>
              <c:numCache>
                <c:formatCode>0.0</c:formatCode>
                <c:ptCount val="58"/>
                <c:pt idx="0">
                  <c:v>12.972863507024501</c:v>
                </c:pt>
                <c:pt idx="1">
                  <c:v>13.409753535967999</c:v>
                </c:pt>
                <c:pt idx="2">
                  <c:v>14.626795665229601</c:v>
                </c:pt>
                <c:pt idx="3">
                  <c:v>13.2331885450598</c:v>
                </c:pt>
                <c:pt idx="4">
                  <c:v>12.9001977400693</c:v>
                </c:pt>
                <c:pt idx="5">
                  <c:v>13.360163915137299</c:v>
                </c:pt>
                <c:pt idx="6">
                  <c:v>13.3034376112948</c:v>
                </c:pt>
                <c:pt idx="7">
                  <c:v>13.729498614006699</c:v>
                </c:pt>
                <c:pt idx="8">
                  <c:v>13.633980500660201</c:v>
                </c:pt>
                <c:pt idx="9">
                  <c:v>14.009002746076501</c:v>
                </c:pt>
                <c:pt idx="10">
                  <c:v>13.239219908197899</c:v>
                </c:pt>
                <c:pt idx="11">
                  <c:v>13.639086713704099</c:v>
                </c:pt>
                <c:pt idx="12">
                  <c:v>13.039050482383701</c:v>
                </c:pt>
                <c:pt idx="13">
                  <c:v>11.509385072968801</c:v>
                </c:pt>
                <c:pt idx="14">
                  <c:v>10.8083279211862</c:v>
                </c:pt>
                <c:pt idx="15">
                  <c:v>8.9509840501879001</c:v>
                </c:pt>
                <c:pt idx="16">
                  <c:v>8.3205070744213305</c:v>
                </c:pt>
                <c:pt idx="17">
                  <c:v>10.233280777545801</c:v>
                </c:pt>
                <c:pt idx="18">
                  <c:v>13.390104259276301</c:v>
                </c:pt>
                <c:pt idx="19">
                  <c:v>11.680011525736999</c:v>
                </c:pt>
                <c:pt idx="20">
                  <c:v>13.412519306744001</c:v>
                </c:pt>
                <c:pt idx="21">
                  <c:v>13.759247046237499</c:v>
                </c:pt>
                <c:pt idx="22">
                  <c:v>14.4333885387306</c:v>
                </c:pt>
                <c:pt idx="23">
                  <c:v>17.281905640937001</c:v>
                </c:pt>
                <c:pt idx="24">
                  <c:v>19.0061160030087</c:v>
                </c:pt>
                <c:pt idx="25">
                  <c:v>20.019635690567299</c:v>
                </c:pt>
                <c:pt idx="26">
                  <c:v>21.309737994471501</c:v>
                </c:pt>
                <c:pt idx="27">
                  <c:v>19.571469283385799</c:v>
                </c:pt>
                <c:pt idx="28">
                  <c:v>16.298253498206002</c:v>
                </c:pt>
                <c:pt idx="29">
                  <c:v>15.6992752468192</c:v>
                </c:pt>
                <c:pt idx="30">
                  <c:v>14.4492032975441</c:v>
                </c:pt>
                <c:pt idx="31">
                  <c:v>17.404031375979599</c:v>
                </c:pt>
                <c:pt idx="32">
                  <c:v>17.03999495687</c:v>
                </c:pt>
                <c:pt idx="33">
                  <c:v>15.074467924432801</c:v>
                </c:pt>
                <c:pt idx="34">
                  <c:v>11.4550172441536</c:v>
                </c:pt>
                <c:pt idx="35">
                  <c:v>8.6803016091811394</c:v>
                </c:pt>
                <c:pt idx="36">
                  <c:v>8.1825827214549403</c:v>
                </c:pt>
                <c:pt idx="37">
                  <c:v>8.7677262791995592</c:v>
                </c:pt>
                <c:pt idx="38">
                  <c:v>10.3211445610984</c:v>
                </c:pt>
                <c:pt idx="39">
                  <c:v>11.6990849569987</c:v>
                </c:pt>
                <c:pt idx="40">
                  <c:v>13.156591688398899</c:v>
                </c:pt>
                <c:pt idx="41">
                  <c:v>12.238980784759001</c:v>
                </c:pt>
                <c:pt idx="42">
                  <c:v>11.566380148256201</c:v>
                </c:pt>
                <c:pt idx="43">
                  <c:v>9.5227938705487407</c:v>
                </c:pt>
                <c:pt idx="44">
                  <c:v>7.0724415373102598</c:v>
                </c:pt>
                <c:pt idx="45">
                  <c:v>3.91330674288713</c:v>
                </c:pt>
                <c:pt idx="46">
                  <c:v>1.0490760824155401</c:v>
                </c:pt>
                <c:pt idx="47">
                  <c:v>-0.73218398097344894</c:v>
                </c:pt>
                <c:pt idx="48">
                  <c:v>-1.31679223689223</c:v>
                </c:pt>
                <c:pt idx="49">
                  <c:v>3.53291359171806E-2</c:v>
                </c:pt>
                <c:pt idx="50">
                  <c:v>-0.38502999653814002</c:v>
                </c:pt>
                <c:pt idx="51">
                  <c:v>-0.78862900005752201</c:v>
                </c:pt>
                <c:pt idx="52">
                  <c:v>-2.4945065382588201</c:v>
                </c:pt>
                <c:pt idx="53">
                  <c:v>-5.01275798502681</c:v>
                </c:pt>
                <c:pt idx="54">
                  <c:v>-6.9333390776106301</c:v>
                </c:pt>
                <c:pt idx="55">
                  <c:v>-7.7831701525430601</c:v>
                </c:pt>
                <c:pt idx="56">
                  <c:v>-4.5695778480181497</c:v>
                </c:pt>
                <c:pt idx="57">
                  <c:v>-1.2477287094499201</c:v>
                </c:pt>
              </c:numCache>
            </c:numRef>
          </c:val>
          <c:smooth val="0"/>
          <c:extLst>
            <c:ext xmlns:c16="http://schemas.microsoft.com/office/drawing/2014/chart" uri="{C3380CC4-5D6E-409C-BE32-E72D297353CC}">
              <c16:uniqueId val="{00000001-C006-45A1-AC32-35C4F3E492BD}"/>
            </c:ext>
          </c:extLst>
        </c:ser>
        <c:ser>
          <c:idx val="2"/>
          <c:order val="2"/>
          <c:tx>
            <c:strRef>
              <c:f>资产增速与高化之间的相关性!$Y$6</c:f>
              <c:strCache>
                <c:ptCount val="1"/>
                <c:pt idx="0">
                  <c:v>居民资产增速T-0</c:v>
                </c:pt>
              </c:strCache>
            </c:strRef>
          </c:tx>
          <c:spPr>
            <a:ln w="12700" cap="rnd" cmpd="sng" algn="ctr">
              <a:solidFill>
                <a:srgbClr val="EEECE1">
                  <a:lumMod val="90000"/>
                </a:srgbClr>
              </a:solidFill>
              <a:prstDash val="solid"/>
              <a:round/>
            </a:ln>
          </c:spPr>
          <c:marker>
            <c:symbol val="none"/>
          </c:marker>
          <c:cat>
            <c:numRef>
              <c:f>资产增速与高化之间的相关性!$V$7:$V$64</c:f>
              <c:numCache>
                <c:formatCode>yyyy"年"m"月";@</c:formatCode>
                <c:ptCount val="58"/>
                <c:pt idx="0">
                  <c:v>40633</c:v>
                </c:pt>
                <c:pt idx="1">
                  <c:v>40724</c:v>
                </c:pt>
                <c:pt idx="2">
                  <c:v>40816</c:v>
                </c:pt>
                <c:pt idx="3">
                  <c:v>40908</c:v>
                </c:pt>
                <c:pt idx="4">
                  <c:v>40999</c:v>
                </c:pt>
                <c:pt idx="5">
                  <c:v>41090</c:v>
                </c:pt>
                <c:pt idx="6">
                  <c:v>41182</c:v>
                </c:pt>
                <c:pt idx="7">
                  <c:v>41274</c:v>
                </c:pt>
                <c:pt idx="8">
                  <c:v>41364</c:v>
                </c:pt>
                <c:pt idx="9">
                  <c:v>41455</c:v>
                </c:pt>
                <c:pt idx="10">
                  <c:v>41547</c:v>
                </c:pt>
                <c:pt idx="11">
                  <c:v>41639</c:v>
                </c:pt>
                <c:pt idx="12">
                  <c:v>41729</c:v>
                </c:pt>
                <c:pt idx="13">
                  <c:v>41820</c:v>
                </c:pt>
                <c:pt idx="14">
                  <c:v>41912</c:v>
                </c:pt>
                <c:pt idx="15">
                  <c:v>42004</c:v>
                </c:pt>
                <c:pt idx="16">
                  <c:v>42094</c:v>
                </c:pt>
                <c:pt idx="17">
                  <c:v>42185</c:v>
                </c:pt>
                <c:pt idx="18">
                  <c:v>42277</c:v>
                </c:pt>
                <c:pt idx="19">
                  <c:v>42369</c:v>
                </c:pt>
                <c:pt idx="20">
                  <c:v>42460</c:v>
                </c:pt>
                <c:pt idx="21">
                  <c:v>42551</c:v>
                </c:pt>
                <c:pt idx="22">
                  <c:v>42643</c:v>
                </c:pt>
                <c:pt idx="23">
                  <c:v>42735</c:v>
                </c:pt>
                <c:pt idx="24">
                  <c:v>42825</c:v>
                </c:pt>
                <c:pt idx="25">
                  <c:v>42916</c:v>
                </c:pt>
                <c:pt idx="26">
                  <c:v>43008</c:v>
                </c:pt>
                <c:pt idx="27">
                  <c:v>43100</c:v>
                </c:pt>
                <c:pt idx="28">
                  <c:v>43190</c:v>
                </c:pt>
                <c:pt idx="29">
                  <c:v>43281</c:v>
                </c:pt>
                <c:pt idx="30">
                  <c:v>43373</c:v>
                </c:pt>
                <c:pt idx="31">
                  <c:v>43465</c:v>
                </c:pt>
                <c:pt idx="32">
                  <c:v>43555</c:v>
                </c:pt>
                <c:pt idx="33">
                  <c:v>43646</c:v>
                </c:pt>
                <c:pt idx="34">
                  <c:v>43738</c:v>
                </c:pt>
                <c:pt idx="35">
                  <c:v>43830</c:v>
                </c:pt>
                <c:pt idx="36">
                  <c:v>43921</c:v>
                </c:pt>
                <c:pt idx="37">
                  <c:v>44012</c:v>
                </c:pt>
                <c:pt idx="38">
                  <c:v>44104</c:v>
                </c:pt>
                <c:pt idx="39">
                  <c:v>44196</c:v>
                </c:pt>
                <c:pt idx="40">
                  <c:v>44286</c:v>
                </c:pt>
                <c:pt idx="41">
                  <c:v>44377</c:v>
                </c:pt>
                <c:pt idx="42">
                  <c:v>44469</c:v>
                </c:pt>
                <c:pt idx="43">
                  <c:v>44561</c:v>
                </c:pt>
                <c:pt idx="44">
                  <c:v>44651</c:v>
                </c:pt>
                <c:pt idx="45">
                  <c:v>44742</c:v>
                </c:pt>
                <c:pt idx="46">
                  <c:v>44834</c:v>
                </c:pt>
                <c:pt idx="47">
                  <c:v>44926</c:v>
                </c:pt>
                <c:pt idx="48">
                  <c:v>45016</c:v>
                </c:pt>
                <c:pt idx="49">
                  <c:v>45107</c:v>
                </c:pt>
                <c:pt idx="50">
                  <c:v>45199</c:v>
                </c:pt>
                <c:pt idx="51">
                  <c:v>45290</c:v>
                </c:pt>
                <c:pt idx="52">
                  <c:v>45381</c:v>
                </c:pt>
                <c:pt idx="53">
                  <c:v>45473</c:v>
                </c:pt>
                <c:pt idx="54">
                  <c:v>45565</c:v>
                </c:pt>
                <c:pt idx="55">
                  <c:v>45656</c:v>
                </c:pt>
                <c:pt idx="56">
                  <c:v>45746</c:v>
                </c:pt>
                <c:pt idx="57">
                  <c:v>45838</c:v>
                </c:pt>
              </c:numCache>
            </c:numRef>
          </c:cat>
          <c:val>
            <c:numRef>
              <c:f>资产增速与高化之间的相关性!$Y$7:$Y$64</c:f>
              <c:numCache>
                <c:formatCode>General</c:formatCode>
                <c:ptCount val="58"/>
                <c:pt idx="0">
                  <c:v>14.2474927948559</c:v>
                </c:pt>
                <c:pt idx="1">
                  <c:v>15.2492627069176</c:v>
                </c:pt>
                <c:pt idx="2">
                  <c:v>14.026624539577099</c:v>
                </c:pt>
                <c:pt idx="3">
                  <c:v>14.0249468338149</c:v>
                </c:pt>
                <c:pt idx="4">
                  <c:v>14.649630119638701</c:v>
                </c:pt>
                <c:pt idx="5">
                  <c:v>14.8353949901243</c:v>
                </c:pt>
                <c:pt idx="6">
                  <c:v>15.4405673192944</c:v>
                </c:pt>
                <c:pt idx="7">
                  <c:v>15.4659691795617</c:v>
                </c:pt>
                <c:pt idx="8">
                  <c:v>15.6203329765218</c:v>
                </c:pt>
                <c:pt idx="9">
                  <c:v>14.6516225668323</c:v>
                </c:pt>
                <c:pt idx="10">
                  <c:v>14.8140609044542</c:v>
                </c:pt>
                <c:pt idx="11">
                  <c:v>14.003518609437901</c:v>
                </c:pt>
                <c:pt idx="12">
                  <c:v>12.915402670857899</c:v>
                </c:pt>
                <c:pt idx="13">
                  <c:v>12.6643147869495</c:v>
                </c:pt>
                <c:pt idx="14">
                  <c:v>11.2082476836102</c:v>
                </c:pt>
                <c:pt idx="15">
                  <c:v>11.015368122209001</c:v>
                </c:pt>
                <c:pt idx="16">
                  <c:v>13.1903166026169</c:v>
                </c:pt>
                <c:pt idx="17">
                  <c:v>16.8058234074404</c:v>
                </c:pt>
                <c:pt idx="18">
                  <c:v>15.443733383641</c:v>
                </c:pt>
                <c:pt idx="19">
                  <c:v>17.132943773506501</c:v>
                </c:pt>
                <c:pt idx="20">
                  <c:v>16.360316759181298</c:v>
                </c:pt>
                <c:pt idx="21">
                  <c:v>15.440910052350199</c:v>
                </c:pt>
                <c:pt idx="22">
                  <c:v>18.466754115629399</c:v>
                </c:pt>
                <c:pt idx="23">
                  <c:v>18.5069735751274</c:v>
                </c:pt>
                <c:pt idx="24">
                  <c:v>18.628171915973098</c:v>
                </c:pt>
                <c:pt idx="25">
                  <c:v>18.703254068110901</c:v>
                </c:pt>
                <c:pt idx="26">
                  <c:v>16.6409985363054</c:v>
                </c:pt>
                <c:pt idx="27">
                  <c:v>14.954659682366801</c:v>
                </c:pt>
                <c:pt idx="28">
                  <c:v>13.9658350675407</c:v>
                </c:pt>
                <c:pt idx="29">
                  <c:v>12.6276884900629</c:v>
                </c:pt>
                <c:pt idx="30">
                  <c:v>14.647641866261001</c:v>
                </c:pt>
                <c:pt idx="31">
                  <c:v>13.453328774467799</c:v>
                </c:pt>
                <c:pt idx="32">
                  <c:v>12.3371142312368</c:v>
                </c:pt>
                <c:pt idx="33">
                  <c:v>9.7317070200373799</c:v>
                </c:pt>
                <c:pt idx="34">
                  <c:v>7.7904571474134698</c:v>
                </c:pt>
                <c:pt idx="35">
                  <c:v>7.8107078386403499</c:v>
                </c:pt>
                <c:pt idx="36">
                  <c:v>8.6641027742878194</c:v>
                </c:pt>
                <c:pt idx="37">
                  <c:v>10.138374303748201</c:v>
                </c:pt>
                <c:pt idx="38">
                  <c:v>11.573078875543899</c:v>
                </c:pt>
                <c:pt idx="39">
                  <c:v>13.0032941057113</c:v>
                </c:pt>
                <c:pt idx="40">
                  <c:v>12.544323711510801</c:v>
                </c:pt>
                <c:pt idx="41">
                  <c:v>12.037137256725901</c:v>
                </c:pt>
                <c:pt idx="42">
                  <c:v>10.1778178061244</c:v>
                </c:pt>
                <c:pt idx="43">
                  <c:v>7.7821032838332203</c:v>
                </c:pt>
                <c:pt idx="44">
                  <c:v>4.1407260596281201</c:v>
                </c:pt>
                <c:pt idx="45">
                  <c:v>1.33629883134938</c:v>
                </c:pt>
                <c:pt idx="46">
                  <c:v>-0.917766535937525</c:v>
                </c:pt>
                <c:pt idx="47">
                  <c:v>-2.1912171260601299</c:v>
                </c:pt>
                <c:pt idx="48">
                  <c:v>-0.354087527239555</c:v>
                </c:pt>
                <c:pt idx="49">
                  <c:v>-0.81451450280329896</c:v>
                </c:pt>
                <c:pt idx="50">
                  <c:v>-0.669355430015106</c:v>
                </c:pt>
                <c:pt idx="51">
                  <c:v>-1.6328470140112099</c:v>
                </c:pt>
                <c:pt idx="52">
                  <c:v>-3.0346514630799502</c:v>
                </c:pt>
                <c:pt idx="53">
                  <c:v>-4.1175344051197698</c:v>
                </c:pt>
                <c:pt idx="54">
                  <c:v>-4.5692071348537402</c:v>
                </c:pt>
                <c:pt idx="55">
                  <c:v>-1.27673318769516</c:v>
                </c:pt>
                <c:pt idx="56">
                  <c:v>1.4217279344570299</c:v>
                </c:pt>
                <c:pt idx="57">
                  <c:v>2.31656384511132</c:v>
                </c:pt>
              </c:numCache>
            </c:numRef>
          </c:val>
          <c:smooth val="0"/>
          <c:extLst>
            <c:ext xmlns:c16="http://schemas.microsoft.com/office/drawing/2014/chart" uri="{C3380CC4-5D6E-409C-BE32-E72D297353CC}">
              <c16:uniqueId val="{00000002-C006-45A1-AC32-35C4F3E492BD}"/>
            </c:ext>
          </c:extLst>
        </c:ser>
        <c:dLbls>
          <c:showLegendKey val="0"/>
          <c:showVal val="0"/>
          <c:showCatName val="0"/>
          <c:showSerName val="0"/>
          <c:showPercent val="0"/>
          <c:showBubbleSize val="0"/>
        </c:dLbls>
        <c:smooth val="0"/>
        <c:axId val="-2136968240"/>
        <c:axId val="-2136963344"/>
      </c:lineChart>
      <c:dateAx>
        <c:axId val="-2136968240"/>
        <c:scaling>
          <c:orientation val="minMax"/>
        </c:scaling>
        <c:delete val="0"/>
        <c:axPos val="b"/>
        <c:numFmt formatCode="yyyy&quot;年&quot;m&quot;月&quot;;@" sourceLinked="1"/>
        <c:majorTickMark val="out"/>
        <c:minorTickMark val="none"/>
        <c:tickLblPos val="nextTo"/>
        <c:spPr>
          <a:noFill/>
          <a:ln w="6350" cap="flat" cmpd="sng" algn="ctr">
            <a:solidFill>
              <a:srgbClr val="000000"/>
            </a:solidFill>
            <a:prstDash val="solid"/>
            <a:round/>
          </a:ln>
        </c:spPr>
        <c:txPr>
          <a:bodyPr rot="-60000000" spcFirstLastPara="0" vertOverflow="ellipsis" vert="horz" wrap="square" anchor="ctr" anchorCtr="1"/>
          <a:lstStyle/>
          <a:p>
            <a:pPr>
              <a:defRPr lang="zh-CN" sz="700" b="0" i="0" u="none" strike="noStrike" kern="1200" baseline="0">
                <a:solidFill>
                  <a:srgbClr val="000000"/>
                </a:solidFill>
                <a:latin typeface="Times New Roman" panose="02020503050405090304" pitchFamily="12"/>
                <a:ea typeface="Times New Roman" panose="02020503050405090304" pitchFamily="12"/>
                <a:cs typeface="Times New Roman" panose="02020503050405090304" pitchFamily="12"/>
              </a:defRPr>
            </a:pPr>
            <a:endParaRPr lang="zh-CN"/>
          </a:p>
        </c:txPr>
        <c:crossAx val="-2136963344"/>
        <c:crosses val="autoZero"/>
        <c:auto val="1"/>
        <c:lblOffset val="100"/>
        <c:baseTimeUnit val="months"/>
      </c:dateAx>
      <c:valAx>
        <c:axId val="-2136963344"/>
        <c:scaling>
          <c:orientation val="minMax"/>
        </c:scaling>
        <c:delete val="0"/>
        <c:axPos val="l"/>
        <c:numFmt formatCode="0.0_ " sourceLinked="1"/>
        <c:majorTickMark val="out"/>
        <c:minorTickMark val="none"/>
        <c:tickLblPos val="nextTo"/>
        <c:spPr>
          <a:noFill/>
          <a:ln w="6350" cap="flat" cmpd="sng" algn="ctr">
            <a:solidFill>
              <a:srgbClr val="000000"/>
            </a:solidFill>
            <a:prstDash val="solid"/>
            <a:round/>
          </a:ln>
        </c:spPr>
        <c:txPr>
          <a:bodyPr rot="-60000000" spcFirstLastPara="0" vertOverflow="ellipsis" vert="horz" wrap="square" anchor="ctr" anchorCtr="1"/>
          <a:lstStyle/>
          <a:p>
            <a:pPr>
              <a:defRPr lang="zh-CN" sz="700" b="0" i="0" u="none" strike="noStrike" kern="1200" baseline="0">
                <a:solidFill>
                  <a:srgbClr val="000000"/>
                </a:solidFill>
                <a:latin typeface="Times New Roman" panose="02020503050405090304" pitchFamily="12"/>
                <a:ea typeface="Times New Roman" panose="02020503050405090304" pitchFamily="12"/>
                <a:cs typeface="Times New Roman" panose="02020503050405090304" pitchFamily="12"/>
              </a:defRPr>
            </a:pPr>
            <a:endParaRPr lang="zh-CN"/>
          </a:p>
        </c:txPr>
        <c:crossAx val="-2136968240"/>
        <c:crosses val="autoZero"/>
        <c:crossBetween val="between"/>
      </c:valAx>
      <c:spPr>
        <a:solidFill>
          <a:sysClr val="window" lastClr="FFFFFF"/>
        </a:solidFill>
        <a:ln>
          <a:noFill/>
        </a:ln>
        <a:effectLst/>
      </c:spPr>
    </c:plotArea>
    <c:legend>
      <c:legendPos val="b"/>
      <c:overlay val="0"/>
      <c:txPr>
        <a:bodyPr rot="0" spcFirstLastPara="0" vertOverflow="ellipsis" vert="horz" wrap="square" anchor="ctr" anchorCtr="1"/>
        <a:lstStyle/>
        <a:p>
          <a:pPr>
            <a:defRPr lang="zh-CN" sz="700" b="0" i="0" u="none" strike="noStrike" kern="1200" baseline="0">
              <a:solidFill>
                <a:srgbClr val="000000"/>
              </a:solidFill>
              <a:latin typeface="Times New Roman" panose="02020503050405090304" charset="0"/>
              <a:ea typeface="楷体_GB2312" panose="02010609030101010101" pitchFamily="49" charset="-122"/>
              <a:cs typeface="+mn-cs"/>
            </a:defRPr>
          </a:pPr>
          <a:endParaRPr lang="zh-CN"/>
        </a:p>
      </c:txPr>
    </c:legend>
    <c:plotVisOnly val="1"/>
    <c:dispBlanksAs val="gap"/>
    <c:showDLblsOverMax val="0"/>
  </c:chart>
  <c:spPr>
    <a:ln w="9525" cap="flat" cmpd="sng" algn="ctr">
      <a:noFill/>
      <a:prstDash val="solid"/>
      <a:round/>
    </a:ln>
  </c:spPr>
  <c:txPr>
    <a:bodyPr/>
    <a:lstStyle/>
    <a:p>
      <a:pPr>
        <a:defRPr lang="zh-CN"/>
      </a:pPr>
      <a:endParaRPr lang="zh-CN"/>
    </a:p>
  </c:txPr>
  <c:externalData r:id="rId2">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clustered"/>
        <c:varyColors val="0"/>
        <c:ser>
          <c:idx val="1"/>
          <c:order val="0"/>
          <c:tx>
            <c:strRef>
              <c:f>数据汇总!$A$2</c:f>
              <c:strCache>
                <c:ptCount val="1"/>
                <c:pt idx="0">
                  <c:v>可比项目客流同比</c:v>
                </c:pt>
              </c:strCache>
            </c:strRef>
          </c:tx>
          <c:spPr>
            <a:solidFill>
              <a:schemeClr val="accent1">
                <a:lumMod val="75000"/>
              </a:schemeClr>
            </a:solidFill>
            <a:ln>
              <a:noFill/>
            </a:ln>
            <a:effectLst/>
          </c:spPr>
          <c:invertIfNegative val="0"/>
          <c:cat>
            <c:strRef>
              <c:f>数据汇总!$B$1:$W$1</c:f>
              <c:strCache>
                <c:ptCount val="13"/>
                <c:pt idx="0">
                  <c:v>2024.10</c:v>
                </c:pt>
                <c:pt idx="1">
                  <c:v>2024.11</c:v>
                </c:pt>
                <c:pt idx="2">
                  <c:v>2024.12</c:v>
                </c:pt>
                <c:pt idx="3">
                  <c:v>2025.01</c:v>
                </c:pt>
                <c:pt idx="4">
                  <c:v>2025.02</c:v>
                </c:pt>
                <c:pt idx="5">
                  <c:v>2025.03</c:v>
                </c:pt>
                <c:pt idx="6">
                  <c:v>2025.04</c:v>
                </c:pt>
                <c:pt idx="7">
                  <c:v>2025.05</c:v>
                </c:pt>
                <c:pt idx="8">
                  <c:v>2025.06</c:v>
                </c:pt>
                <c:pt idx="9">
                  <c:v>2025.07</c:v>
                </c:pt>
                <c:pt idx="10">
                  <c:v>2025.08</c:v>
                </c:pt>
                <c:pt idx="11">
                  <c:v>2025.09</c:v>
                </c:pt>
                <c:pt idx="12">
                  <c:v>2025.10</c:v>
                </c:pt>
              </c:strCache>
            </c:strRef>
          </c:cat>
          <c:val>
            <c:numRef>
              <c:f>数据汇总!$B$2:$W$2</c:f>
              <c:numCache>
                <c:formatCode>General</c:formatCode>
                <c:ptCount val="13"/>
                <c:pt idx="0">
                  <c:v>6.5</c:v>
                </c:pt>
                <c:pt idx="1">
                  <c:v>3.9</c:v>
                </c:pt>
                <c:pt idx="2">
                  <c:v>5.6</c:v>
                </c:pt>
                <c:pt idx="3">
                  <c:v>7.2</c:v>
                </c:pt>
                <c:pt idx="4">
                  <c:v>-3.9</c:v>
                </c:pt>
                <c:pt idx="5">
                  <c:v>10.199999999999999</c:v>
                </c:pt>
                <c:pt idx="6">
                  <c:v>9.5</c:v>
                </c:pt>
                <c:pt idx="7">
                  <c:v>11.9</c:v>
                </c:pt>
                <c:pt idx="8">
                  <c:v>4.3</c:v>
                </c:pt>
                <c:pt idx="9">
                  <c:v>7.8</c:v>
                </c:pt>
                <c:pt idx="10">
                  <c:v>6.9</c:v>
                </c:pt>
                <c:pt idx="11">
                  <c:v>2.6</c:v>
                </c:pt>
                <c:pt idx="12">
                  <c:v>11.3</c:v>
                </c:pt>
              </c:numCache>
            </c:numRef>
          </c:val>
          <c:extLst>
            <c:ext xmlns:c16="http://schemas.microsoft.com/office/drawing/2014/chart" uri="{C3380CC4-5D6E-409C-BE32-E72D297353CC}">
              <c16:uniqueId val="{00000000-9006-4D2F-8533-49049A95E8C8}"/>
            </c:ext>
          </c:extLst>
        </c:ser>
        <c:ser>
          <c:idx val="2"/>
          <c:order val="1"/>
          <c:tx>
            <c:strRef>
              <c:f>数据汇总!$A$3</c:f>
              <c:strCache>
                <c:ptCount val="1"/>
                <c:pt idx="0">
                  <c:v>可比项目零售额同比</c:v>
                </c:pt>
              </c:strCache>
            </c:strRef>
          </c:tx>
          <c:spPr>
            <a:solidFill>
              <a:schemeClr val="accent3"/>
            </a:solidFill>
            <a:ln>
              <a:noFill/>
            </a:ln>
            <a:effectLst/>
          </c:spPr>
          <c:invertIfNegative val="0"/>
          <c:cat>
            <c:strRef>
              <c:f>数据汇总!$B$1:$W$1</c:f>
              <c:strCache>
                <c:ptCount val="13"/>
                <c:pt idx="0">
                  <c:v>2024.10</c:v>
                </c:pt>
                <c:pt idx="1">
                  <c:v>2024.11</c:v>
                </c:pt>
                <c:pt idx="2">
                  <c:v>2024.12</c:v>
                </c:pt>
                <c:pt idx="3">
                  <c:v>2025.01</c:v>
                </c:pt>
                <c:pt idx="4">
                  <c:v>2025.02</c:v>
                </c:pt>
                <c:pt idx="5">
                  <c:v>2025.03</c:v>
                </c:pt>
                <c:pt idx="6">
                  <c:v>2025.04</c:v>
                </c:pt>
                <c:pt idx="7">
                  <c:v>2025.05</c:v>
                </c:pt>
                <c:pt idx="8">
                  <c:v>2025.06</c:v>
                </c:pt>
                <c:pt idx="9">
                  <c:v>2025.07</c:v>
                </c:pt>
                <c:pt idx="10">
                  <c:v>2025.08</c:v>
                </c:pt>
                <c:pt idx="11">
                  <c:v>2025.09</c:v>
                </c:pt>
                <c:pt idx="12">
                  <c:v>2025.10</c:v>
                </c:pt>
              </c:strCache>
            </c:strRef>
          </c:cat>
          <c:val>
            <c:numRef>
              <c:f>数据汇总!$B$3:$W$3</c:f>
              <c:numCache>
                <c:formatCode>General</c:formatCode>
                <c:ptCount val="13"/>
                <c:pt idx="0">
                  <c:v>9.6</c:v>
                </c:pt>
                <c:pt idx="1">
                  <c:v>4.7</c:v>
                </c:pt>
                <c:pt idx="2">
                  <c:v>11.8</c:v>
                </c:pt>
                <c:pt idx="3">
                  <c:v>5.0999999999999996</c:v>
                </c:pt>
                <c:pt idx="4">
                  <c:v>-1.6</c:v>
                </c:pt>
                <c:pt idx="5">
                  <c:v>8.9</c:v>
                </c:pt>
                <c:pt idx="6">
                  <c:v>12.7</c:v>
                </c:pt>
                <c:pt idx="7">
                  <c:v>13.3</c:v>
                </c:pt>
                <c:pt idx="8">
                  <c:v>6.7</c:v>
                </c:pt>
                <c:pt idx="9">
                  <c:v>9.1</c:v>
                </c:pt>
                <c:pt idx="10">
                  <c:v>8.5</c:v>
                </c:pt>
                <c:pt idx="11">
                  <c:v>4.9000000000000004</c:v>
                </c:pt>
                <c:pt idx="12">
                  <c:v>10.7</c:v>
                </c:pt>
              </c:numCache>
            </c:numRef>
          </c:val>
          <c:extLst>
            <c:ext xmlns:c16="http://schemas.microsoft.com/office/drawing/2014/chart" uri="{C3380CC4-5D6E-409C-BE32-E72D297353CC}">
              <c16:uniqueId val="{00000001-9006-4D2F-8533-49049A95E8C8}"/>
            </c:ext>
          </c:extLst>
        </c:ser>
        <c:dLbls>
          <c:showLegendKey val="0"/>
          <c:showVal val="0"/>
          <c:showCatName val="0"/>
          <c:showSerName val="0"/>
          <c:showPercent val="0"/>
          <c:showBubbleSize val="0"/>
        </c:dLbls>
        <c:gapWidth val="219"/>
        <c:overlap val="-27"/>
        <c:axId val="873272368"/>
        <c:axId val="873281968"/>
      </c:barChart>
      <c:lineChart>
        <c:grouping val="standard"/>
        <c:varyColors val="0"/>
        <c:ser>
          <c:idx val="4"/>
          <c:order val="2"/>
          <c:tx>
            <c:strRef>
              <c:f>数据汇总!$A$4</c:f>
              <c:strCache>
                <c:ptCount val="1"/>
                <c:pt idx="0">
                  <c:v>客单价同比</c:v>
                </c:pt>
              </c:strCache>
            </c:strRef>
          </c:tx>
          <c:spPr>
            <a:ln w="28575" cap="rnd">
              <a:solidFill>
                <a:schemeClr val="accent5"/>
              </a:solidFill>
              <a:round/>
            </a:ln>
            <a:effectLst/>
          </c:spPr>
          <c:marker>
            <c:symbol val="none"/>
          </c:marker>
          <c:cat>
            <c:strRef>
              <c:f>数据汇总!$B$1:$V$1</c:f>
              <c:strCache>
                <c:ptCount val="12"/>
                <c:pt idx="0">
                  <c:v>2024.10</c:v>
                </c:pt>
                <c:pt idx="1">
                  <c:v>2024.11</c:v>
                </c:pt>
                <c:pt idx="2">
                  <c:v>2024.12</c:v>
                </c:pt>
                <c:pt idx="3">
                  <c:v>2025.01</c:v>
                </c:pt>
                <c:pt idx="4">
                  <c:v>2025.02</c:v>
                </c:pt>
                <c:pt idx="5">
                  <c:v>2025.03</c:v>
                </c:pt>
                <c:pt idx="6">
                  <c:v>2025.04</c:v>
                </c:pt>
                <c:pt idx="7">
                  <c:v>2025.05</c:v>
                </c:pt>
                <c:pt idx="8">
                  <c:v>2025.06</c:v>
                </c:pt>
                <c:pt idx="9">
                  <c:v>2025.07</c:v>
                </c:pt>
                <c:pt idx="10">
                  <c:v>2025.08</c:v>
                </c:pt>
                <c:pt idx="11">
                  <c:v>2025.09</c:v>
                </c:pt>
              </c:strCache>
            </c:strRef>
          </c:cat>
          <c:val>
            <c:numRef>
              <c:f>数据汇总!$B$4:$W$4</c:f>
              <c:numCache>
                <c:formatCode>0.0</c:formatCode>
                <c:ptCount val="13"/>
                <c:pt idx="0">
                  <c:v>2.91079812206572</c:v>
                </c:pt>
                <c:pt idx="1">
                  <c:v>0.76997112608276896</c:v>
                </c:pt>
                <c:pt idx="2">
                  <c:v>5.87121212121213</c:v>
                </c:pt>
                <c:pt idx="3">
                  <c:v>-1.9589552238806101</c:v>
                </c:pt>
                <c:pt idx="4">
                  <c:v>2.3933402705515099</c:v>
                </c:pt>
                <c:pt idx="5">
                  <c:v>-1.1796733212341199</c:v>
                </c:pt>
                <c:pt idx="6">
                  <c:v>2.9223744292237401</c:v>
                </c:pt>
                <c:pt idx="7">
                  <c:v>1.2511170688114199</c:v>
                </c:pt>
                <c:pt idx="8">
                  <c:v>2.3010546500479498</c:v>
                </c:pt>
                <c:pt idx="9">
                  <c:v>1.20593692022264</c:v>
                </c:pt>
                <c:pt idx="10">
                  <c:v>1.49672591206735</c:v>
                </c:pt>
                <c:pt idx="11">
                  <c:v>2.2417153996101602</c:v>
                </c:pt>
                <c:pt idx="12">
                  <c:v>-0.539083557951481</c:v>
                </c:pt>
              </c:numCache>
            </c:numRef>
          </c:val>
          <c:smooth val="0"/>
          <c:extLst>
            <c:ext xmlns:c16="http://schemas.microsoft.com/office/drawing/2014/chart" uri="{C3380CC4-5D6E-409C-BE32-E72D297353CC}">
              <c16:uniqueId val="{00000002-9006-4D2F-8533-49049A95E8C8}"/>
            </c:ext>
          </c:extLst>
        </c:ser>
        <c:dLbls>
          <c:showLegendKey val="0"/>
          <c:showVal val="0"/>
          <c:showCatName val="0"/>
          <c:showSerName val="0"/>
          <c:showPercent val="0"/>
          <c:showBubbleSize val="0"/>
        </c:dLbls>
        <c:marker val="1"/>
        <c:smooth val="0"/>
        <c:axId val="873272368"/>
        <c:axId val="873281968"/>
      </c:lineChart>
      <c:catAx>
        <c:axId val="873272368"/>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900" b="0" i="0" u="none" strike="noStrike" kern="1200" baseline="0">
                <a:solidFill>
                  <a:schemeClr val="tx1">
                    <a:lumMod val="65000"/>
                    <a:lumOff val="35000"/>
                  </a:schemeClr>
                </a:solidFill>
                <a:latin typeface="Arial" panose="020B0604020202090204" pitchFamily="34" charset="0"/>
                <a:ea typeface="楷体_GB2312" panose="02010609030101010101" pitchFamily="49" charset="-122"/>
                <a:cs typeface="Arial" panose="020B0604020202090204" pitchFamily="34" charset="0"/>
              </a:defRPr>
            </a:pPr>
            <a:endParaRPr lang="zh-CN"/>
          </a:p>
        </c:txPr>
        <c:crossAx val="873281968"/>
        <c:crosses val="autoZero"/>
        <c:auto val="1"/>
        <c:lblAlgn val="ctr"/>
        <c:lblOffset val="100"/>
        <c:noMultiLvlLbl val="0"/>
      </c:catAx>
      <c:valAx>
        <c:axId val="87328196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spPr>
          <a:noFill/>
          <a:ln>
            <a:solidFill>
              <a:srgbClr val="4472C4"/>
            </a:solidFill>
          </a:ln>
          <a:effectLst/>
        </c:spPr>
        <c:txPr>
          <a:bodyPr rot="-60000000" spcFirstLastPara="1" vertOverflow="ellipsis" vert="horz" wrap="square" anchor="ctr" anchorCtr="1"/>
          <a:lstStyle/>
          <a:p>
            <a:pPr>
              <a:defRPr lang="zh-CN" sz="900" b="0" i="0" u="none" strike="noStrike" kern="1200" baseline="0">
                <a:solidFill>
                  <a:schemeClr val="tx1">
                    <a:lumMod val="65000"/>
                    <a:lumOff val="35000"/>
                  </a:schemeClr>
                </a:solidFill>
                <a:latin typeface="Arial" panose="020B0604020202090204" pitchFamily="34" charset="0"/>
                <a:ea typeface="楷体_GB2312" panose="02010609030101010101" pitchFamily="49" charset="-122"/>
                <a:cs typeface="Arial" panose="020B0604020202090204" pitchFamily="34" charset="0"/>
              </a:defRPr>
            </a:pPr>
            <a:endParaRPr lang="zh-CN"/>
          </a:p>
        </c:txPr>
        <c:crossAx val="87327236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900" b="0" i="0" u="none" strike="noStrike" kern="1200" baseline="0">
              <a:solidFill>
                <a:schemeClr val="tx1">
                  <a:lumMod val="65000"/>
                  <a:lumOff val="35000"/>
                </a:schemeClr>
              </a:solidFill>
              <a:latin typeface="Arial" panose="020B0604020202090204" pitchFamily="34" charset="0"/>
              <a:ea typeface="楷体_GB2312" panose="02010609030101010101" pitchFamily="49" charset="-122"/>
              <a:cs typeface="Arial" panose="020B0604020202090204" pitchFamily="34" charset="0"/>
            </a:defRPr>
          </a:pPr>
          <a:endParaRPr lang="zh-CN"/>
        </a:p>
      </c:txPr>
    </c:legend>
    <c:plotVisOnly val="1"/>
    <c:dispBlanksAs val="gap"/>
    <c:showDLblsOverMax val="0"/>
  </c:chart>
  <c:spPr>
    <a:noFill/>
    <a:ln>
      <a:noFill/>
    </a:ln>
    <a:effectLst/>
  </c:spPr>
  <c:txPr>
    <a:bodyPr/>
    <a:lstStyle/>
    <a:p>
      <a:pPr>
        <a:defRPr lang="zh-CN" sz="900">
          <a:latin typeface="Arial" panose="020B0604020202090204" pitchFamily="34" charset="0"/>
          <a:ea typeface="楷体_GB2312" panose="02010609030101010101" pitchFamily="49" charset="-122"/>
          <a:cs typeface="Arial" panose="020B0604020202090204" pitchFamily="34" charset="0"/>
        </a:defRPr>
      </a:pPr>
      <a:endParaRPr lang="zh-CN"/>
    </a:p>
  </c:txPr>
  <c:externalData r:id="rId4">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[蓝领用功与社零数据对比.xlsx]Sheet4!$B$1</c:f>
              <c:strCache>
                <c:ptCount val="1"/>
                <c:pt idx="0">
                  <c:v>蓝领用工量月末周度值同比增减（t-1）</c:v>
                </c:pt>
              </c:strCache>
            </c:strRef>
          </c:tx>
          <c:spPr>
            <a:ln w="28575" cap="rnd">
              <a:solidFill>
                <a:schemeClr val="accent1"/>
              </a:solidFill>
              <a:round/>
            </a:ln>
            <a:effectLst/>
          </c:spPr>
          <c:marker>
            <c:symbol val="none"/>
          </c:marker>
          <c:cat>
            <c:numRef>
              <c:f>[蓝领用功与社零数据对比.xlsx]Sheet4!$A$2:$A$61</c:f>
              <c:numCache>
                <c:formatCode>yyyy\-mm</c:formatCode>
                <c:ptCount val="60"/>
                <c:pt idx="0">
                  <c:v>44044</c:v>
                </c:pt>
                <c:pt idx="1">
                  <c:v>44075</c:v>
                </c:pt>
                <c:pt idx="2">
                  <c:v>44105</c:v>
                </c:pt>
                <c:pt idx="3">
                  <c:v>44136</c:v>
                </c:pt>
                <c:pt idx="4">
                  <c:v>44166</c:v>
                </c:pt>
                <c:pt idx="5">
                  <c:v>44228</c:v>
                </c:pt>
                <c:pt idx="6">
                  <c:v>44256</c:v>
                </c:pt>
                <c:pt idx="7">
                  <c:v>44287</c:v>
                </c:pt>
                <c:pt idx="8">
                  <c:v>44317</c:v>
                </c:pt>
                <c:pt idx="9">
                  <c:v>44348</c:v>
                </c:pt>
                <c:pt idx="10">
                  <c:v>44378</c:v>
                </c:pt>
                <c:pt idx="11">
                  <c:v>44409</c:v>
                </c:pt>
                <c:pt idx="12">
                  <c:v>44440</c:v>
                </c:pt>
                <c:pt idx="13">
                  <c:v>44470</c:v>
                </c:pt>
                <c:pt idx="14">
                  <c:v>44501</c:v>
                </c:pt>
                <c:pt idx="15">
                  <c:v>44531</c:v>
                </c:pt>
                <c:pt idx="16">
                  <c:v>44593</c:v>
                </c:pt>
                <c:pt idx="17">
                  <c:v>44621</c:v>
                </c:pt>
                <c:pt idx="18">
                  <c:v>44652</c:v>
                </c:pt>
                <c:pt idx="19">
                  <c:v>44682</c:v>
                </c:pt>
                <c:pt idx="20">
                  <c:v>44713</c:v>
                </c:pt>
                <c:pt idx="21">
                  <c:v>44743</c:v>
                </c:pt>
                <c:pt idx="22">
                  <c:v>44774</c:v>
                </c:pt>
                <c:pt idx="23">
                  <c:v>44805</c:v>
                </c:pt>
                <c:pt idx="24">
                  <c:v>44835</c:v>
                </c:pt>
                <c:pt idx="25">
                  <c:v>44866</c:v>
                </c:pt>
                <c:pt idx="26">
                  <c:v>44896</c:v>
                </c:pt>
                <c:pt idx="27">
                  <c:v>44958</c:v>
                </c:pt>
                <c:pt idx="28">
                  <c:v>44986</c:v>
                </c:pt>
                <c:pt idx="29">
                  <c:v>45017</c:v>
                </c:pt>
                <c:pt idx="30">
                  <c:v>45047</c:v>
                </c:pt>
                <c:pt idx="31">
                  <c:v>45078</c:v>
                </c:pt>
                <c:pt idx="32">
                  <c:v>45108</c:v>
                </c:pt>
                <c:pt idx="33">
                  <c:v>45139</c:v>
                </c:pt>
                <c:pt idx="34">
                  <c:v>45170</c:v>
                </c:pt>
                <c:pt idx="35">
                  <c:v>45200</c:v>
                </c:pt>
                <c:pt idx="36">
                  <c:v>45231</c:v>
                </c:pt>
                <c:pt idx="37">
                  <c:v>45261</c:v>
                </c:pt>
                <c:pt idx="38">
                  <c:v>45323</c:v>
                </c:pt>
                <c:pt idx="39">
                  <c:v>45352</c:v>
                </c:pt>
                <c:pt idx="40">
                  <c:v>45383</c:v>
                </c:pt>
                <c:pt idx="41">
                  <c:v>45413</c:v>
                </c:pt>
                <c:pt idx="42">
                  <c:v>45444</c:v>
                </c:pt>
                <c:pt idx="43">
                  <c:v>45474</c:v>
                </c:pt>
                <c:pt idx="44">
                  <c:v>45505</c:v>
                </c:pt>
                <c:pt idx="45">
                  <c:v>45536</c:v>
                </c:pt>
                <c:pt idx="46">
                  <c:v>45566</c:v>
                </c:pt>
                <c:pt idx="47">
                  <c:v>45597</c:v>
                </c:pt>
                <c:pt idx="48">
                  <c:v>45627</c:v>
                </c:pt>
                <c:pt idx="49">
                  <c:v>45689</c:v>
                </c:pt>
                <c:pt idx="50">
                  <c:v>45717</c:v>
                </c:pt>
                <c:pt idx="51">
                  <c:v>45748</c:v>
                </c:pt>
                <c:pt idx="52">
                  <c:v>45778</c:v>
                </c:pt>
                <c:pt idx="53">
                  <c:v>45809</c:v>
                </c:pt>
                <c:pt idx="54">
                  <c:v>45839</c:v>
                </c:pt>
                <c:pt idx="55">
                  <c:v>45870</c:v>
                </c:pt>
                <c:pt idx="56">
                  <c:v>45901</c:v>
                </c:pt>
                <c:pt idx="57">
                  <c:v>45931</c:v>
                </c:pt>
                <c:pt idx="58">
                  <c:v>45962</c:v>
                </c:pt>
                <c:pt idx="59">
                  <c:v>45962</c:v>
                </c:pt>
              </c:numCache>
            </c:numRef>
          </c:cat>
          <c:val>
            <c:numRef>
              <c:f>[蓝领用功与社零数据对比.xlsx]Sheet4!$B$2:$B$61</c:f>
              <c:numCache>
                <c:formatCode>0.0</c:formatCode>
                <c:ptCount val="60"/>
                <c:pt idx="0">
                  <c:v>1.13831689242166</c:v>
                </c:pt>
                <c:pt idx="1">
                  <c:v>1.7063468370791499</c:v>
                </c:pt>
                <c:pt idx="2">
                  <c:v>2.2031499627660098</c:v>
                </c:pt>
                <c:pt idx="3">
                  <c:v>1.37002712996467</c:v>
                </c:pt>
                <c:pt idx="4">
                  <c:v>0.239649114749589</c:v>
                </c:pt>
                <c:pt idx="5">
                  <c:v>0.63642238763372005</c:v>
                </c:pt>
                <c:pt idx="6">
                  <c:v>5.8617126323282802</c:v>
                </c:pt>
                <c:pt idx="7">
                  <c:v>1.3728615059590801</c:v>
                </c:pt>
                <c:pt idx="8">
                  <c:v>3.69077745227652</c:v>
                </c:pt>
                <c:pt idx="9">
                  <c:v>1.4836646119627701</c:v>
                </c:pt>
                <c:pt idx="10">
                  <c:v>1.5741022015621899</c:v>
                </c:pt>
                <c:pt idx="11">
                  <c:v>1.6566140360661199</c:v>
                </c:pt>
                <c:pt idx="12">
                  <c:v>0.88851126369209998</c:v>
                </c:pt>
                <c:pt idx="13">
                  <c:v>-2.44335020618117</c:v>
                </c:pt>
                <c:pt idx="14">
                  <c:v>0.78789091589055005</c:v>
                </c:pt>
                <c:pt idx="15">
                  <c:v>1.5300119083158099</c:v>
                </c:pt>
                <c:pt idx="16">
                  <c:v>0.61436411889944997</c:v>
                </c:pt>
                <c:pt idx="17">
                  <c:v>7.96905806206087E-2</c:v>
                </c:pt>
                <c:pt idx="18">
                  <c:v>-5.6723605693683998</c:v>
                </c:pt>
                <c:pt idx="19">
                  <c:v>-5.1653746854794003</c:v>
                </c:pt>
                <c:pt idx="20">
                  <c:v>-1.6526511585183801</c:v>
                </c:pt>
                <c:pt idx="21">
                  <c:v>-3.2120565956651101</c:v>
                </c:pt>
                <c:pt idx="22">
                  <c:v>-1.21803371726443</c:v>
                </c:pt>
                <c:pt idx="23">
                  <c:v>-1.39098314136778</c:v>
                </c:pt>
                <c:pt idx="24">
                  <c:v>5.3131427784100203E-2</c:v>
                </c:pt>
                <c:pt idx="25">
                  <c:v>-3.6658848075478399</c:v>
                </c:pt>
                <c:pt idx="26">
                  <c:v>-1.520957651667</c:v>
                </c:pt>
                <c:pt idx="27">
                  <c:v>0.63811513996372105</c:v>
                </c:pt>
                <c:pt idx="28">
                  <c:v>-7.1158977656325302</c:v>
                </c:pt>
                <c:pt idx="29">
                  <c:v>2.1827975684728198</c:v>
                </c:pt>
                <c:pt idx="30">
                  <c:v>2.77229528686575</c:v>
                </c:pt>
                <c:pt idx="31">
                  <c:v>-0.68673256153450002</c:v>
                </c:pt>
                <c:pt idx="32">
                  <c:v>1.1439856444104699</c:v>
                </c:pt>
                <c:pt idx="33">
                  <c:v>-1.4983220100449799</c:v>
                </c:pt>
                <c:pt idx="34">
                  <c:v>-1.79055142391308</c:v>
                </c:pt>
                <c:pt idx="35">
                  <c:v>-0.56205282305818005</c:v>
                </c:pt>
                <c:pt idx="36">
                  <c:v>1.6543570329594699</c:v>
                </c:pt>
                <c:pt idx="37">
                  <c:v>-1.08971259296196</c:v>
                </c:pt>
                <c:pt idx="38">
                  <c:v>-1.2954410505562199</c:v>
                </c:pt>
                <c:pt idx="39">
                  <c:v>2.59145947400018</c:v>
                </c:pt>
                <c:pt idx="40">
                  <c:v>-0.45384133399381998</c:v>
                </c:pt>
                <c:pt idx="41">
                  <c:v>-1.24965800497984</c:v>
                </c:pt>
                <c:pt idx="42">
                  <c:v>-0.77430953091734001</c:v>
                </c:pt>
                <c:pt idx="43">
                  <c:v>-1.3593063652080299</c:v>
                </c:pt>
                <c:pt idx="44">
                  <c:v>-0.73646536254753003</c:v>
                </c:pt>
                <c:pt idx="45">
                  <c:v>-0.33062471090348999</c:v>
                </c:pt>
                <c:pt idx="46">
                  <c:v>1.26290477612039</c:v>
                </c:pt>
                <c:pt idx="47">
                  <c:v>-0.56240055900193597</c:v>
                </c:pt>
                <c:pt idx="48">
                  <c:v>8.7603213605010194E-2</c:v>
                </c:pt>
                <c:pt idx="49">
                  <c:v>-0.44482644367825602</c:v>
                </c:pt>
                <c:pt idx="50">
                  <c:v>-1.2406168704421201</c:v>
                </c:pt>
                <c:pt idx="51">
                  <c:v>-3.2779033490903102E-2</c:v>
                </c:pt>
                <c:pt idx="52">
                  <c:v>0.33969208966338899</c:v>
                </c:pt>
                <c:pt idx="53">
                  <c:v>-0.605336106472808</c:v>
                </c:pt>
                <c:pt idx="54">
                  <c:v>-0.43011655715171399</c:v>
                </c:pt>
                <c:pt idx="55">
                  <c:v>-0.82633870137027299</c:v>
                </c:pt>
                <c:pt idx="56">
                  <c:v>-1.2903627935662301</c:v>
                </c:pt>
                <c:pt idx="57">
                  <c:v>-1.7679551481889999</c:v>
                </c:pt>
                <c:pt idx="58">
                  <c:v>-0.68729681231116801</c:v>
                </c:pt>
                <c:pt idx="59">
                  <c:v>-0.37020099793654698</c:v>
                </c:pt>
              </c:numCache>
            </c:numRef>
          </c:val>
          <c:smooth val="0"/>
          <c:extLst>
            <c:ext xmlns:c16="http://schemas.microsoft.com/office/drawing/2014/chart" uri="{C3380CC4-5D6E-409C-BE32-E72D297353CC}">
              <c16:uniqueId val="{00000000-FF56-4E45-B0A5-6BC6ED436DC5}"/>
            </c:ext>
          </c:extLst>
        </c:ser>
        <c:dLbls>
          <c:showLegendKey val="0"/>
          <c:showVal val="0"/>
          <c:showCatName val="0"/>
          <c:showSerName val="0"/>
          <c:showPercent val="0"/>
          <c:showBubbleSize val="0"/>
        </c:dLbls>
        <c:marker val="1"/>
        <c:smooth val="0"/>
        <c:axId val="789609019"/>
        <c:axId val="90984364"/>
      </c:lineChart>
      <c:lineChart>
        <c:grouping val="standard"/>
        <c:varyColors val="0"/>
        <c:ser>
          <c:idx val="1"/>
          <c:order val="1"/>
          <c:tx>
            <c:strRef>
              <c:f>[蓝领用功与社零数据对比.xlsx]Sheet4!$C$1</c:f>
              <c:strCache>
                <c:ptCount val="1"/>
                <c:pt idx="0">
                  <c:v>社零同比（右轴）</c:v>
                </c:pt>
              </c:strCache>
            </c:strRef>
          </c:tx>
          <c:spPr>
            <a:ln w="28575" cap="rnd">
              <a:solidFill>
                <a:schemeClr val="accent2"/>
              </a:solidFill>
              <a:round/>
            </a:ln>
            <a:effectLst/>
          </c:spPr>
          <c:marker>
            <c:symbol val="none"/>
          </c:marker>
          <c:cat>
            <c:numRef>
              <c:f>[蓝领用功与社零数据对比.xlsx]Sheet4!$A$2:$A$61</c:f>
              <c:numCache>
                <c:formatCode>yyyy\-mm</c:formatCode>
                <c:ptCount val="60"/>
                <c:pt idx="0">
                  <c:v>44044</c:v>
                </c:pt>
                <c:pt idx="1">
                  <c:v>44075</c:v>
                </c:pt>
                <c:pt idx="2">
                  <c:v>44105</c:v>
                </c:pt>
                <c:pt idx="3">
                  <c:v>44136</c:v>
                </c:pt>
                <c:pt idx="4">
                  <c:v>44166</c:v>
                </c:pt>
                <c:pt idx="5">
                  <c:v>44228</c:v>
                </c:pt>
                <c:pt idx="6">
                  <c:v>44256</c:v>
                </c:pt>
                <c:pt idx="7">
                  <c:v>44287</c:v>
                </c:pt>
                <c:pt idx="8">
                  <c:v>44317</c:v>
                </c:pt>
                <c:pt idx="9">
                  <c:v>44348</c:v>
                </c:pt>
                <c:pt idx="10">
                  <c:v>44378</c:v>
                </c:pt>
                <c:pt idx="11">
                  <c:v>44409</c:v>
                </c:pt>
                <c:pt idx="12">
                  <c:v>44440</c:v>
                </c:pt>
                <c:pt idx="13">
                  <c:v>44470</c:v>
                </c:pt>
                <c:pt idx="14">
                  <c:v>44501</c:v>
                </c:pt>
                <c:pt idx="15">
                  <c:v>44531</c:v>
                </c:pt>
                <c:pt idx="16">
                  <c:v>44593</c:v>
                </c:pt>
                <c:pt idx="17">
                  <c:v>44621</c:v>
                </c:pt>
                <c:pt idx="18">
                  <c:v>44652</c:v>
                </c:pt>
                <c:pt idx="19">
                  <c:v>44682</c:v>
                </c:pt>
                <c:pt idx="20">
                  <c:v>44713</c:v>
                </c:pt>
                <c:pt idx="21">
                  <c:v>44743</c:v>
                </c:pt>
                <c:pt idx="22">
                  <c:v>44774</c:v>
                </c:pt>
                <c:pt idx="23">
                  <c:v>44805</c:v>
                </c:pt>
                <c:pt idx="24">
                  <c:v>44835</c:v>
                </c:pt>
                <c:pt idx="25">
                  <c:v>44866</c:v>
                </c:pt>
                <c:pt idx="26">
                  <c:v>44896</c:v>
                </c:pt>
                <c:pt idx="27">
                  <c:v>44958</c:v>
                </c:pt>
                <c:pt idx="28">
                  <c:v>44986</c:v>
                </c:pt>
                <c:pt idx="29">
                  <c:v>45017</c:v>
                </c:pt>
                <c:pt idx="30">
                  <c:v>45047</c:v>
                </c:pt>
                <c:pt idx="31">
                  <c:v>45078</c:v>
                </c:pt>
                <c:pt idx="32">
                  <c:v>45108</c:v>
                </c:pt>
                <c:pt idx="33">
                  <c:v>45139</c:v>
                </c:pt>
                <c:pt idx="34">
                  <c:v>45170</c:v>
                </c:pt>
                <c:pt idx="35">
                  <c:v>45200</c:v>
                </c:pt>
                <c:pt idx="36">
                  <c:v>45231</c:v>
                </c:pt>
                <c:pt idx="37">
                  <c:v>45261</c:v>
                </c:pt>
                <c:pt idx="38">
                  <c:v>45323</c:v>
                </c:pt>
                <c:pt idx="39">
                  <c:v>45352</c:v>
                </c:pt>
                <c:pt idx="40">
                  <c:v>45383</c:v>
                </c:pt>
                <c:pt idx="41">
                  <c:v>45413</c:v>
                </c:pt>
                <c:pt idx="42">
                  <c:v>45444</c:v>
                </c:pt>
                <c:pt idx="43">
                  <c:v>45474</c:v>
                </c:pt>
                <c:pt idx="44">
                  <c:v>45505</c:v>
                </c:pt>
                <c:pt idx="45">
                  <c:v>45536</c:v>
                </c:pt>
                <c:pt idx="46">
                  <c:v>45566</c:v>
                </c:pt>
                <c:pt idx="47">
                  <c:v>45597</c:v>
                </c:pt>
                <c:pt idx="48">
                  <c:v>45627</c:v>
                </c:pt>
                <c:pt idx="49">
                  <c:v>45689</c:v>
                </c:pt>
                <c:pt idx="50">
                  <c:v>45717</c:v>
                </c:pt>
                <c:pt idx="51">
                  <c:v>45748</c:v>
                </c:pt>
                <c:pt idx="52">
                  <c:v>45778</c:v>
                </c:pt>
                <c:pt idx="53">
                  <c:v>45809</c:v>
                </c:pt>
                <c:pt idx="54">
                  <c:v>45839</c:v>
                </c:pt>
                <c:pt idx="55">
                  <c:v>45870</c:v>
                </c:pt>
                <c:pt idx="56">
                  <c:v>45901</c:v>
                </c:pt>
                <c:pt idx="57">
                  <c:v>45931</c:v>
                </c:pt>
                <c:pt idx="58">
                  <c:v>45962</c:v>
                </c:pt>
                <c:pt idx="59">
                  <c:v>45962</c:v>
                </c:pt>
              </c:numCache>
            </c:numRef>
          </c:cat>
          <c:val>
            <c:numRef>
              <c:f>[蓝领用功与社零数据对比.xlsx]Sheet4!$C$2:$C$61</c:f>
              <c:numCache>
                <c:formatCode>#,##0.00_ </c:formatCode>
                <c:ptCount val="60"/>
                <c:pt idx="0">
                  <c:v>0.5</c:v>
                </c:pt>
                <c:pt idx="1">
                  <c:v>3.3</c:v>
                </c:pt>
                <c:pt idx="2">
                  <c:v>4.3</c:v>
                </c:pt>
                <c:pt idx="3">
                  <c:v>5</c:v>
                </c:pt>
                <c:pt idx="4">
                  <c:v>4.5999999999999996</c:v>
                </c:pt>
                <c:pt idx="5">
                  <c:v>33.799999999999997</c:v>
                </c:pt>
                <c:pt idx="6">
                  <c:v>34.200000000000003</c:v>
                </c:pt>
                <c:pt idx="7">
                  <c:v>17.7</c:v>
                </c:pt>
                <c:pt idx="8">
                  <c:v>12.4</c:v>
                </c:pt>
                <c:pt idx="9">
                  <c:v>12.1</c:v>
                </c:pt>
                <c:pt idx="10">
                  <c:v>8.5</c:v>
                </c:pt>
                <c:pt idx="11">
                  <c:v>2.5</c:v>
                </c:pt>
                <c:pt idx="12">
                  <c:v>4.4000000000000004</c:v>
                </c:pt>
                <c:pt idx="13">
                  <c:v>4.9000000000000004</c:v>
                </c:pt>
                <c:pt idx="14">
                  <c:v>3.9</c:v>
                </c:pt>
                <c:pt idx="15">
                  <c:v>1.7</c:v>
                </c:pt>
                <c:pt idx="16">
                  <c:v>6.7</c:v>
                </c:pt>
                <c:pt idx="17">
                  <c:v>-3.5254120000000002</c:v>
                </c:pt>
                <c:pt idx="18">
                  <c:v>-11.1</c:v>
                </c:pt>
                <c:pt idx="19">
                  <c:v>-6.7</c:v>
                </c:pt>
                <c:pt idx="20">
                  <c:v>3.1</c:v>
                </c:pt>
                <c:pt idx="21">
                  <c:v>2.7</c:v>
                </c:pt>
                <c:pt idx="22">
                  <c:v>5.4</c:v>
                </c:pt>
                <c:pt idx="23">
                  <c:v>2.5</c:v>
                </c:pt>
                <c:pt idx="24">
                  <c:v>-0.5</c:v>
                </c:pt>
                <c:pt idx="25">
                  <c:v>-5.9</c:v>
                </c:pt>
                <c:pt idx="26">
                  <c:v>-1.8</c:v>
                </c:pt>
                <c:pt idx="27">
                  <c:v>3.5</c:v>
                </c:pt>
                <c:pt idx="28">
                  <c:v>10.6</c:v>
                </c:pt>
                <c:pt idx="29">
                  <c:v>18.399999999999999</c:v>
                </c:pt>
                <c:pt idx="30">
                  <c:v>12.7</c:v>
                </c:pt>
                <c:pt idx="31">
                  <c:v>3.1</c:v>
                </c:pt>
                <c:pt idx="32">
                  <c:v>2.5</c:v>
                </c:pt>
                <c:pt idx="33">
                  <c:v>4.5999999999999996</c:v>
                </c:pt>
                <c:pt idx="34">
                  <c:v>5.5</c:v>
                </c:pt>
                <c:pt idx="35">
                  <c:v>7.6</c:v>
                </c:pt>
                <c:pt idx="36">
                  <c:v>10.1</c:v>
                </c:pt>
                <c:pt idx="37">
                  <c:v>7.4</c:v>
                </c:pt>
                <c:pt idx="38">
                  <c:v>5.5</c:v>
                </c:pt>
                <c:pt idx="39">
                  <c:v>3.1</c:v>
                </c:pt>
                <c:pt idx="40">
                  <c:v>2.2999999999999998</c:v>
                </c:pt>
                <c:pt idx="41">
                  <c:v>3.7</c:v>
                </c:pt>
                <c:pt idx="42">
                  <c:v>2</c:v>
                </c:pt>
                <c:pt idx="43">
                  <c:v>2.7</c:v>
                </c:pt>
                <c:pt idx="44">
                  <c:v>2.1</c:v>
                </c:pt>
                <c:pt idx="45">
                  <c:v>3.2</c:v>
                </c:pt>
                <c:pt idx="46">
                  <c:v>4.8</c:v>
                </c:pt>
                <c:pt idx="47">
                  <c:v>3</c:v>
                </c:pt>
                <c:pt idx="48">
                  <c:v>3.7</c:v>
                </c:pt>
                <c:pt idx="49">
                  <c:v>4</c:v>
                </c:pt>
                <c:pt idx="50">
                  <c:v>5.9</c:v>
                </c:pt>
                <c:pt idx="51">
                  <c:v>5.0999999999999996</c:v>
                </c:pt>
                <c:pt idx="52">
                  <c:v>6.4</c:v>
                </c:pt>
                <c:pt idx="53">
                  <c:v>4.8</c:v>
                </c:pt>
                <c:pt idx="54">
                  <c:v>3.7</c:v>
                </c:pt>
                <c:pt idx="55">
                  <c:v>3.4</c:v>
                </c:pt>
                <c:pt idx="56">
                  <c:v>3</c:v>
                </c:pt>
                <c:pt idx="57">
                  <c:v>2.9</c:v>
                </c:pt>
              </c:numCache>
            </c:numRef>
          </c:val>
          <c:smooth val="0"/>
          <c:extLst>
            <c:ext xmlns:c16="http://schemas.microsoft.com/office/drawing/2014/chart" uri="{C3380CC4-5D6E-409C-BE32-E72D297353CC}">
              <c16:uniqueId val="{00000001-FF56-4E45-B0A5-6BC6ED436DC5}"/>
            </c:ext>
          </c:extLst>
        </c:ser>
        <c:dLbls>
          <c:showLegendKey val="0"/>
          <c:showVal val="0"/>
          <c:showCatName val="0"/>
          <c:showSerName val="0"/>
          <c:showPercent val="0"/>
          <c:showBubbleSize val="0"/>
        </c:dLbls>
        <c:marker val="1"/>
        <c:smooth val="0"/>
        <c:axId val="607970596"/>
        <c:axId val="273445923"/>
      </c:lineChart>
      <c:dateAx>
        <c:axId val="789609019"/>
        <c:scaling>
          <c:orientation val="minMax"/>
        </c:scaling>
        <c:delete val="0"/>
        <c:axPos val="b"/>
        <c:numFmt formatCode="yyyy\-mm" sourceLinked="0"/>
        <c:majorTickMark val="out"/>
        <c:minorTickMark val="none"/>
        <c:tickLblPos val="low"/>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endParaRPr lang="zh-CN"/>
          </a:p>
        </c:txPr>
        <c:crossAx val="90984364"/>
        <c:crosses val="autoZero"/>
        <c:auto val="1"/>
        <c:lblOffset val="100"/>
        <c:baseTimeUnit val="days"/>
      </c:dateAx>
      <c:valAx>
        <c:axId val="90984364"/>
        <c:scaling>
          <c:orientation val="minMax"/>
        </c:scaling>
        <c:delete val="0"/>
        <c:axPos val="l"/>
        <c:numFmt formatCode="#,##0_ " sourceLinked="0"/>
        <c:majorTickMark val="out"/>
        <c:minorTickMark val="none"/>
        <c:tickLblPos val="nextTo"/>
        <c:spPr>
          <a:noFill/>
          <a:ln>
            <a:solidFill>
              <a:schemeClr val="accent1"/>
            </a:solidFill>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endParaRPr lang="zh-CN"/>
          </a:p>
        </c:txPr>
        <c:crossAx val="789609019"/>
        <c:crosses val="autoZero"/>
        <c:crossBetween val="between"/>
      </c:valAx>
      <c:dateAx>
        <c:axId val="607970596"/>
        <c:scaling>
          <c:orientation val="minMax"/>
        </c:scaling>
        <c:delete val="1"/>
        <c:axPos val="b"/>
        <c:numFmt formatCode="yyyy\-mm" sourceLinked="1"/>
        <c:majorTickMark val="out"/>
        <c:minorTickMark val="none"/>
        <c:tickLblPos val="nextTo"/>
        <c:crossAx val="273445923"/>
        <c:crosses val="autoZero"/>
        <c:auto val="1"/>
        <c:lblOffset val="100"/>
        <c:baseTimeUnit val="days"/>
      </c:dateAx>
      <c:valAx>
        <c:axId val="273445923"/>
        <c:scaling>
          <c:orientation val="minMax"/>
        </c:scaling>
        <c:delete val="0"/>
        <c:axPos val="r"/>
        <c:numFmt formatCode="0_ " sourceLinked="0"/>
        <c:majorTickMark val="out"/>
        <c:minorTickMark val="none"/>
        <c:tickLblPos val="nextTo"/>
        <c:spPr>
          <a:noFill/>
          <a:ln>
            <a:solidFill>
              <a:schemeClr val="accent1"/>
            </a:solidFill>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endParaRPr lang="zh-CN"/>
          </a:p>
        </c:txPr>
        <c:crossAx val="607970596"/>
        <c:crosses val="max"/>
        <c:crossBetween val="between"/>
        <c:majorUnit val="10"/>
      </c:valAx>
      <c:spPr>
        <a:noFill/>
        <a:ln>
          <a:noFill/>
        </a:ln>
        <a:effectLst/>
      </c:spPr>
    </c:plotArea>
    <c:legend>
      <c:legendPos val="b"/>
      <c:overlay val="0"/>
      <c:spPr>
        <a:noFill/>
        <a:ln>
          <a:noFill/>
        </a:ln>
        <a:effectLst/>
      </c:spPr>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solidFill>
      <a:schemeClr val="bg1"/>
    </a:solidFill>
    <a:ln w="9525" cap="flat" cmpd="sng" algn="ctr">
      <a:noFill/>
      <a:round/>
    </a:ln>
    <a:effectLst/>
  </c:spPr>
  <c:txPr>
    <a:bodyPr/>
    <a:lstStyle/>
    <a:p>
      <a:pPr>
        <a:defRPr lang="zh-CN"/>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0.90134</cdr:x>
      <cdr:y>0.25982</cdr:y>
    </cdr:from>
    <cdr:to>
      <cdr:x>0.97397</cdr:x>
      <cdr:y>0.83798</cdr:y>
    </cdr:to>
    <cdr:sp macro="" textlink="">
      <cdr:nvSpPr>
        <cdr:cNvPr id="2" name="矩形 1">
          <a:extLst xmlns:a="http://schemas.openxmlformats.org/drawingml/2006/main">
            <a:ext uri="{FF2B5EF4-FFF2-40B4-BE49-F238E27FC236}">
              <a16:creationId xmlns:a16="http://schemas.microsoft.com/office/drawing/2014/main" id="{EB4F70F9-CF12-9516-D9C7-427AAE2E2B9B}"/>
            </a:ext>
          </a:extLst>
        </cdr:cNvPr>
        <cdr:cNvSpPr/>
      </cdr:nvSpPr>
      <cdr:spPr>
        <a:xfrm xmlns:a="http://schemas.openxmlformats.org/drawingml/2006/main">
          <a:off x="4119792" y="712081"/>
          <a:ext cx="331940" cy="1584543"/>
        </a:xfrm>
        <a:prstGeom xmlns:a="http://schemas.openxmlformats.org/drawingml/2006/main" prst="rect">
          <a:avLst/>
        </a:prstGeom>
        <a:solidFill xmlns:a="http://schemas.openxmlformats.org/drawingml/2006/main">
          <a:srgbClr val="99CCFF">
            <a:alpha val="20000"/>
          </a:srgbClr>
        </a:solidFill>
        <a:ln xmlns:a="http://schemas.openxmlformats.org/drawingml/2006/main">
          <a:noFill/>
        </a:ln>
      </cdr:spPr>
      <cdr: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cdr:style>
      <cdr:txBody>
        <a:bodyPr xmlns:a="http://schemas.openxmlformats.org/drawingml/2006/main" vertOverflow="clip"/>
        <a:lstStyle xmlns:a="http://schemas.openxmlformats.org/drawingml/2006/main"/>
        <a:p xmlns:a="http://schemas.openxmlformats.org/drawingml/2006/main">
          <a:endParaRPr lang="zh-CN" altLang="en-US" kern="1200"/>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7EE402EE-710B-1846-B108-1C7FA513AC4E}" type="datetimeFigureOut">
              <a:rPr kumimoji="1" lang="zh-CN" altLang="en-US" smtClean="0"/>
              <a:t>2025/11/25</a:t>
            </a:fld>
            <a:endParaRPr kumimoji="1"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zh-CN" altLang="en-US"/>
          </a:p>
        </p:txBody>
      </p:sp>
      <p:sp>
        <p:nvSpPr>
          <p:cNvPr id="5" name="幻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447CBF3-BAB6-C14C-8937-0DE8EFB06F6A}" type="slidenum">
              <a:rPr kumimoji="1" lang="zh-CN" altLang="en-US" smtClean="0"/>
              <a:t>‹#›</a:t>
            </a:fld>
            <a:endParaRPr kumimoji="1"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A193879-5565-314B-96F5-3415EE0FEF0B}" type="datetimeFigureOut">
              <a:rPr kumimoji="1" lang="zh-CN" altLang="en-US" smtClean="0"/>
              <a:t>2025/11/25</a:t>
            </a:fld>
            <a:endParaRPr kumimoji="1"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zh-CN" altLang="en-US"/>
          </a:p>
        </p:txBody>
      </p:sp>
      <p:sp>
        <p:nvSpPr>
          <p:cNvPr id="7" name="幻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5CF166D-77F9-C34A-BB09-196FAC2723ED}" type="slidenum">
              <a:rPr kumimoji="1" lang="zh-CN" altLang="en-US" smtClean="0"/>
              <a:t>‹#›</a:t>
            </a:fld>
            <a:endParaRPr kumimoji="1" lang="zh-CN" altLang="en-US"/>
          </a:p>
        </p:txBody>
      </p:sp>
    </p:spTree>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5CF166D-77F9-C34A-BB09-196FAC2723ED}" type="slidenum">
              <a:rPr kumimoji="1" lang="zh-CN" altLang="en-US" smtClean="0"/>
              <a:t>0</a:t>
            </a:fld>
            <a:endParaRPr kumimoji="1"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spTree>
      <p:nvGrpSpPr>
        <p:cNvPr id="1" name=""/>
        <p:cNvGrpSpPr/>
        <p:nvPr/>
      </p:nvGrpSpPr>
      <p:grpSpPr>
        <a:xfrm>
          <a:off x="0" y="0"/>
          <a:ext cx="0" cy="0"/>
          <a:chOff x="0" y="0"/>
          <a:chExt cx="0" cy="0"/>
        </a:xfrm>
      </p:grpSpPr>
      <p:cxnSp>
        <p:nvCxnSpPr>
          <p:cNvPr id="4" name="直接连接符 3"/>
          <p:cNvCxnSpPr/>
          <p:nvPr userDrawn="1"/>
        </p:nvCxnSpPr>
        <p:spPr>
          <a:xfrm>
            <a:off x="254740" y="4902142"/>
            <a:ext cx="8616210" cy="0"/>
          </a:xfrm>
          <a:prstGeom prst="line">
            <a:avLst/>
          </a:prstGeom>
          <a:ln>
            <a:solidFill>
              <a:srgbClr val="93673D"/>
            </a:solidFill>
          </a:ln>
        </p:spPr>
        <p:style>
          <a:lnRef idx="1">
            <a:schemeClr val="dk1"/>
          </a:lnRef>
          <a:fillRef idx="0">
            <a:schemeClr val="dk1"/>
          </a:fillRef>
          <a:effectRef idx="0">
            <a:schemeClr val="dk1"/>
          </a:effectRef>
          <a:fontRef idx="minor">
            <a:schemeClr val="tx1"/>
          </a:fontRef>
        </p:style>
      </p:cxnSp>
      <p:sp>
        <p:nvSpPr>
          <p:cNvPr id="5" name="文本框 4"/>
          <p:cNvSpPr txBox="1"/>
          <p:nvPr userDrawn="1"/>
        </p:nvSpPr>
        <p:spPr>
          <a:xfrm>
            <a:off x="199509" y="4902142"/>
            <a:ext cx="2236510" cy="215444"/>
          </a:xfrm>
          <a:prstGeom prst="rect">
            <a:avLst/>
          </a:prstGeom>
          <a:noFill/>
        </p:spPr>
        <p:txBody>
          <a:bodyPr wrap="none" rtlCol="0">
            <a:spAutoFit/>
          </a:bodyPr>
          <a:lstStyle/>
          <a:p>
            <a:r>
              <a:rPr lang="zh-CN" altLang="en-US" sz="800" dirty="0">
                <a:solidFill>
                  <a:srgbClr val="A7845C"/>
                </a:solidFill>
                <a:latin typeface="微软雅黑" panose="020B0503020204020204" pitchFamily="34" charset="-122"/>
                <a:ea typeface="微软雅黑" panose="020B0503020204020204" pitchFamily="34" charset="-122"/>
              </a:rPr>
              <a:t>请务必阅读正文之后的信息披露及法律声明。</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节标题">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两项内容">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一级标题+核心观点">
    <p:spTree>
      <p:nvGrpSpPr>
        <p:cNvPr id="1" name=""/>
        <p:cNvGrpSpPr/>
        <p:nvPr/>
      </p:nvGrpSpPr>
      <p:grpSpPr>
        <a:xfrm>
          <a:off x="0" y="0"/>
          <a:ext cx="0" cy="0"/>
          <a:chOff x="0" y="0"/>
          <a:chExt cx="0" cy="0"/>
        </a:xfrm>
      </p:grpSpPr>
      <p:sp>
        <p:nvSpPr>
          <p:cNvPr id="2" name="标题 1"/>
          <p:cNvSpPr>
            <a:spLocks noGrp="1"/>
          </p:cNvSpPr>
          <p:nvPr>
            <p:ph type="title"/>
          </p:nvPr>
        </p:nvSpPr>
        <p:spPr>
          <a:xfrm>
            <a:off x="163852" y="102395"/>
            <a:ext cx="7886700" cy="408384"/>
          </a:xfrm>
        </p:spPr>
        <p:txBody>
          <a:bodyPr>
            <a:normAutofit/>
          </a:bodyPr>
          <a:lstStyle>
            <a:lvl1pPr algn="l" rtl="0" eaLnBrk="0" fontAlgn="base" hangingPunct="0">
              <a:spcBef>
                <a:spcPct val="0"/>
              </a:spcBef>
              <a:spcAft>
                <a:spcPct val="0"/>
              </a:spcAft>
              <a:defRPr lang="zh-CN" altLang="en-US" sz="1800" b="1" kern="1200" dirty="0">
                <a:solidFill>
                  <a:schemeClr val="accent1"/>
                </a:solidFill>
                <a:latin typeface="微软雅黑" panose="020B0503020204020204" pitchFamily="34" charset="-122"/>
                <a:ea typeface="微软雅黑" panose="020B0503020204020204" pitchFamily="34" charset="-122"/>
                <a:cs typeface="+mn-cs"/>
              </a:defRPr>
            </a:lvl1pPr>
          </a:lstStyle>
          <a:p>
            <a:endParaRPr lang="zh-CN" altLang="en-US" dirty="0"/>
          </a:p>
        </p:txBody>
      </p:sp>
      <p:sp>
        <p:nvSpPr>
          <p:cNvPr id="6" name="灯片编号占位符 5"/>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fld id="{A3595191-C654-43E0-879F-B435177EEA10}" type="slidenum">
              <a:rPr kumimoji="0" lang="zh-CN" altLang="en-US" sz="1800" b="0" i="0" u="none" strike="noStrike" kern="1200" cap="none" spc="0" normalizeH="0" baseline="0" noProof="0" smtClean="0">
                <a:ln>
                  <a:noFill/>
                </a:ln>
                <a:solidFill>
                  <a:prstClr val="black"/>
                </a:solidFill>
                <a:effectLst/>
                <a:uLnTx/>
                <a:uFillTx/>
                <a:latin typeface="Calibri" panose="020F0502020204030204"/>
                <a:ea typeface="宋体" pitchFamily="2" charset="-122"/>
                <a:cs typeface="+mn-cs"/>
              </a:rPr>
              <a:t>‹#›</a:t>
            </a:fld>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itchFamily="2" charset="-122"/>
              <a:cs typeface="+mn-cs"/>
            </a:endParaRPr>
          </a:p>
        </p:txBody>
      </p:sp>
      <p:cxnSp>
        <p:nvCxnSpPr>
          <p:cNvPr id="7" name="直接连接符 6"/>
          <p:cNvCxnSpPr/>
          <p:nvPr userDrawn="1"/>
        </p:nvCxnSpPr>
        <p:spPr>
          <a:xfrm>
            <a:off x="163852" y="566177"/>
            <a:ext cx="8980148" cy="0"/>
          </a:xfrm>
          <a:prstGeom prst="line">
            <a:avLst/>
          </a:prstGeom>
          <a:ln>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881635" y="139303"/>
            <a:ext cx="1073114" cy="223673"/>
          </a:xfrm>
          <a:prstGeom prst="rect">
            <a:avLst/>
          </a:prstGeom>
        </p:spPr>
      </p:pic>
      <p:sp>
        <p:nvSpPr>
          <p:cNvPr id="5" name="文本占位符 4"/>
          <p:cNvSpPr>
            <a:spLocks noGrp="1"/>
          </p:cNvSpPr>
          <p:nvPr>
            <p:ph type="body" sz="quarter" idx="13"/>
          </p:nvPr>
        </p:nvSpPr>
        <p:spPr>
          <a:xfrm>
            <a:off x="203001" y="760133"/>
            <a:ext cx="8751748" cy="3667931"/>
          </a:xfrm>
        </p:spPr>
        <p:txBody>
          <a:bodyPr/>
          <a:lstStyle>
            <a:lvl1pPr marL="171450" indent="-171450">
              <a:defRPr lang="zh-CN" altLang="en-US" sz="1500" b="1" kern="1200" dirty="0" smtClean="0">
                <a:solidFill>
                  <a:schemeClr val="accent1">
                    <a:lumMod val="100000"/>
                  </a:schemeClr>
                </a:solidFill>
                <a:latin typeface="+mj-ea"/>
                <a:ea typeface="+mj-ea"/>
                <a:cs typeface="+mn-cs"/>
              </a:defRPr>
            </a:lvl1pPr>
            <a:lvl2pPr marL="0">
              <a:defRPr sz="1500"/>
            </a:lvl2pPr>
          </a:lstStyle>
          <a:p>
            <a:pPr marL="171450" lvl="0" indent="-171450" algn="l" defTabSz="685800" rtl="0" eaLnBrk="1" latinLnBrk="0" hangingPunct="1">
              <a:lnSpc>
                <a:spcPct val="100000"/>
              </a:lnSpc>
              <a:spcBef>
                <a:spcPts val="750"/>
              </a:spcBef>
              <a:buFont typeface="Wingdings" panose="05000000000000000000" pitchFamily="2" charset="2"/>
              <a:buChar char="Ø"/>
            </a:pPr>
            <a:r>
              <a:rPr lang="zh-CN" altLang="en-US" dirty="0"/>
              <a:t>单击此处编辑母版文本样式</a:t>
            </a:r>
          </a:p>
          <a:p>
            <a:pPr lvl="1"/>
            <a:r>
              <a:rPr lang="zh-CN" altLang="en-US" dirty="0"/>
              <a:t>二级</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幻灯片编号占位符 1"/>
          <p:cNvSpPr txBox="1"/>
          <p:nvPr userDrawn="1"/>
        </p:nvSpPr>
        <p:spPr>
          <a:xfrm>
            <a:off x="8238434" y="4868863"/>
            <a:ext cx="563217" cy="274637"/>
          </a:xfrm>
          <a:prstGeom prst="rect">
            <a:avLst/>
          </a:prstGeom>
        </p:spPr>
        <p:txBody>
          <a:bodyPr vert="horz" lIns="91440" tIns="45720" rIns="91440" bIns="45720" rtlCol="0" anchor="ctr"/>
          <a:lstStyle>
            <a:defPPr>
              <a:defRPr lang="zh-CN"/>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3A6A4ED5-B951-BD47-AB41-FC59086CA2C8}" type="slidenum">
              <a:rPr kumimoji="1" lang="zh-CN" altLang="en-US" smtClean="0"/>
              <a:t>‹#›</a:t>
            </a:fld>
            <a:endParaRPr kumimoji="1"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hd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9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9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9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9pPr>
    </p:bodyStyle>
    <p:otherStyle>
      <a:defPPr>
        <a:defRPr lang="zh-CN"/>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chart" Target="../charts/chart4.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chart" Target="../charts/chart6.xml"/><Relationship Id="rId1" Type="http://schemas.openxmlformats.org/officeDocument/2006/relationships/slideLayout" Target="../slideLayouts/slideLayout1.xml"/><Relationship Id="rId5" Type="http://schemas.openxmlformats.org/officeDocument/2006/relationships/image" Target="../media/image3.emf"/><Relationship Id="rId4" Type="http://schemas.openxmlformats.org/officeDocument/2006/relationships/package" Target="../embeddings/Microsoft_Excel_Worksheet.xlsx"/></Relationships>
</file>

<file path=ppt/slides/_rels/slide9.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chart" Target="../charts/chart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chart" Target="../charts/chart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chart" Target="../charts/chart11.xml"/><Relationship Id="rId2" Type="http://schemas.openxmlformats.org/officeDocument/2006/relationships/slideLayout" Target="../slideLayouts/slideLayout1.xml"/><Relationship Id="rId1" Type="http://schemas.openxmlformats.org/officeDocument/2006/relationships/tags" Target="../tags/tag3.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文本框 2"/>
          <p:cNvSpPr txBox="1"/>
          <p:nvPr/>
        </p:nvSpPr>
        <p:spPr>
          <a:xfrm>
            <a:off x="1397000" y="2086069"/>
            <a:ext cx="6773606" cy="583565"/>
          </a:xfrm>
          <a:prstGeom prst="rect">
            <a:avLst/>
          </a:prstGeom>
          <a:noFill/>
        </p:spPr>
        <p:txBody>
          <a:bodyPr wrap="square" rtlCol="0">
            <a:spAutoFit/>
          </a:bodyPr>
          <a:lstStyle/>
          <a:p>
            <a:pPr algn="ctr">
              <a:buClrTx/>
              <a:buSzTx/>
              <a:buFontTx/>
            </a:pPr>
            <a:r>
              <a:rPr kumimoji="1" lang="zh-CN" altLang="en-US" sz="3200" b="1" dirty="0">
                <a:solidFill>
                  <a:schemeClr val="accent1">
                    <a:lumMod val="60000"/>
                    <a:lumOff val="40000"/>
                  </a:schemeClr>
                </a:solidFill>
                <a:latin typeface="楷体_GB2312" panose="02010609030101010101" pitchFamily="49" charset="-122"/>
                <a:ea typeface="楷体_GB2312" panose="02010609030101010101" pitchFamily="49" charset="-122"/>
                <a:cs typeface="微软雅黑" panose="020B0503020204020204" pitchFamily="34" charset="-122"/>
              </a:rPr>
              <a:t>奢侈品行业跟踪体系</a:t>
            </a:r>
          </a:p>
        </p:txBody>
      </p:sp>
      <p:sp>
        <p:nvSpPr>
          <p:cNvPr id="5" name="文本框 4"/>
          <p:cNvSpPr txBox="1"/>
          <p:nvPr/>
        </p:nvSpPr>
        <p:spPr>
          <a:xfrm>
            <a:off x="5217042" y="3338920"/>
            <a:ext cx="3346391" cy="400110"/>
          </a:xfrm>
          <a:prstGeom prst="rect">
            <a:avLst/>
          </a:prstGeom>
          <a:noFill/>
        </p:spPr>
        <p:txBody>
          <a:bodyPr wrap="square" rtlCol="0">
            <a:spAutoFit/>
          </a:bodyPr>
          <a:lstStyle/>
          <a:p>
            <a:r>
              <a:rPr lang="zh-CN" altLang="en-US" sz="2000" b="1" kern="100" dirty="0">
                <a:solidFill>
                  <a:schemeClr val="tx1">
                    <a:lumMod val="50000"/>
                    <a:lumOff val="50000"/>
                  </a:schemeClr>
                </a:solidFill>
                <a:latin typeface="楷体_GB2312" panose="02010609030101010101" pitchFamily="49" charset="-122"/>
                <a:ea typeface="楷体_GB2312" panose="02010609030101010101" pitchFamily="49" charset="-122"/>
              </a:rPr>
              <a:t>    </a:t>
            </a:r>
            <a:r>
              <a:rPr lang="zh-CN" altLang="en-US" sz="1600" b="1" kern="100" dirty="0">
                <a:solidFill>
                  <a:schemeClr val="tx1">
                    <a:lumMod val="50000"/>
                    <a:lumOff val="50000"/>
                  </a:schemeClr>
                </a:solidFill>
                <a:latin typeface="Arial" panose="020B0604020202090204" pitchFamily="34" charset="0"/>
                <a:ea typeface="楷体_GB2312" panose="02010609030101010101" pitchFamily="49" charset="-122"/>
                <a:cs typeface="Arial" panose="020B0604020202090204" pitchFamily="34" charset="0"/>
              </a:rPr>
              <a:t>华福商社</a:t>
            </a:r>
            <a:r>
              <a:rPr lang="en-US" altLang="zh-CN" sz="1600" b="1" kern="100" dirty="0">
                <a:solidFill>
                  <a:schemeClr val="tx1">
                    <a:lumMod val="50000"/>
                    <a:lumOff val="50000"/>
                  </a:schemeClr>
                </a:solidFill>
                <a:latin typeface="Arial" panose="020B0604020202090204" pitchFamily="34" charset="0"/>
                <a:ea typeface="楷体_GB2312" panose="02010609030101010101" pitchFamily="49" charset="-122"/>
                <a:cs typeface="Arial" panose="020B0604020202090204" pitchFamily="34" charset="0"/>
              </a:rPr>
              <a:t>    25</a:t>
            </a:r>
            <a:r>
              <a:rPr lang="zh-CN" altLang="en-US" sz="1600" b="1" kern="100" dirty="0">
                <a:solidFill>
                  <a:schemeClr val="tx1">
                    <a:lumMod val="50000"/>
                    <a:lumOff val="50000"/>
                  </a:schemeClr>
                </a:solidFill>
                <a:latin typeface="Arial" panose="020B0604020202090204" pitchFamily="34" charset="0"/>
                <a:ea typeface="楷体_GB2312" panose="02010609030101010101" pitchFamily="49" charset="-122"/>
                <a:cs typeface="Arial" panose="020B0604020202090204" pitchFamily="34" charset="0"/>
              </a:rPr>
              <a:t>年</a:t>
            </a:r>
            <a:r>
              <a:rPr lang="en-US" altLang="zh-CN" sz="1600" b="1" kern="100" dirty="0">
                <a:solidFill>
                  <a:schemeClr val="tx1">
                    <a:lumMod val="50000"/>
                    <a:lumOff val="50000"/>
                  </a:schemeClr>
                </a:solidFill>
                <a:latin typeface="Arial" panose="020B0604020202090204" pitchFamily="34" charset="0"/>
                <a:ea typeface="楷体_GB2312" panose="02010609030101010101" pitchFamily="49" charset="-122"/>
                <a:cs typeface="Arial" panose="020B0604020202090204" pitchFamily="34" charset="0"/>
              </a:rPr>
              <a:t>11</a:t>
            </a:r>
            <a:r>
              <a:rPr lang="zh-CN" altLang="en-US" sz="1600" b="1" kern="100" dirty="0">
                <a:solidFill>
                  <a:schemeClr val="tx1">
                    <a:lumMod val="50000"/>
                    <a:lumOff val="50000"/>
                  </a:schemeClr>
                </a:solidFill>
                <a:latin typeface="Arial" panose="020B0604020202090204" pitchFamily="34" charset="0"/>
                <a:ea typeface="楷体_GB2312" panose="02010609030101010101" pitchFamily="49" charset="-122"/>
                <a:cs typeface="Arial" panose="020B0604020202090204" pitchFamily="34" charset="0"/>
              </a:rPr>
              <a:t>月</a:t>
            </a:r>
            <a:endParaRPr lang="zh-CN" altLang="en-US" sz="2000" b="1" kern="100" dirty="0">
              <a:solidFill>
                <a:schemeClr val="tx1">
                  <a:lumMod val="50000"/>
                  <a:lumOff val="50000"/>
                </a:schemeClr>
              </a:solidFill>
              <a:effectLst/>
              <a:latin typeface="Arial" panose="020B0604020202090204" pitchFamily="34" charset="0"/>
              <a:ea typeface="楷体_GB2312" panose="02010609030101010101" pitchFamily="49" charset="-122"/>
              <a:cs typeface="Arial" panose="020B0604020202090204" pitchFamily="34" charset="0"/>
            </a:endParaRPr>
          </a:p>
        </p:txBody>
      </p:sp>
      <p:sp>
        <p:nvSpPr>
          <p:cNvPr id="2" name="文本框 1"/>
          <p:cNvSpPr txBox="1"/>
          <p:nvPr/>
        </p:nvSpPr>
        <p:spPr>
          <a:xfrm>
            <a:off x="8662670" y="5677535"/>
            <a:ext cx="3048000" cy="368300"/>
          </a:xfrm>
          <a:prstGeom prst="rect">
            <a:avLst/>
          </a:prstGeom>
          <a:noFill/>
        </p:spPr>
        <p:txBody>
          <a:bodyPr wrap="square" rtlCol="0">
            <a:spAutoFit/>
          </a:bodyPr>
          <a:lstStyle/>
          <a:p>
            <a:endParaRPr lang="zh-CN" altLang="en-US"/>
          </a:p>
        </p:txBody>
      </p:sp>
      <p:sp>
        <p:nvSpPr>
          <p:cNvPr id="4" name="矩形 3"/>
          <p:cNvSpPr/>
          <p:nvPr/>
        </p:nvSpPr>
        <p:spPr>
          <a:xfrm>
            <a:off x="0" y="723244"/>
            <a:ext cx="5099538" cy="255182"/>
          </a:xfrm>
          <a:prstGeom prst="rect">
            <a:avLst/>
          </a:prstGeom>
          <a:solidFill>
            <a:srgbClr val="403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6" name="矩形 5"/>
          <p:cNvSpPr/>
          <p:nvPr/>
        </p:nvSpPr>
        <p:spPr>
          <a:xfrm>
            <a:off x="4225331" y="4046806"/>
            <a:ext cx="4918669" cy="255182"/>
          </a:xfrm>
          <a:prstGeom prst="rect">
            <a:avLst/>
          </a:prstGeom>
          <a:solidFill>
            <a:srgbClr val="C5B1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 name="文本框 10"/>
          <p:cNvSpPr txBox="1"/>
          <p:nvPr/>
        </p:nvSpPr>
        <p:spPr>
          <a:xfrm>
            <a:off x="1014975" y="1373345"/>
            <a:ext cx="2440767" cy="2400657"/>
          </a:xfrm>
          <a:prstGeom prst="rect">
            <a:avLst/>
          </a:prstGeom>
          <a:noFill/>
        </p:spPr>
        <p:txBody>
          <a:bodyPr wrap="none" rtlCol="0">
            <a:spAutoFit/>
          </a:bodyPr>
          <a:lstStyle/>
          <a:p>
            <a:r>
              <a:rPr kumimoji="1" lang="zh-CN" altLang="en-US" sz="15000" dirty="0">
                <a:solidFill>
                  <a:schemeClr val="accent1"/>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cs typeface="微软雅黑" panose="020B0503020204020204" pitchFamily="34" charset="-122"/>
              </a:rPr>
              <a:t>0</a:t>
            </a:r>
            <a:r>
              <a:rPr kumimoji="1" lang="en-US" altLang="zh-CN" sz="15000" dirty="0">
                <a:solidFill>
                  <a:schemeClr val="accent1"/>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cs typeface="微软雅黑" panose="020B0503020204020204" pitchFamily="34" charset="-122"/>
              </a:rPr>
              <a:t>1</a:t>
            </a:r>
          </a:p>
        </p:txBody>
      </p:sp>
      <p:sp>
        <p:nvSpPr>
          <p:cNvPr id="4" name="文本框 4"/>
          <p:cNvSpPr txBox="1"/>
          <p:nvPr/>
        </p:nvSpPr>
        <p:spPr>
          <a:xfrm>
            <a:off x="3594240" y="2003538"/>
            <a:ext cx="4609818" cy="607695"/>
          </a:xfrm>
          <a:prstGeom prst="rect">
            <a:avLst/>
          </a:prstGeom>
          <a:noFill/>
        </p:spPr>
        <p:txBody>
          <a:bodyPr wrap="square" rtlCol="0">
            <a:spAutoFit/>
          </a:bodyPr>
          <a:lstStyle/>
          <a:p>
            <a:pPr algn="r">
              <a:lnSpc>
                <a:spcPct val="120000"/>
              </a:lnSpc>
            </a:pPr>
            <a:r>
              <a:rPr kumimoji="1" lang="zh-CN" altLang="en-US" sz="2800" dirty="0">
                <a:solidFill>
                  <a:schemeClr val="accent1"/>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cs typeface="微软雅黑" panose="020B0503020204020204" pitchFamily="34" charset="-122"/>
              </a:rPr>
              <a:t>数据跟踪体系</a:t>
            </a:r>
          </a:p>
        </p:txBody>
      </p:sp>
      <p:sp>
        <p:nvSpPr>
          <p:cNvPr id="2" name="矩形 1"/>
          <p:cNvSpPr/>
          <p:nvPr/>
        </p:nvSpPr>
        <p:spPr>
          <a:xfrm>
            <a:off x="0" y="828847"/>
            <a:ext cx="4938738" cy="255182"/>
          </a:xfrm>
          <a:prstGeom prst="rect">
            <a:avLst/>
          </a:prstGeom>
          <a:solidFill>
            <a:srgbClr val="403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3" name="矩形 2"/>
          <p:cNvSpPr/>
          <p:nvPr/>
        </p:nvSpPr>
        <p:spPr>
          <a:xfrm>
            <a:off x="3638008" y="3995579"/>
            <a:ext cx="5505992" cy="255182"/>
          </a:xfrm>
          <a:prstGeom prst="rect">
            <a:avLst/>
          </a:prstGeom>
          <a:solidFill>
            <a:srgbClr val="C5B1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文本框 3"/>
          <p:cNvSpPr txBox="1"/>
          <p:nvPr/>
        </p:nvSpPr>
        <p:spPr>
          <a:xfrm>
            <a:off x="365585" y="234660"/>
            <a:ext cx="2592070" cy="460375"/>
          </a:xfrm>
          <a:prstGeom prst="rect">
            <a:avLst/>
          </a:prstGeom>
          <a:noFill/>
        </p:spPr>
        <p:txBody>
          <a:bodyPr wrap="none" rtlCol="0">
            <a:spAutoFit/>
            <a:scene3d>
              <a:camera prst="orthographicFront"/>
              <a:lightRig rig="threePt" dir="t"/>
            </a:scene3d>
          </a:bodyPr>
          <a:lstStyle/>
          <a:p>
            <a:r>
              <a:rPr kumimoji="1" lang="en-US" altLang="zh-CN" sz="2400" b="1" dirty="0">
                <a:solidFill>
                  <a:schemeClr val="accent1"/>
                </a:solidFill>
                <a:effectLst>
                  <a:outerShdw blurRad="38100" dist="25400" dir="5400000" algn="ctr" rotWithShape="0">
                    <a:srgbClr val="6E747A">
                      <a:alpha val="43000"/>
                    </a:srgbClr>
                  </a:outerShdw>
                </a:effectLst>
                <a:latin typeface="Arial" panose="020B0604020202090204" pitchFamily="34" charset="0"/>
                <a:ea typeface="楷体_GB2312" panose="02010609030101010101" pitchFamily="49" charset="-122"/>
                <a:cs typeface="Arial" panose="020B0604020202090204" pitchFamily="34" charset="0"/>
              </a:rPr>
              <a:t>1.1</a:t>
            </a:r>
            <a:r>
              <a:rPr kumimoji="1" lang="en-US" altLang="zh-CN" sz="2400" b="1" dirty="0">
                <a:solidFill>
                  <a:schemeClr val="accent1"/>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cs typeface="微软雅黑" panose="020B0503020204020204" pitchFamily="34" charset="-122"/>
              </a:rPr>
              <a:t> </a:t>
            </a:r>
            <a:r>
              <a:rPr kumimoji="1" lang="zh-CN" altLang="en-US" sz="2400" b="1" dirty="0">
                <a:solidFill>
                  <a:schemeClr val="accent1"/>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cs typeface="微软雅黑" panose="020B0503020204020204" pitchFamily="34" charset="-122"/>
              </a:rPr>
              <a:t>数据跟踪指标</a:t>
            </a:r>
          </a:p>
        </p:txBody>
      </p:sp>
      <p:sp>
        <p:nvSpPr>
          <p:cNvPr id="13" name="矩形 12"/>
          <p:cNvSpPr/>
          <p:nvPr/>
        </p:nvSpPr>
        <p:spPr>
          <a:xfrm>
            <a:off x="1" y="808302"/>
            <a:ext cx="3146256" cy="45719"/>
          </a:xfrm>
          <a:prstGeom prst="rect">
            <a:avLst/>
          </a:prstGeom>
          <a:solidFill>
            <a:srgbClr val="403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14" name="矩形 13"/>
          <p:cNvSpPr/>
          <p:nvPr/>
        </p:nvSpPr>
        <p:spPr>
          <a:xfrm flipV="1">
            <a:off x="2743201" y="4869590"/>
            <a:ext cx="6400800" cy="52501"/>
          </a:xfrm>
          <a:prstGeom prst="rect">
            <a:avLst/>
          </a:prstGeom>
          <a:solidFill>
            <a:srgbClr val="C5B1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6" name="矩形 5"/>
          <p:cNvSpPr/>
          <p:nvPr/>
        </p:nvSpPr>
        <p:spPr>
          <a:xfrm>
            <a:off x="2547096" y="1948543"/>
            <a:ext cx="4048788" cy="194438"/>
          </a:xfrm>
          <a:prstGeom prst="rect">
            <a:avLst/>
          </a:prstGeom>
          <a:solidFill>
            <a:srgbClr val="403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楷体_GB2312" panose="02010609030101010101" pitchFamily="49" charset="-122"/>
                <a:ea typeface="楷体_GB2312" panose="02010609030101010101" pitchFamily="49" charset="-122"/>
                <a:cs typeface="+mn-cs"/>
              </a:rPr>
              <a:t>奢侈品跟踪数据指标</a:t>
            </a:r>
          </a:p>
        </p:txBody>
      </p:sp>
      <p:graphicFrame>
        <p:nvGraphicFramePr>
          <p:cNvPr id="3" name="表格 2"/>
          <p:cNvGraphicFramePr/>
          <p:nvPr>
            <p:custDataLst>
              <p:tags r:id="rId1"/>
            </p:custDataLst>
            <p:extLst>
              <p:ext uri="{D42A27DB-BD31-4B8C-83A1-F6EECF244321}">
                <p14:modId xmlns:p14="http://schemas.microsoft.com/office/powerpoint/2010/main" val="1326443564"/>
              </p:ext>
            </p:extLst>
          </p:nvPr>
        </p:nvGraphicFramePr>
        <p:xfrm>
          <a:off x="1950085" y="2174875"/>
          <a:ext cx="5418455" cy="2346960"/>
        </p:xfrm>
        <a:graphic>
          <a:graphicData uri="http://schemas.openxmlformats.org/drawingml/2006/table">
            <a:tbl>
              <a:tblPr/>
              <a:tblGrid>
                <a:gridCol w="2095500">
                  <a:extLst>
                    <a:ext uri="{9D8B030D-6E8A-4147-A177-3AD203B41FA5}">
                      <a16:colId xmlns:a16="http://schemas.microsoft.com/office/drawing/2014/main" val="20000"/>
                    </a:ext>
                  </a:extLst>
                </a:gridCol>
                <a:gridCol w="3322955">
                  <a:extLst>
                    <a:ext uri="{9D8B030D-6E8A-4147-A177-3AD203B41FA5}">
                      <a16:colId xmlns:a16="http://schemas.microsoft.com/office/drawing/2014/main" val="20001"/>
                    </a:ext>
                  </a:extLst>
                </a:gridCol>
              </a:tblGrid>
              <a:tr h="213360">
                <a:tc rowSpan="4">
                  <a:txBody>
                    <a:bodyPr/>
                    <a:lstStyle/>
                    <a:p>
                      <a:pPr indent="0">
                        <a:buNone/>
                      </a:pPr>
                      <a:r>
                        <a:rPr lang="zh-CN" sz="1000" b="0" dirty="0">
                          <a:solidFill>
                            <a:srgbClr val="000000"/>
                          </a:solidFill>
                          <a:latin typeface="Times New Roman Regular" panose="02020503050405090304" charset="0"/>
                          <a:ea typeface="仿宋_GB2312" charset="0"/>
                        </a:rPr>
                        <a:t>月度数据跟踪</a:t>
                      </a:r>
                      <a:r>
                        <a:rPr lang="zh-CN" altLang="en-US" sz="1000" b="0" dirty="0">
                          <a:solidFill>
                            <a:srgbClr val="000000"/>
                          </a:solidFill>
                          <a:latin typeface="Times New Roman Regular" panose="02020503050405090304" charset="0"/>
                          <a:ea typeface="仿宋_GB2312" charset="0"/>
                        </a:rPr>
                        <a:t>（相对快速反应）</a:t>
                      </a:r>
                    </a:p>
                  </a:txBody>
                  <a:tcPr marL="12700" marR="12700" marT="12700"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a:txBody>
                    <a:bodyPr/>
                    <a:lstStyle/>
                    <a:p>
                      <a:pPr indent="0">
                        <a:buNone/>
                      </a:pPr>
                      <a:r>
                        <a:rPr lang="zh-CN" altLang="en-US" sz="1000" b="0" dirty="0">
                          <a:solidFill>
                            <a:srgbClr val="000000"/>
                          </a:solidFill>
                          <a:latin typeface="Times New Roman Regular" panose="02020503050405090304" charset="0"/>
                          <a:ea typeface="仿宋_GB2312" charset="0"/>
                        </a:rPr>
                        <a:t>居民资产增速以及其中富人资产增速</a:t>
                      </a:r>
                    </a:p>
                  </a:txBody>
                  <a:tcPr marL="12700" marR="12700" marT="12700" anchor="ctr">
                    <a:lnL w="12700">
                      <a:solidFill>
                        <a:schemeClr val="tx1"/>
                      </a:solidFill>
                      <a:prstDash val="solid"/>
                    </a:lnL>
                    <a:lnR w="12700" cap="flat">
                      <a:solidFill>
                        <a:schemeClr val="tx1"/>
                      </a:solidFill>
                      <a:prstDash val="solid"/>
                    </a:lnR>
                    <a:lnT w="12700" cap="flat">
                      <a:solidFill>
                        <a:schemeClr val="tx1"/>
                      </a:solidFill>
                      <a:prstDash val="soli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13360">
                <a:tc vMerge="1">
                  <a:txBody>
                    <a:bodyPr/>
                    <a:lstStyle/>
                    <a:p>
                      <a:endParaRPr lang="zh-CN"/>
                    </a:p>
                  </a:txBody>
                  <a:tcPr>
                    <a:lnL w="12700">
                      <a:solidFill>
                        <a:schemeClr val="tx1"/>
                      </a:solidFill>
                      <a:prstDash val="solid"/>
                    </a:lnL>
                    <a:lnR w="12700">
                      <a:solidFill>
                        <a:schemeClr val="tx1"/>
                      </a:solidFill>
                      <a:prstDash val="solid"/>
                    </a:lnR>
                  </a:tcPr>
                </a:tc>
                <a:tc>
                  <a:txBody>
                    <a:bodyPr/>
                    <a:lstStyle/>
                    <a:p>
                      <a:pPr indent="0">
                        <a:buNone/>
                      </a:pPr>
                      <a:r>
                        <a:rPr lang="zh-CN" sz="1000" b="0" dirty="0">
                          <a:solidFill>
                            <a:srgbClr val="000000"/>
                          </a:solidFill>
                          <a:latin typeface="Times New Roman Regular" panose="02020503050405090304" charset="0"/>
                          <a:ea typeface="仿宋_GB2312" charset="0"/>
                        </a:rPr>
                        <a:t>华润万象分品类表现数据</a:t>
                      </a:r>
                      <a:endParaRPr lang="zh-CN" altLang="en-US" sz="1000" b="0" dirty="0">
                        <a:solidFill>
                          <a:srgbClr val="000000"/>
                        </a:solidFill>
                        <a:latin typeface="Times New Roman Regular" panose="02020503050405090304" charset="0"/>
                        <a:ea typeface="仿宋_GB2312" charset="0"/>
                      </a:endParaRPr>
                    </a:p>
                  </a:txBody>
                  <a:tcPr marL="12700" marR="12700" marT="12700" anchor="ctr">
                    <a:lnL w="12700">
                      <a:solidFill>
                        <a:schemeClr val="tx1"/>
                      </a:solidFill>
                      <a:prstDash val="solid"/>
                    </a:lnL>
                    <a:lnR w="12700" cap="flat">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extLst>
                  <a:ext uri="{0D108BD9-81ED-4DB2-BD59-A6C34878D82A}">
                    <a16:rowId xmlns:a16="http://schemas.microsoft.com/office/drawing/2014/main" val="10001"/>
                  </a:ext>
                </a:extLst>
              </a:tr>
              <a:tr h="213360">
                <a:tc vMerge="1">
                  <a:txBody>
                    <a:bodyPr/>
                    <a:lstStyle/>
                    <a:p>
                      <a:endParaRPr lang="zh-CN"/>
                    </a:p>
                  </a:txBody>
                  <a:tcPr>
                    <a:lnL w="12700">
                      <a:solidFill>
                        <a:schemeClr val="tx1"/>
                      </a:solidFill>
                      <a:prstDash val="solid"/>
                    </a:lnL>
                    <a:lnR w="12700">
                      <a:solidFill>
                        <a:schemeClr val="tx1"/>
                      </a:solidFill>
                      <a:prstDash val="solid"/>
                    </a:lnR>
                  </a:tcPr>
                </a:tc>
                <a:tc>
                  <a:txBody>
                    <a:bodyPr/>
                    <a:lstStyle/>
                    <a:p>
                      <a:pPr indent="0">
                        <a:buNone/>
                      </a:pPr>
                      <a:r>
                        <a:rPr lang="zh-CN" sz="1000" b="0" dirty="0">
                          <a:solidFill>
                            <a:srgbClr val="000000"/>
                          </a:solidFill>
                          <a:latin typeface="Times New Roman Regular" panose="02020503050405090304" charset="0"/>
                          <a:ea typeface="仿宋_GB2312" charset="0"/>
                        </a:rPr>
                        <a:t>中免数据、海南离岛免税</a:t>
                      </a:r>
                      <a:endParaRPr lang="zh-CN" altLang="en-US" sz="1000" b="0" dirty="0">
                        <a:solidFill>
                          <a:srgbClr val="000000"/>
                        </a:solidFill>
                        <a:latin typeface="Times New Roman Regular" panose="02020503050405090304" charset="0"/>
                        <a:ea typeface="仿宋_GB2312" charset="0"/>
                      </a:endParaRPr>
                    </a:p>
                  </a:txBody>
                  <a:tcPr marL="12700" marR="12700" marT="12700" anchor="ctr">
                    <a:lnL w="12700">
                      <a:solidFill>
                        <a:schemeClr val="tx1"/>
                      </a:solidFill>
                      <a:prstDash val="solid"/>
                    </a:lnL>
                    <a:lnR w="12700" cap="flat">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extLst>
                  <a:ext uri="{0D108BD9-81ED-4DB2-BD59-A6C34878D82A}">
                    <a16:rowId xmlns:a16="http://schemas.microsoft.com/office/drawing/2014/main" val="10002"/>
                  </a:ext>
                </a:extLst>
              </a:tr>
              <a:tr h="213360">
                <a:tc vMerge="1">
                  <a:txBody>
                    <a:bodyPr/>
                    <a:lstStyle/>
                    <a:p>
                      <a:endParaRPr lang="zh-CN"/>
                    </a:p>
                  </a:txBody>
                  <a:tcPr>
                    <a:lnL w="12700">
                      <a:solidFill>
                        <a:schemeClr val="tx1"/>
                      </a:solidFill>
                      <a:prstDash val="solid"/>
                    </a:lnL>
                    <a:lnR w="12700">
                      <a:solidFill>
                        <a:schemeClr val="tx1"/>
                      </a:solidFill>
                      <a:prstDash val="solid"/>
                    </a:lnR>
                  </a:tcPr>
                </a:tc>
                <a:tc>
                  <a:txBody>
                    <a:bodyPr/>
                    <a:lstStyle/>
                    <a:p>
                      <a:pPr indent="0">
                        <a:buNone/>
                      </a:pPr>
                      <a:r>
                        <a:rPr lang="zh-CN" sz="1000" b="0">
                          <a:solidFill>
                            <a:srgbClr val="000000"/>
                          </a:solidFill>
                          <a:latin typeface="Times New Roman Regular" panose="02020503050405090304" charset="0"/>
                          <a:ea typeface="仿宋_GB2312" charset="0"/>
                        </a:rPr>
                        <a:t>瑞士钟表业出口金额、瑞士腕表出口金额</a:t>
                      </a:r>
                      <a:endParaRPr lang="zh-CN" altLang="en-US" sz="1000" b="0">
                        <a:solidFill>
                          <a:srgbClr val="000000"/>
                        </a:solidFill>
                        <a:latin typeface="Times New Roman Regular" panose="02020503050405090304" charset="0"/>
                        <a:ea typeface="仿宋_GB2312" charset="0"/>
                      </a:endParaRPr>
                    </a:p>
                  </a:txBody>
                  <a:tcPr marL="12700" marR="12700" marT="12700" anchor="ctr">
                    <a:lnL w="12700">
                      <a:solidFill>
                        <a:schemeClr val="tx1"/>
                      </a:solidFill>
                      <a:prstDash val="solid"/>
                    </a:lnL>
                    <a:lnR w="12700" cap="flat">
                      <a:solidFill>
                        <a:schemeClr val="tx1"/>
                      </a:solidFill>
                      <a:prstDash val="solid"/>
                    </a:lnR>
                    <a:lnT w="12700" cap="flat" cmpd="sng" algn="ctr">
                      <a:solidFill>
                        <a:schemeClr val="tx1"/>
                      </a:solidFill>
                      <a:prstDash val="solid"/>
                      <a:round/>
                      <a:headEnd type="none" w="med" len="med"/>
                      <a:tailEnd type="none" w="med" len="med"/>
                    </a:lnT>
                    <a:lnB w="12700" cap="flat">
                      <a:solidFill>
                        <a:schemeClr val="tx1"/>
                      </a:solidFill>
                      <a:prstDash val="solid"/>
                    </a:lnB>
                    <a:lnTlToBr>
                      <a:noFill/>
                    </a:lnTlToBr>
                    <a:lnBlToTr>
                      <a:noFill/>
                    </a:lnBlToTr>
                    <a:noFill/>
                  </a:tcPr>
                </a:tc>
                <a:extLst>
                  <a:ext uri="{0D108BD9-81ED-4DB2-BD59-A6C34878D82A}">
                    <a16:rowId xmlns:a16="http://schemas.microsoft.com/office/drawing/2014/main" val="10003"/>
                  </a:ext>
                </a:extLst>
              </a:tr>
              <a:tr h="213360">
                <a:tc rowSpan="5">
                  <a:txBody>
                    <a:bodyPr/>
                    <a:lstStyle/>
                    <a:p>
                      <a:pPr indent="0">
                        <a:buNone/>
                      </a:pPr>
                      <a:r>
                        <a:rPr lang="zh-CN" sz="1000" b="0" dirty="0">
                          <a:solidFill>
                            <a:srgbClr val="000000"/>
                          </a:solidFill>
                          <a:latin typeface="Times New Roman Regular" panose="02020503050405090304" charset="0"/>
                          <a:ea typeface="仿宋_GB2312" charset="0"/>
                          <a:cs typeface="Times New Roman Regular" panose="02020503050405090304" charset="0"/>
                        </a:rPr>
                        <a:t>大众人群需求-二奢</a:t>
                      </a:r>
                      <a:endParaRPr lang="zh-CN" altLang="en-US" sz="1000" b="0" dirty="0">
                        <a:solidFill>
                          <a:srgbClr val="000000"/>
                        </a:solidFill>
                        <a:latin typeface="Times New Roman Regular" panose="02020503050405090304" charset="0"/>
                        <a:ea typeface="仿宋_GB2312" charset="0"/>
                        <a:cs typeface="Times New Roman Regular" panose="02020503050405090304" charset="0"/>
                      </a:endParaRPr>
                    </a:p>
                  </a:txBody>
                  <a:tcPr marL="12700" marR="12700" marT="12700" anchor="ctr">
                    <a:lnL w="12700">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a:solidFill>
                        <a:schemeClr val="tx1"/>
                      </a:solidFill>
                      <a:prstDash val="solid"/>
                    </a:lnB>
                    <a:lnTlToBr>
                      <a:noFill/>
                    </a:lnTlToBr>
                    <a:lnBlToTr>
                      <a:noFill/>
                    </a:lnBlToTr>
                    <a:noFill/>
                  </a:tcPr>
                </a:tc>
                <a:tc>
                  <a:txBody>
                    <a:bodyPr/>
                    <a:lstStyle/>
                    <a:p>
                      <a:pPr indent="0">
                        <a:buNone/>
                      </a:pPr>
                      <a:r>
                        <a:rPr lang="en-US" sz="1000" b="0" dirty="0" err="1">
                          <a:solidFill>
                            <a:srgbClr val="000000"/>
                          </a:solidFill>
                          <a:latin typeface="Times New Roman Regular" panose="02020503050405090304" charset="0"/>
                          <a:ea typeface="仿宋_GB2312" charset="0"/>
                        </a:rPr>
                        <a:t>量，负面影响</a:t>
                      </a:r>
                      <a:endParaRPr lang="en-US" altLang="en-US" sz="1000" b="0" dirty="0">
                        <a:solidFill>
                          <a:srgbClr val="000000"/>
                        </a:solidFill>
                        <a:latin typeface="Times New Roman Regular" panose="02020503050405090304" charset="0"/>
                        <a:ea typeface="仿宋_GB2312" charset="0"/>
                      </a:endParaRPr>
                    </a:p>
                  </a:txBody>
                  <a:tcPr marL="12700" marR="12700" marT="12700" anchor="ctr">
                    <a:lnL w="12700" cap="flat" cmpd="sng" algn="ctr">
                      <a:solidFill>
                        <a:schemeClr val="tx1"/>
                      </a:solidFill>
                      <a:prstDash val="solid"/>
                      <a:round/>
                      <a:headEnd type="none" w="med" len="med"/>
                      <a:tailEnd type="none" w="med" len="med"/>
                    </a:lnL>
                    <a:lnR w="12700" cap="flat">
                      <a:solidFill>
                        <a:schemeClr val="tx1"/>
                      </a:solidFill>
                      <a:prstDash val="solid"/>
                    </a:lnR>
                    <a:lnT w="12700" cap="flat" cmpd="sng" algn="ctr">
                      <a:solidFill>
                        <a:schemeClr val="tx1"/>
                      </a:solidFill>
                      <a:prstDash val="solid"/>
                      <a:round/>
                      <a:headEnd type="none" w="med" len="med"/>
                      <a:tailEnd type="none" w="med" len="med"/>
                    </a:lnT>
                    <a:lnB w="12700" cap="flat">
                      <a:solidFill>
                        <a:schemeClr val="tx1"/>
                      </a:solidFill>
                      <a:prstDash val="solid"/>
                    </a:lnB>
                    <a:lnTlToBr>
                      <a:noFill/>
                    </a:lnTlToBr>
                    <a:lnBlToTr>
                      <a:noFill/>
                    </a:lnBlToTr>
                    <a:solidFill>
                      <a:schemeClr val="bg1">
                        <a:lumMod val="85000"/>
                      </a:schemeClr>
                    </a:solidFill>
                  </a:tcPr>
                </a:tc>
                <a:extLst>
                  <a:ext uri="{0D108BD9-81ED-4DB2-BD59-A6C34878D82A}">
                    <a16:rowId xmlns:a16="http://schemas.microsoft.com/office/drawing/2014/main" val="10006"/>
                  </a:ext>
                </a:extLst>
              </a:tr>
              <a:tr h="213360">
                <a:tc vMerge="1">
                  <a:txBody>
                    <a:bodyPr/>
                    <a:lstStyle/>
                    <a:p>
                      <a:endParaRPr lang="zh-CN"/>
                    </a:p>
                  </a:txBody>
                  <a:tcPr>
                    <a:lnL w="12700">
                      <a:solidFill>
                        <a:schemeClr val="tx1"/>
                      </a:solidFill>
                      <a:prstDash val="solid"/>
                    </a:lnL>
                    <a:lnR w="12700">
                      <a:solidFill>
                        <a:schemeClr val="tx1"/>
                      </a:solidFill>
                      <a:prstDash val="solid"/>
                    </a:lnR>
                  </a:tcPr>
                </a:tc>
                <a:tc>
                  <a:txBody>
                    <a:bodyPr/>
                    <a:lstStyle/>
                    <a:p>
                      <a:pPr indent="0">
                        <a:buNone/>
                      </a:pPr>
                      <a:r>
                        <a:rPr lang="zh-CN" sz="1000" b="0" dirty="0">
                          <a:solidFill>
                            <a:srgbClr val="000000"/>
                          </a:solidFill>
                          <a:latin typeface="Times New Roman Regular" panose="02020503050405090304" charset="0"/>
                          <a:ea typeface="仿宋_GB2312" charset="0"/>
                        </a:rPr>
                        <a:t>价，正面</a:t>
                      </a:r>
                      <a:endParaRPr lang="zh-CN" altLang="en-US" sz="1000" b="0" dirty="0">
                        <a:solidFill>
                          <a:srgbClr val="000000"/>
                        </a:solidFill>
                        <a:latin typeface="Times New Roman Regular" panose="02020503050405090304" charset="0"/>
                        <a:ea typeface="仿宋_GB2312" charset="0"/>
                      </a:endParaRPr>
                    </a:p>
                  </a:txBody>
                  <a:tcPr marL="12700" marR="12700" marT="12700" anchor="ctr">
                    <a:lnL w="12700">
                      <a:solidFill>
                        <a:schemeClr val="tx1"/>
                      </a:solidFill>
                      <a:prstDash val="solid"/>
                    </a:lnL>
                    <a:lnR w="12700" cap="flat">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solidFill>
                      <a:schemeClr val="bg1">
                        <a:lumMod val="85000"/>
                      </a:schemeClr>
                    </a:solidFill>
                  </a:tcPr>
                </a:tc>
                <a:extLst>
                  <a:ext uri="{0D108BD9-81ED-4DB2-BD59-A6C34878D82A}">
                    <a16:rowId xmlns:a16="http://schemas.microsoft.com/office/drawing/2014/main" val="10007"/>
                  </a:ext>
                </a:extLst>
              </a:tr>
              <a:tr h="213360">
                <a:tc vMerge="1">
                  <a:txBody>
                    <a:bodyPr/>
                    <a:lstStyle/>
                    <a:p>
                      <a:endParaRPr lang="zh-CN"/>
                    </a:p>
                  </a:txBody>
                  <a:tcPr>
                    <a:lnL w="12700">
                      <a:solidFill>
                        <a:schemeClr val="tx1"/>
                      </a:solidFill>
                      <a:prstDash val="solid"/>
                    </a:lnL>
                    <a:lnR w="12700">
                      <a:solidFill>
                        <a:schemeClr val="tx1"/>
                      </a:solidFill>
                      <a:prstDash val="solid"/>
                    </a:lnR>
                  </a:tcPr>
                </a:tc>
                <a:tc>
                  <a:txBody>
                    <a:bodyPr/>
                    <a:lstStyle/>
                    <a:p>
                      <a:pPr indent="0">
                        <a:buNone/>
                      </a:pPr>
                      <a:r>
                        <a:rPr lang="zh-CN" sz="1000" b="0" dirty="0">
                          <a:solidFill>
                            <a:srgbClr val="000000"/>
                          </a:solidFill>
                          <a:latin typeface="Times New Roman Regular" panose="02020503050405090304" charset="0"/>
                          <a:ea typeface="仿宋_GB2312" charset="0"/>
                          <a:cs typeface="Times New Roman Regular" panose="02020503050405090304" charset="0"/>
                        </a:rPr>
                        <a:t>销售额，红布林</a:t>
                      </a:r>
                      <a:r>
                        <a:rPr lang="zh-CN" altLang="en-US" sz="1000" b="0" dirty="0">
                          <a:solidFill>
                            <a:srgbClr val="000000"/>
                          </a:solidFill>
                          <a:latin typeface="Times New Roman Regular" panose="02020503050405090304" charset="0"/>
                          <a:ea typeface="仿宋_GB2312" charset="0"/>
                          <a:cs typeface="Times New Roman Regular" panose="02020503050405090304" charset="0"/>
                        </a:rPr>
                        <a:t>等平台</a:t>
                      </a:r>
                    </a:p>
                  </a:txBody>
                  <a:tcPr marL="12700" marR="12700" marT="12700" anchor="ctr">
                    <a:lnL w="12700">
                      <a:solidFill>
                        <a:schemeClr val="tx1"/>
                      </a:solidFill>
                      <a:prstDash val="solid"/>
                    </a:lnL>
                    <a:lnR w="12700" cap="flat">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solidFill>
                      <a:schemeClr val="bg1">
                        <a:lumMod val="85000"/>
                      </a:schemeClr>
                    </a:solidFill>
                  </a:tcPr>
                </a:tc>
                <a:extLst>
                  <a:ext uri="{0D108BD9-81ED-4DB2-BD59-A6C34878D82A}">
                    <a16:rowId xmlns:a16="http://schemas.microsoft.com/office/drawing/2014/main" val="10008"/>
                  </a:ext>
                </a:extLst>
              </a:tr>
              <a:tr h="213360">
                <a:tc vMerge="1">
                  <a:txBody>
                    <a:bodyPr/>
                    <a:lstStyle/>
                    <a:p>
                      <a:endParaRPr lang="zh-CN"/>
                    </a:p>
                  </a:txBody>
                  <a:tcPr>
                    <a:lnL w="12700">
                      <a:solidFill>
                        <a:schemeClr val="tx1"/>
                      </a:solidFill>
                      <a:prstDash val="solid"/>
                    </a:lnL>
                    <a:lnR w="12700">
                      <a:solidFill>
                        <a:schemeClr val="tx1"/>
                      </a:solidFill>
                      <a:prstDash val="solid"/>
                    </a:lnR>
                  </a:tcPr>
                </a:tc>
                <a:tc>
                  <a:txBody>
                    <a:bodyPr/>
                    <a:lstStyle/>
                    <a:p>
                      <a:pPr indent="0">
                        <a:buNone/>
                      </a:pPr>
                      <a:r>
                        <a:rPr lang="zh-CN" sz="1000" b="0" dirty="0">
                          <a:solidFill>
                            <a:srgbClr val="000000"/>
                          </a:solidFill>
                          <a:latin typeface="Times New Roman Regular" panose="02020503050405090304" charset="0"/>
                          <a:ea typeface="仿宋_GB2312" charset="0"/>
                        </a:rPr>
                        <a:t>小红书，投广告，越多越难卖，负面指标</a:t>
                      </a:r>
                      <a:endParaRPr lang="zh-CN" altLang="en-US" sz="1000" b="0" dirty="0">
                        <a:solidFill>
                          <a:srgbClr val="000000"/>
                        </a:solidFill>
                        <a:latin typeface="Times New Roman Regular" panose="02020503050405090304" charset="0"/>
                        <a:ea typeface="仿宋_GB2312" charset="0"/>
                      </a:endParaRPr>
                    </a:p>
                  </a:txBody>
                  <a:tcPr marL="12700" marR="12700" marT="12700" anchor="ctr">
                    <a:lnL w="12700">
                      <a:solidFill>
                        <a:schemeClr val="tx1"/>
                      </a:solidFill>
                      <a:prstDash val="solid"/>
                    </a:lnL>
                    <a:lnR w="12700" cap="flat">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solidFill>
                      <a:schemeClr val="bg1">
                        <a:lumMod val="85000"/>
                      </a:schemeClr>
                    </a:solidFill>
                  </a:tcPr>
                </a:tc>
                <a:extLst>
                  <a:ext uri="{0D108BD9-81ED-4DB2-BD59-A6C34878D82A}">
                    <a16:rowId xmlns:a16="http://schemas.microsoft.com/office/drawing/2014/main" val="10009"/>
                  </a:ext>
                </a:extLst>
              </a:tr>
              <a:tr h="213360">
                <a:tc vMerge="1">
                  <a:txBody>
                    <a:bodyPr/>
                    <a:lstStyle/>
                    <a:p>
                      <a:endParaRPr lang="zh-CN"/>
                    </a:p>
                  </a:txBody>
                  <a:tcPr>
                    <a:lnL w="12700">
                      <a:solidFill>
                        <a:schemeClr val="tx1"/>
                      </a:solidFill>
                      <a:prstDash val="solid"/>
                    </a:lnL>
                    <a:lnR w="12700">
                      <a:solidFill>
                        <a:schemeClr val="tx1"/>
                      </a:solidFill>
                      <a:prstDash val="solid"/>
                    </a:lnR>
                    <a:lnB w="12700" cap="flat">
                      <a:solidFill>
                        <a:schemeClr val="tx1"/>
                      </a:solidFill>
                      <a:prstDash val="solid"/>
                    </a:lnB>
                  </a:tcPr>
                </a:tc>
                <a:tc>
                  <a:txBody>
                    <a:bodyPr/>
                    <a:lstStyle/>
                    <a:p>
                      <a:pPr indent="0">
                        <a:buNone/>
                      </a:pPr>
                      <a:r>
                        <a:rPr lang="zh-CN" sz="1000" b="0" dirty="0">
                          <a:solidFill>
                            <a:srgbClr val="000000"/>
                          </a:solidFill>
                          <a:latin typeface="Times New Roman Regular" panose="02020503050405090304" charset="0"/>
                          <a:ea typeface="仿宋_GB2312" charset="0"/>
                          <a:cs typeface="Times New Roman Regular" panose="02020503050405090304" charset="0"/>
                        </a:rPr>
                        <a:t>二奢电商-保值率</a:t>
                      </a:r>
                      <a:endParaRPr lang="zh-CN" altLang="en-US" sz="1000" b="0" dirty="0">
                        <a:solidFill>
                          <a:srgbClr val="000000"/>
                        </a:solidFill>
                        <a:latin typeface="Times New Roman Regular" panose="02020503050405090304" charset="0"/>
                        <a:ea typeface="仿宋_GB2312" charset="0"/>
                        <a:cs typeface="Times New Roman Regular" panose="02020503050405090304" charset="0"/>
                      </a:endParaRPr>
                    </a:p>
                  </a:txBody>
                  <a:tcPr marL="12700" marR="12700" marT="12700" anchor="ctr">
                    <a:lnL w="12700">
                      <a:solidFill>
                        <a:schemeClr val="tx1"/>
                      </a:solidFill>
                      <a:prstDash val="solid"/>
                    </a:lnL>
                    <a:lnR w="12700" cap="flat">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solidFill>
                      <a:schemeClr val="bg1">
                        <a:lumMod val="85000"/>
                      </a:schemeClr>
                    </a:solidFill>
                  </a:tcPr>
                </a:tc>
                <a:extLst>
                  <a:ext uri="{0D108BD9-81ED-4DB2-BD59-A6C34878D82A}">
                    <a16:rowId xmlns:a16="http://schemas.microsoft.com/office/drawing/2014/main" val="10010"/>
                  </a:ext>
                </a:extLst>
              </a:tr>
              <a:tr h="213360">
                <a:tc rowSpan="2">
                  <a:txBody>
                    <a:bodyPr/>
                    <a:lstStyle/>
                    <a:p>
                      <a:pPr indent="0">
                        <a:buNone/>
                      </a:pPr>
                      <a:r>
                        <a:rPr lang="zh-CN" sz="1000" b="0">
                          <a:solidFill>
                            <a:srgbClr val="000000"/>
                          </a:solidFill>
                          <a:latin typeface="Times New Roman Regular" panose="02020503050405090304" charset="0"/>
                          <a:ea typeface="仿宋_GB2312" charset="0"/>
                        </a:rPr>
                        <a:t>后验数据</a:t>
                      </a:r>
                      <a:endParaRPr lang="zh-CN" altLang="en-US" sz="1000" b="0">
                        <a:solidFill>
                          <a:srgbClr val="000000"/>
                        </a:solidFill>
                        <a:latin typeface="Times New Roman Regular" panose="02020503050405090304" charset="0"/>
                        <a:ea typeface="仿宋_GB2312" charset="0"/>
                      </a:endParaRPr>
                    </a:p>
                  </a:txBody>
                  <a:tcPr marL="12700" marR="12700" marT="12700"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a:txBody>
                    <a:bodyPr/>
                    <a:lstStyle/>
                    <a:p>
                      <a:pPr indent="0">
                        <a:buNone/>
                      </a:pPr>
                      <a:r>
                        <a:rPr lang="zh-CN" sz="1000" b="0">
                          <a:solidFill>
                            <a:srgbClr val="000000"/>
                          </a:solidFill>
                          <a:latin typeface="Times New Roman Regular" panose="02020503050405090304" charset="0"/>
                          <a:ea typeface="仿宋_GB2312" charset="0"/>
                          <a:cs typeface="Times New Roman Regular" panose="02020503050405090304" charset="0"/>
                        </a:rPr>
                        <a:t>季度奢侈品数据库-财报</a:t>
                      </a:r>
                      <a:endParaRPr lang="zh-CN" altLang="en-US" sz="1000" b="0">
                        <a:solidFill>
                          <a:srgbClr val="000000"/>
                        </a:solidFill>
                        <a:latin typeface="Times New Roman Regular" panose="02020503050405090304" charset="0"/>
                        <a:ea typeface="仿宋_GB2312" charset="0"/>
                        <a:cs typeface="Times New Roman Regular" panose="02020503050405090304" charset="0"/>
                      </a:endParaRPr>
                    </a:p>
                  </a:txBody>
                  <a:tcPr marL="12700" marR="12700" marT="12700" anchor="ctr">
                    <a:lnL w="12700">
                      <a:solidFill>
                        <a:schemeClr val="tx1"/>
                      </a:solidFill>
                      <a:prstDash val="solid"/>
                    </a:lnL>
                    <a:lnR w="12700" cap="flat">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extLst>
                  <a:ext uri="{0D108BD9-81ED-4DB2-BD59-A6C34878D82A}">
                    <a16:rowId xmlns:a16="http://schemas.microsoft.com/office/drawing/2014/main" val="10011"/>
                  </a:ext>
                </a:extLst>
              </a:tr>
              <a:tr h="213360">
                <a:tc vMerge="1">
                  <a:txBody>
                    <a:bodyPr/>
                    <a:lstStyle/>
                    <a:p>
                      <a:endParaRPr lang="zh-CN"/>
                    </a:p>
                  </a:txBody>
                  <a:tcPr>
                    <a:lnL w="12700">
                      <a:solidFill>
                        <a:schemeClr val="tx1"/>
                      </a:solidFill>
                      <a:prstDash val="solid"/>
                    </a:lnL>
                    <a:lnR w="12700">
                      <a:solidFill>
                        <a:schemeClr val="tx1"/>
                      </a:solidFill>
                      <a:prstDash val="solid"/>
                    </a:lnR>
                    <a:lnB w="12700" cap="flat">
                      <a:solidFill>
                        <a:schemeClr val="tx1"/>
                      </a:solidFill>
                      <a:prstDash val="solid"/>
                    </a:lnB>
                  </a:tcPr>
                </a:tc>
                <a:tc>
                  <a:txBody>
                    <a:bodyPr/>
                    <a:lstStyle/>
                    <a:p>
                      <a:pPr indent="0">
                        <a:buNone/>
                      </a:pPr>
                      <a:r>
                        <a:rPr lang="zh-CN" sz="1000" b="0" dirty="0">
                          <a:solidFill>
                            <a:srgbClr val="000000"/>
                          </a:solidFill>
                          <a:latin typeface="Times New Roman Regular" panose="02020503050405090304" charset="0"/>
                          <a:ea typeface="仿宋_GB2312" charset="0"/>
                        </a:rPr>
                        <a:t>恒隆、太古商圈零售额增速</a:t>
                      </a:r>
                      <a:endParaRPr lang="zh-CN" altLang="en-US" sz="1000" b="0" dirty="0">
                        <a:solidFill>
                          <a:srgbClr val="000000"/>
                        </a:solidFill>
                        <a:latin typeface="Times New Roman Regular" panose="02020503050405090304" charset="0"/>
                        <a:ea typeface="仿宋_GB2312" charset="0"/>
                      </a:endParaRPr>
                    </a:p>
                  </a:txBody>
                  <a:tcPr marL="12700" marR="12700" marT="12700" anchor="ctr">
                    <a:lnL w="12700">
                      <a:solidFill>
                        <a:schemeClr val="tx1"/>
                      </a:solidFill>
                      <a:prstDash val="solid"/>
                    </a:lnL>
                    <a:lnR w="12700" cap="flat">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extLst>
                  <a:ext uri="{0D108BD9-81ED-4DB2-BD59-A6C34878D82A}">
                    <a16:rowId xmlns:a16="http://schemas.microsoft.com/office/drawing/2014/main" val="10012"/>
                  </a:ext>
                </a:extLst>
              </a:tr>
            </a:tbl>
          </a:graphicData>
        </a:graphic>
      </p:graphicFrame>
      <p:sp>
        <p:nvSpPr>
          <p:cNvPr id="9" name="矩形 23"/>
          <p:cNvSpPr/>
          <p:nvPr/>
        </p:nvSpPr>
        <p:spPr>
          <a:xfrm>
            <a:off x="363220" y="852805"/>
            <a:ext cx="8591550" cy="1096645"/>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noAutofit/>
            <a:scene3d>
              <a:camera prst="orthographicFront"/>
              <a:lightRig rig="threePt" dir="t"/>
            </a:scene3d>
          </a:bodyPr>
          <a:lstStyle/>
          <a:p>
            <a:pPr marL="215900" lvl="0" indent="-215900" algn="just">
              <a:lnSpc>
                <a:spcPct val="130000"/>
              </a:lnSpc>
              <a:spcBef>
                <a:spcPts val="130"/>
              </a:spcBef>
              <a:spcAft>
                <a:spcPts val="130"/>
              </a:spcAft>
              <a:buClrTx/>
              <a:buSzTx/>
              <a:buFont typeface="Wingdings" panose="05000000000000000000" pitchFamily="2" charset="2"/>
              <a:buChar char="n"/>
              <a:defRPr/>
            </a:pPr>
            <a:r>
              <a:rPr lang="zh-CN" altLang="en-US" sz="1200" b="1" dirty="0">
                <a:solidFill>
                  <a:schemeClr val="accent1"/>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月度跟踪体系：华润数据、海南离岛免税数据、富人资产增速指向Q4国内奢侈品消费增长，而富人资产增速及国内PMI于25Q4均有回落，或指向26Q1奢侈品消费增速回落。</a:t>
            </a:r>
            <a:r>
              <a:rPr lang="en-US"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1</a:t>
            </a:r>
            <a:r>
              <a:rPr lang="zh-CN" altLang="en-US"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）华润分品牌数据表现，华润相关奢侈品集团月度增速对各奢侈品公司大中华区增速指示意义强；</a:t>
            </a:r>
            <a:r>
              <a:rPr lang="en-US" altLang="zh-CN"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2</a:t>
            </a:r>
            <a:r>
              <a:rPr lang="zh-CN" altLang="en-US"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）海南离岛免税数据，季度同比增速与奢侈品公司亚太区增速高度相关，若海南月度数据走强需关注；</a:t>
            </a:r>
            <a:r>
              <a:rPr lang="en-US" altLang="zh-CN"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3</a:t>
            </a:r>
            <a:r>
              <a:rPr lang="zh-CN" altLang="en-US"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）富人资产增速，</a:t>
            </a:r>
            <a:r>
              <a:rPr lang="en-US" altLang="zh-CN"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t-1</a:t>
            </a:r>
            <a:r>
              <a:rPr lang="zh-CN" altLang="en-US"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期增速与奢侈品公司亚太区增速高度</a:t>
            </a:r>
            <a:r>
              <a:rPr lang="zh-CN" altLang="en-US" sz="120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相关；</a:t>
            </a:r>
            <a:endParaRPr lang="zh-CN" altLang="en-US" sz="1200" b="1" dirty="0">
              <a:solidFill>
                <a:schemeClr val="accent1"/>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 name="图表 32"/>
          <p:cNvGraphicFramePr/>
          <p:nvPr/>
        </p:nvGraphicFramePr>
        <p:xfrm>
          <a:off x="1004570" y="2761615"/>
          <a:ext cx="7451090" cy="2160270"/>
        </p:xfrm>
        <a:graphic>
          <a:graphicData uri="http://schemas.openxmlformats.org/drawingml/2006/chart">
            <c:chart xmlns:c="http://schemas.openxmlformats.org/drawingml/2006/chart" xmlns:r="http://schemas.openxmlformats.org/officeDocument/2006/relationships" r:id="rId2"/>
          </a:graphicData>
        </a:graphic>
      </p:graphicFrame>
      <p:sp>
        <p:nvSpPr>
          <p:cNvPr id="2" name="文本框 3"/>
          <p:cNvSpPr txBox="1"/>
          <p:nvPr/>
        </p:nvSpPr>
        <p:spPr>
          <a:xfrm>
            <a:off x="363031" y="234660"/>
            <a:ext cx="8733155" cy="460375"/>
          </a:xfrm>
          <a:prstGeom prst="rect">
            <a:avLst/>
          </a:prstGeom>
          <a:noFill/>
        </p:spPr>
        <p:txBody>
          <a:bodyPr wrap="none" rtlCol="0">
            <a:spAutoFit/>
            <a:scene3d>
              <a:camera prst="orthographicFront"/>
              <a:lightRig rig="threePt" dir="t"/>
            </a:scene3d>
          </a:bodyPr>
          <a:lstStyle/>
          <a:p>
            <a:pPr lvl="0" algn="l">
              <a:spcBef>
                <a:spcPts val="0"/>
              </a:spcBef>
              <a:spcAft>
                <a:spcPts val="0"/>
              </a:spcAft>
              <a:buClrTx/>
              <a:buSzTx/>
              <a:buFontTx/>
              <a:defRPr/>
            </a:pPr>
            <a:r>
              <a:rPr kumimoji="1" lang="en-US" altLang="zh-CN" sz="2400" b="1" noProof="0" dirty="0">
                <a:ln>
                  <a:noFill/>
                </a:ln>
                <a:solidFill>
                  <a:srgbClr val="4F81BD"/>
                </a:solidFill>
                <a:effectLst>
                  <a:outerShdw blurRad="38100" dist="25400" dir="5400000" algn="ctr" rotWithShape="0">
                    <a:srgbClr val="6E747A">
                      <a:alpha val="43000"/>
                    </a:srgbClr>
                  </a:outerShdw>
                </a:effectLst>
                <a:uLnTx/>
                <a:uFillTx/>
                <a:latin typeface="Arial" panose="020B0604020202090204" pitchFamily="34" charset="0"/>
                <a:ea typeface="楷体_GB2312" panose="02010609030101010101" pitchFamily="49" charset="-122"/>
                <a:cs typeface="Arial" panose="020B0604020202090204" pitchFamily="34" charset="0"/>
                <a:sym typeface="+mn-ea"/>
              </a:rPr>
              <a:t>1.2 数据跟踪：</a:t>
            </a:r>
            <a:r>
              <a:rPr kumimoji="1" lang="zh-CN" altLang="en-US" sz="2400" b="1" noProof="0" dirty="0">
                <a:ln>
                  <a:noFill/>
                </a:ln>
                <a:solidFill>
                  <a:srgbClr val="4F81BD"/>
                </a:solidFill>
                <a:effectLst>
                  <a:outerShdw blurRad="38100" dist="25400" dir="5400000" algn="ctr" rotWithShape="0">
                    <a:srgbClr val="6E747A">
                      <a:alpha val="43000"/>
                    </a:srgbClr>
                  </a:outerShdw>
                </a:effectLst>
                <a:uLnTx/>
                <a:uFillTx/>
                <a:latin typeface="Arial" panose="020B0604020202090204" pitchFamily="34" charset="0"/>
                <a:ea typeface="楷体_GB2312" panose="02010609030101010101" pitchFamily="49" charset="-122"/>
                <a:cs typeface="Arial" panose="020B0604020202090204" pitchFamily="34" charset="0"/>
                <a:sym typeface="+mn-ea"/>
              </a:rPr>
              <a:t>国内富人资产增速（</a:t>
            </a:r>
            <a:r>
              <a:rPr kumimoji="1" lang="en-US" altLang="zh-CN" sz="2400" b="1" noProof="0" dirty="0">
                <a:ln>
                  <a:noFill/>
                </a:ln>
                <a:solidFill>
                  <a:srgbClr val="4F81BD"/>
                </a:solidFill>
                <a:effectLst>
                  <a:outerShdw blurRad="38100" dist="25400" dir="5400000" algn="ctr" rotWithShape="0">
                    <a:srgbClr val="6E747A">
                      <a:alpha val="43000"/>
                    </a:srgbClr>
                  </a:outerShdw>
                </a:effectLst>
                <a:uLnTx/>
                <a:uFillTx/>
                <a:latin typeface="Arial" panose="020B0604020202090204" pitchFamily="34" charset="0"/>
                <a:ea typeface="楷体_GB2312" panose="02010609030101010101" pitchFamily="49" charset="-122"/>
                <a:cs typeface="Arial" panose="020B0604020202090204" pitchFamily="34" charset="0"/>
                <a:sym typeface="+mn-ea"/>
              </a:rPr>
              <a:t>t-1</a:t>
            </a:r>
            <a:r>
              <a:rPr kumimoji="1" lang="zh-CN" altLang="en-US" sz="2400" b="1" noProof="0" dirty="0">
                <a:ln>
                  <a:noFill/>
                </a:ln>
                <a:solidFill>
                  <a:srgbClr val="4F81BD"/>
                </a:solidFill>
                <a:effectLst>
                  <a:outerShdw blurRad="38100" dist="25400" dir="5400000" algn="ctr" rotWithShape="0">
                    <a:srgbClr val="6E747A">
                      <a:alpha val="43000"/>
                    </a:srgbClr>
                  </a:outerShdw>
                </a:effectLst>
                <a:uLnTx/>
                <a:uFillTx/>
                <a:latin typeface="Arial" panose="020B0604020202090204" pitchFamily="34" charset="0"/>
                <a:ea typeface="楷体_GB2312" panose="02010609030101010101" pitchFamily="49" charset="-122"/>
                <a:cs typeface="Arial" panose="020B0604020202090204" pitchFamily="34" charset="0"/>
                <a:sym typeface="+mn-ea"/>
              </a:rPr>
              <a:t>）</a:t>
            </a:r>
            <a:r>
              <a:rPr kumimoji="1" lang="en-US" altLang="zh-CN" sz="2400" b="1" noProof="0" dirty="0">
                <a:ln>
                  <a:noFill/>
                </a:ln>
                <a:solidFill>
                  <a:srgbClr val="4F81BD"/>
                </a:solidFill>
                <a:effectLst>
                  <a:outerShdw blurRad="38100" dist="25400" dir="5400000" algn="ctr" rotWithShape="0">
                    <a:srgbClr val="6E747A">
                      <a:alpha val="43000"/>
                    </a:srgbClr>
                  </a:outerShdw>
                </a:effectLst>
                <a:uLnTx/>
                <a:uFillTx/>
                <a:latin typeface="Arial" panose="020B0604020202090204" pitchFamily="34" charset="0"/>
                <a:ea typeface="楷体_GB2312" panose="02010609030101010101" pitchFamily="49" charset="-122"/>
                <a:cs typeface="Arial" panose="020B0604020202090204" pitchFamily="34" charset="0"/>
                <a:sym typeface="+mn-ea"/>
              </a:rPr>
              <a:t>vs</a:t>
            </a:r>
            <a:r>
              <a:rPr kumimoji="1" lang="zh-CN" altLang="en-US" sz="2400" b="1" noProof="0" dirty="0">
                <a:ln>
                  <a:noFill/>
                </a:ln>
                <a:solidFill>
                  <a:srgbClr val="4F81BD"/>
                </a:solidFill>
                <a:effectLst>
                  <a:outerShdw blurRad="38100" dist="25400" dir="5400000" algn="ctr" rotWithShape="0">
                    <a:srgbClr val="6E747A">
                      <a:alpha val="43000"/>
                    </a:srgbClr>
                  </a:outerShdw>
                </a:effectLst>
                <a:uLnTx/>
                <a:uFillTx/>
                <a:latin typeface="Arial" panose="020B0604020202090204" pitchFamily="34" charset="0"/>
                <a:ea typeface="楷体_GB2312" panose="02010609030101010101" pitchFamily="49" charset="-122"/>
                <a:cs typeface="Arial" panose="020B0604020202090204" pitchFamily="34" charset="0"/>
                <a:sym typeface="+mn-ea"/>
              </a:rPr>
              <a:t>奢侈品集团亚太增速</a:t>
            </a:r>
          </a:p>
        </p:txBody>
      </p:sp>
      <p:sp>
        <p:nvSpPr>
          <p:cNvPr id="13" name="矩形 12"/>
          <p:cNvSpPr/>
          <p:nvPr/>
        </p:nvSpPr>
        <p:spPr>
          <a:xfrm>
            <a:off x="1" y="808302"/>
            <a:ext cx="3146256" cy="45719"/>
          </a:xfrm>
          <a:prstGeom prst="rect">
            <a:avLst/>
          </a:prstGeom>
          <a:solidFill>
            <a:srgbClr val="403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sp>
        <p:nvSpPr>
          <p:cNvPr id="14" name="矩形 13"/>
          <p:cNvSpPr/>
          <p:nvPr/>
        </p:nvSpPr>
        <p:spPr>
          <a:xfrm flipV="1">
            <a:off x="2743201" y="4869590"/>
            <a:ext cx="6400800" cy="52501"/>
          </a:xfrm>
          <a:prstGeom prst="rect">
            <a:avLst/>
          </a:prstGeom>
          <a:solidFill>
            <a:srgbClr val="C5B1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sp>
        <p:nvSpPr>
          <p:cNvPr id="6" name="矩形 5"/>
          <p:cNvSpPr/>
          <p:nvPr/>
        </p:nvSpPr>
        <p:spPr>
          <a:xfrm>
            <a:off x="2705211" y="2596254"/>
            <a:ext cx="4048788" cy="194438"/>
          </a:xfrm>
          <a:prstGeom prst="rect">
            <a:avLst/>
          </a:prstGeom>
          <a:solidFill>
            <a:srgbClr val="403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楷体_GB2312" panose="02010609030101010101" pitchFamily="49" charset="-122"/>
                <a:ea typeface="楷体_GB2312" panose="02010609030101010101" pitchFamily="49" charset="-122"/>
                <a:cs typeface="+mn-cs"/>
              </a:rPr>
              <a:t>奢侈品集团亚太区域增速及中国富人资产增速（</a:t>
            </a:r>
            <a:r>
              <a:rPr kumimoji="0" lang="en-US" altLang="zh-CN" sz="1200" b="0" i="0" u="none" strike="noStrike" kern="1200" cap="none" spc="0" normalizeH="0" baseline="0" noProof="0" dirty="0">
                <a:ln>
                  <a:noFill/>
                </a:ln>
                <a:solidFill>
                  <a:prstClr val="white"/>
                </a:solidFill>
                <a:effectLst/>
                <a:uLnTx/>
                <a:uFillTx/>
                <a:latin typeface="楷体_GB2312" panose="02010609030101010101" pitchFamily="49" charset="-122"/>
                <a:ea typeface="楷体_GB2312" panose="02010609030101010101" pitchFamily="49" charset="-122"/>
                <a:cs typeface="+mn-cs"/>
              </a:rPr>
              <a:t>%</a:t>
            </a:r>
            <a:r>
              <a:rPr kumimoji="0" lang="zh-CN" altLang="en-US" sz="1200" b="0" i="0" u="none" strike="noStrike" kern="1200" cap="none" spc="0" normalizeH="0" baseline="0" noProof="0" dirty="0">
                <a:ln>
                  <a:noFill/>
                </a:ln>
                <a:solidFill>
                  <a:prstClr val="white"/>
                </a:solidFill>
                <a:effectLst/>
                <a:uLnTx/>
                <a:uFillTx/>
                <a:latin typeface="楷体_GB2312" panose="02010609030101010101" pitchFamily="49" charset="-122"/>
                <a:ea typeface="楷体_GB2312" panose="02010609030101010101" pitchFamily="49" charset="-122"/>
                <a:cs typeface="+mn-cs"/>
              </a:rPr>
              <a:t>）</a:t>
            </a:r>
          </a:p>
        </p:txBody>
      </p:sp>
      <p:sp>
        <p:nvSpPr>
          <p:cNvPr id="9" name="矩形 23"/>
          <p:cNvSpPr/>
          <p:nvPr/>
        </p:nvSpPr>
        <p:spPr>
          <a:xfrm>
            <a:off x="363220" y="852805"/>
            <a:ext cx="8591550" cy="1096645"/>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noAutofit/>
            <a:scene3d>
              <a:camera prst="orthographicFront"/>
              <a:lightRig rig="threePt" dir="t"/>
            </a:scene3d>
          </a:bodyPr>
          <a:lstStyle/>
          <a:p>
            <a:pPr marL="215900" lvl="0" indent="-215900" algn="just">
              <a:lnSpc>
                <a:spcPct val="130000"/>
              </a:lnSpc>
              <a:spcBef>
                <a:spcPts val="130"/>
              </a:spcBef>
              <a:spcAft>
                <a:spcPts val="130"/>
              </a:spcAft>
              <a:buClrTx/>
              <a:buSzTx/>
              <a:buFont typeface="Wingdings" panose="05000000000000000000" pitchFamily="2" charset="2"/>
              <a:buChar char="n"/>
              <a:defRPr/>
            </a:pPr>
            <a:r>
              <a:rPr lang="zh-CN" altLang="en-US" sz="1200" b="1" dirty="0">
                <a:solidFill>
                  <a:schemeClr val="accent1"/>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富人资产增长（如股市、房产、投资收益提升）会直接增强其消费能力，而奢侈品消费是富人彰显财富、满足高端需求的重要方式，因此资产增速领先（t-1期）会带动后续奢侈品集团在亚太（以中国市场为核心）的业绩增长。</a:t>
            </a:r>
          </a:p>
          <a:p>
            <a:pPr marL="215900" lvl="0" indent="-215900" algn="just">
              <a:lnSpc>
                <a:spcPct val="130000"/>
              </a:lnSpc>
              <a:spcBef>
                <a:spcPts val="130"/>
              </a:spcBef>
              <a:spcAft>
                <a:spcPts val="130"/>
              </a:spcAft>
              <a:buClrTx/>
              <a:buSzTx/>
              <a:buFont typeface="Wingdings" panose="05000000000000000000" pitchFamily="2" charset="2"/>
              <a:buChar char="n"/>
              <a:defRPr/>
            </a:pPr>
            <a:r>
              <a:rPr lang="zh-CN" altLang="en-US" sz="1200" b="1" dirty="0">
                <a:solidFill>
                  <a:schemeClr val="accent1"/>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部分时段二者走势出现背离，典型阶段如下：</a:t>
            </a:r>
            <a:r>
              <a:rPr lang="zh-CN" altLang="en-US"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1）3Q21前后，t-1期富人资产增速仍处高位，但 LVMH、开云、历峰等奢侈品集团亚太增速大幅跳水。及4Q22前后，t-1期富人资产增速转负而奢侈品集团亚太增速为正，上述阶段判断受疫情管控影响，线下当期或基数不正常。2）2Q24后，t-1期富人资产增速逐步回升，但奢侈品集团亚太增速仍处低位。经历前期经济波动后，富人消费趋于谨慎，对奢侈品的“非必需支出”决策周期拉长；同时奢侈品集团在亚太的渠道（如门店扩张、库存调整）处于阶段性调整期，导致业绩增速滞后于资产端改善。</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C8EE6C-7993-C185-40B9-22A323603248}"/>
            </a:ext>
          </a:extLst>
        </p:cNvPr>
        <p:cNvGrpSpPr/>
        <p:nvPr/>
      </p:nvGrpSpPr>
      <p:grpSpPr>
        <a:xfrm>
          <a:off x="0" y="0"/>
          <a:ext cx="0" cy="0"/>
          <a:chOff x="0" y="0"/>
          <a:chExt cx="0" cy="0"/>
        </a:xfrm>
      </p:grpSpPr>
      <p:sp>
        <p:nvSpPr>
          <p:cNvPr id="2" name="文本框 3">
            <a:extLst>
              <a:ext uri="{FF2B5EF4-FFF2-40B4-BE49-F238E27FC236}">
                <a16:creationId xmlns:a16="http://schemas.microsoft.com/office/drawing/2014/main" id="{D2D8943C-22CA-C9A2-BC1F-B020B2A0F269}"/>
              </a:ext>
            </a:extLst>
          </p:cNvPr>
          <p:cNvSpPr txBox="1"/>
          <p:nvPr/>
        </p:nvSpPr>
        <p:spPr>
          <a:xfrm>
            <a:off x="363031" y="234660"/>
            <a:ext cx="4100803" cy="461665"/>
          </a:xfrm>
          <a:prstGeom prst="rect">
            <a:avLst/>
          </a:prstGeom>
          <a:noFill/>
        </p:spPr>
        <p:txBody>
          <a:bodyPr wrap="none" rtlCol="0">
            <a:spAutoFit/>
            <a:scene3d>
              <a:camera prst="orthographicFront"/>
              <a:lightRig rig="threePt" dir="t"/>
            </a:scene3d>
          </a:bodyPr>
          <a:lstStyle/>
          <a:p>
            <a:pPr lvl="0" algn="l">
              <a:spcBef>
                <a:spcPts val="0"/>
              </a:spcBef>
              <a:spcAft>
                <a:spcPts val="0"/>
              </a:spcAft>
              <a:buClrTx/>
              <a:buSzTx/>
              <a:buFontTx/>
              <a:defRPr/>
            </a:pPr>
            <a:r>
              <a:rPr kumimoji="1" lang="en-US" altLang="zh-CN" sz="2400" b="1" noProof="0" dirty="0">
                <a:ln>
                  <a:noFill/>
                </a:ln>
                <a:solidFill>
                  <a:srgbClr val="4F81BD"/>
                </a:solidFill>
                <a:effectLst>
                  <a:outerShdw blurRad="38100" dist="25400" dir="5400000" algn="ctr" rotWithShape="0">
                    <a:srgbClr val="6E747A">
                      <a:alpha val="43000"/>
                    </a:srgbClr>
                  </a:outerShdw>
                </a:effectLst>
                <a:uLnTx/>
                <a:uFillTx/>
                <a:latin typeface="Arial" panose="020B0604020202090204" pitchFamily="34" charset="0"/>
                <a:ea typeface="楷体_GB2312" panose="02010609030101010101" pitchFamily="49" charset="-122"/>
                <a:cs typeface="Arial" panose="020B0604020202090204" pitchFamily="34" charset="0"/>
                <a:sym typeface="+mn-ea"/>
              </a:rPr>
              <a:t>1.2 </a:t>
            </a:r>
            <a:r>
              <a:rPr kumimoji="1" lang="zh-CN" altLang="en-US" sz="2400" b="1" noProof="0" dirty="0">
                <a:ln>
                  <a:noFill/>
                </a:ln>
                <a:solidFill>
                  <a:srgbClr val="4F81BD"/>
                </a:solidFill>
                <a:effectLst>
                  <a:outerShdw blurRad="38100" dist="25400" dir="5400000" algn="ctr" rotWithShape="0">
                    <a:srgbClr val="6E747A">
                      <a:alpha val="43000"/>
                    </a:srgbClr>
                  </a:outerShdw>
                </a:effectLst>
                <a:uLnTx/>
                <a:uFillTx/>
                <a:latin typeface="Arial" panose="020B0604020202090204" pitchFamily="34" charset="0"/>
                <a:ea typeface="楷体_GB2312" panose="02010609030101010101" pitchFamily="49" charset="-122"/>
                <a:cs typeface="Arial" panose="020B0604020202090204" pitchFamily="34" charset="0"/>
                <a:sym typeface="+mn-ea"/>
              </a:rPr>
              <a:t>数据解释：居民资产增速</a:t>
            </a:r>
          </a:p>
        </p:txBody>
      </p:sp>
      <p:sp>
        <p:nvSpPr>
          <p:cNvPr id="13" name="矩形 12">
            <a:extLst>
              <a:ext uri="{FF2B5EF4-FFF2-40B4-BE49-F238E27FC236}">
                <a16:creationId xmlns:a16="http://schemas.microsoft.com/office/drawing/2014/main" id="{7451BB68-84EC-9151-0D1D-CB7D3ED60F98}"/>
              </a:ext>
            </a:extLst>
          </p:cNvPr>
          <p:cNvSpPr/>
          <p:nvPr/>
        </p:nvSpPr>
        <p:spPr>
          <a:xfrm>
            <a:off x="1" y="808302"/>
            <a:ext cx="3146256" cy="45719"/>
          </a:xfrm>
          <a:prstGeom prst="rect">
            <a:avLst/>
          </a:prstGeom>
          <a:solidFill>
            <a:srgbClr val="403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sp>
        <p:nvSpPr>
          <p:cNvPr id="14" name="矩形 13">
            <a:extLst>
              <a:ext uri="{FF2B5EF4-FFF2-40B4-BE49-F238E27FC236}">
                <a16:creationId xmlns:a16="http://schemas.microsoft.com/office/drawing/2014/main" id="{45DB8CA0-D347-7248-2B60-E17C85CE2974}"/>
              </a:ext>
            </a:extLst>
          </p:cNvPr>
          <p:cNvSpPr/>
          <p:nvPr/>
        </p:nvSpPr>
        <p:spPr>
          <a:xfrm flipV="1">
            <a:off x="2743201" y="4869590"/>
            <a:ext cx="6400800" cy="52501"/>
          </a:xfrm>
          <a:prstGeom prst="rect">
            <a:avLst/>
          </a:prstGeom>
          <a:solidFill>
            <a:srgbClr val="C5B1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sp>
        <p:nvSpPr>
          <p:cNvPr id="6" name="矩形 5">
            <a:extLst>
              <a:ext uri="{FF2B5EF4-FFF2-40B4-BE49-F238E27FC236}">
                <a16:creationId xmlns:a16="http://schemas.microsoft.com/office/drawing/2014/main" id="{935CDB35-A99D-0FF3-E8F5-104AEA4A2A39}"/>
              </a:ext>
            </a:extLst>
          </p:cNvPr>
          <p:cNvSpPr/>
          <p:nvPr/>
        </p:nvSpPr>
        <p:spPr>
          <a:xfrm>
            <a:off x="610207" y="1912393"/>
            <a:ext cx="3366807" cy="215827"/>
          </a:xfrm>
          <a:prstGeom prst="rect">
            <a:avLst/>
          </a:prstGeom>
          <a:solidFill>
            <a:srgbClr val="403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楷体_GB2312" panose="02010609030101010101" pitchFamily="49" charset="-122"/>
                <a:ea typeface="楷体_GB2312" panose="02010609030101010101" pitchFamily="49" charset="-122"/>
                <a:cs typeface="+mn-cs"/>
              </a:rPr>
              <a:t>中国富人以及中产资产配置比例</a:t>
            </a:r>
          </a:p>
        </p:txBody>
      </p:sp>
      <p:sp>
        <p:nvSpPr>
          <p:cNvPr id="9" name="矩形 23">
            <a:extLst>
              <a:ext uri="{FF2B5EF4-FFF2-40B4-BE49-F238E27FC236}">
                <a16:creationId xmlns:a16="http://schemas.microsoft.com/office/drawing/2014/main" id="{A063E45F-0303-541D-777B-93CDEA7F9D20}"/>
              </a:ext>
            </a:extLst>
          </p:cNvPr>
          <p:cNvSpPr/>
          <p:nvPr/>
        </p:nvSpPr>
        <p:spPr>
          <a:xfrm>
            <a:off x="363220" y="852805"/>
            <a:ext cx="8591550" cy="1096645"/>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noAutofit/>
            <a:scene3d>
              <a:camera prst="orthographicFront"/>
              <a:lightRig rig="threePt" dir="t"/>
            </a:scene3d>
          </a:bodyPr>
          <a:lstStyle/>
          <a:p>
            <a:pPr marL="215900" lvl="0" indent="-215900" algn="just">
              <a:lnSpc>
                <a:spcPct val="130000"/>
              </a:lnSpc>
              <a:spcBef>
                <a:spcPts val="130"/>
              </a:spcBef>
              <a:spcAft>
                <a:spcPts val="130"/>
              </a:spcAft>
              <a:buClrTx/>
              <a:buSzTx/>
              <a:buFont typeface="Wingdings" panose="05000000000000000000" pitchFamily="2" charset="2"/>
              <a:buChar char="n"/>
              <a:defRPr/>
            </a:pPr>
            <a:r>
              <a:rPr lang="zh-CN" altLang="en-US" sz="1200" b="1" dirty="0">
                <a:solidFill>
                  <a:schemeClr val="accent1"/>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公开数据统计居民资产情况，提前预判未来增势：</a:t>
            </a:r>
            <a:r>
              <a:rPr lang="zh-CN" altLang="en-US"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目前预估</a:t>
            </a:r>
            <a:r>
              <a:rPr lang="en-US" altLang="zh-CN"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11</a:t>
            </a:r>
            <a:r>
              <a:rPr lang="zh-CN" altLang="en-US"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月居民资产总量</a:t>
            </a:r>
            <a:r>
              <a:rPr lang="en-US" altLang="zh-CN"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578</a:t>
            </a:r>
            <a:r>
              <a:rPr lang="zh-CN" altLang="en-US"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亿，</a:t>
            </a:r>
            <a:r>
              <a:rPr lang="en-US" altLang="zh-CN"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yoy+3.5%</a:t>
            </a:r>
            <a:r>
              <a:rPr lang="zh-CN" altLang="en-US"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；构成：房地产占比</a:t>
            </a:r>
            <a:r>
              <a:rPr lang="en-US" altLang="zh-CN"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42%/</a:t>
            </a:r>
            <a:r>
              <a:rPr lang="zh-CN" altLang="en-US"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现金占比</a:t>
            </a:r>
            <a:r>
              <a:rPr lang="en-US" altLang="zh-CN"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30%/</a:t>
            </a:r>
            <a:r>
              <a:rPr lang="zh-CN" altLang="en-US"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资管理财产品占比</a:t>
            </a:r>
            <a:r>
              <a:rPr lang="en-US" altLang="zh-CN"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24%/</a:t>
            </a:r>
            <a:r>
              <a:rPr lang="zh-CN" altLang="en-US"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股票占比</a:t>
            </a:r>
            <a:r>
              <a:rPr lang="en-US" altLang="zh-CN"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5%</a:t>
            </a:r>
            <a:r>
              <a:rPr lang="zh-CN" altLang="en-US"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；较</a:t>
            </a:r>
            <a:r>
              <a:rPr lang="en-US" altLang="zh-CN"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24</a:t>
            </a:r>
            <a:r>
              <a:rPr lang="zh-CN" altLang="en-US"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年同期房地产</a:t>
            </a:r>
            <a:r>
              <a:rPr lang="en-US" altLang="zh-CN"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-3pct/</a:t>
            </a:r>
            <a:r>
              <a:rPr lang="zh-CN" altLang="en-US"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现金</a:t>
            </a:r>
            <a:r>
              <a:rPr lang="en-US" altLang="zh-CN"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+2pct/</a:t>
            </a:r>
            <a:r>
              <a:rPr lang="zh-CN" altLang="en-US"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资管理财</a:t>
            </a:r>
            <a:r>
              <a:rPr lang="en-US" altLang="zh-CN"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+2pct</a:t>
            </a:r>
            <a:r>
              <a:rPr lang="zh-CN" altLang="en-US"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a:t>
            </a:r>
            <a:endParaRPr lang="en-US" altLang="zh-CN"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endParaRPr>
          </a:p>
          <a:p>
            <a:pPr marL="215900" lvl="0" indent="-215900" algn="just">
              <a:lnSpc>
                <a:spcPct val="130000"/>
              </a:lnSpc>
              <a:spcBef>
                <a:spcPts val="130"/>
              </a:spcBef>
              <a:spcAft>
                <a:spcPts val="130"/>
              </a:spcAft>
              <a:buClrTx/>
              <a:buSzTx/>
              <a:buFont typeface="Wingdings" panose="05000000000000000000" pitchFamily="2" charset="2"/>
              <a:buChar char="n"/>
              <a:defRPr/>
            </a:pPr>
            <a:r>
              <a:rPr lang="zh-CN" altLang="en-US"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富人股票等高风险资产配置比例较高，房价下跌，股票涨幅</a:t>
            </a:r>
            <a:r>
              <a:rPr lang="en-US" altLang="zh-CN"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10%</a:t>
            </a:r>
            <a:r>
              <a:rPr lang="zh-CN" altLang="en-US"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即能囊括跌幅，</a:t>
            </a:r>
            <a:r>
              <a:rPr lang="zh-CN" altLang="en-US" sz="1200" b="1" dirty="0">
                <a:solidFill>
                  <a:schemeClr val="accent1"/>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超额则将继续拉动富人消费继续修复；中产与大众资产增速受放假影响更大，预计是弱修复。</a:t>
            </a:r>
          </a:p>
        </p:txBody>
      </p:sp>
      <p:pic>
        <p:nvPicPr>
          <p:cNvPr id="4" name="图片 3">
            <a:extLst>
              <a:ext uri="{FF2B5EF4-FFF2-40B4-BE49-F238E27FC236}">
                <a16:creationId xmlns:a16="http://schemas.microsoft.com/office/drawing/2014/main" id="{C5853E1D-676B-A842-251A-AC7C95E49E7E}"/>
              </a:ext>
            </a:extLst>
          </p:cNvPr>
          <p:cNvPicPr>
            <a:picLocks noChangeAspect="1"/>
          </p:cNvPicPr>
          <p:nvPr/>
        </p:nvPicPr>
        <p:blipFill>
          <a:blip r:embed="rId2"/>
          <a:stretch>
            <a:fillRect/>
          </a:stretch>
        </p:blipFill>
        <p:spPr>
          <a:xfrm>
            <a:off x="906352" y="2174104"/>
            <a:ext cx="2774515" cy="2755314"/>
          </a:xfrm>
          <a:prstGeom prst="rect">
            <a:avLst/>
          </a:prstGeom>
        </p:spPr>
      </p:pic>
      <p:graphicFrame>
        <p:nvGraphicFramePr>
          <p:cNvPr id="5" name="图表 4">
            <a:extLst>
              <a:ext uri="{FF2B5EF4-FFF2-40B4-BE49-F238E27FC236}">
                <a16:creationId xmlns:a16="http://schemas.microsoft.com/office/drawing/2014/main" id="{BA22DA5C-7FF8-67B1-1664-7259F9C0649B}"/>
              </a:ext>
            </a:extLst>
          </p:cNvPr>
          <p:cNvGraphicFramePr>
            <a:graphicFrameLocks/>
          </p:cNvGraphicFramePr>
          <p:nvPr>
            <p:extLst>
              <p:ext uri="{D42A27DB-BD31-4B8C-83A1-F6EECF244321}">
                <p14:modId xmlns:p14="http://schemas.microsoft.com/office/powerpoint/2010/main" val="483682173"/>
              </p:ext>
            </p:extLst>
          </p:nvPr>
        </p:nvGraphicFramePr>
        <p:xfrm>
          <a:off x="4046542" y="2181431"/>
          <a:ext cx="4570730" cy="2740660"/>
        </p:xfrm>
        <a:graphic>
          <a:graphicData uri="http://schemas.openxmlformats.org/drawingml/2006/chart">
            <c:chart xmlns:c="http://schemas.openxmlformats.org/drawingml/2006/chart" xmlns:r="http://schemas.openxmlformats.org/officeDocument/2006/relationships" r:id="rId3"/>
          </a:graphicData>
        </a:graphic>
      </p:graphicFrame>
      <p:sp>
        <p:nvSpPr>
          <p:cNvPr id="7" name="矩形 6">
            <a:extLst>
              <a:ext uri="{FF2B5EF4-FFF2-40B4-BE49-F238E27FC236}">
                <a16:creationId xmlns:a16="http://schemas.microsoft.com/office/drawing/2014/main" id="{D9257521-AFB2-951B-A1D0-B1C7AFBA02BB}"/>
              </a:ext>
            </a:extLst>
          </p:cNvPr>
          <p:cNvSpPr/>
          <p:nvPr/>
        </p:nvSpPr>
        <p:spPr>
          <a:xfrm>
            <a:off x="4648503" y="1822611"/>
            <a:ext cx="3366807" cy="215827"/>
          </a:xfrm>
          <a:prstGeom prst="rect">
            <a:avLst/>
          </a:prstGeom>
          <a:solidFill>
            <a:srgbClr val="403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楷体_GB2312" panose="02010609030101010101" pitchFamily="49" charset="-122"/>
                <a:ea typeface="楷体_GB2312" panose="02010609030101010101" pitchFamily="49" charset="-122"/>
                <a:cs typeface="+mn-cs"/>
              </a:rPr>
              <a:t>中国富人、中产以及大众资产增速</a:t>
            </a:r>
          </a:p>
        </p:txBody>
      </p:sp>
    </p:spTree>
    <p:extLst>
      <p:ext uri="{BB962C8B-B14F-4D97-AF65-F5344CB8AC3E}">
        <p14:creationId xmlns:p14="http://schemas.microsoft.com/office/powerpoint/2010/main" val="5150700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图表 3"/>
          <p:cNvGraphicFramePr/>
          <p:nvPr/>
        </p:nvGraphicFramePr>
        <p:xfrm>
          <a:off x="851535" y="2696210"/>
          <a:ext cx="7441565" cy="2352040"/>
        </p:xfrm>
        <a:graphic>
          <a:graphicData uri="http://schemas.openxmlformats.org/drawingml/2006/chart">
            <c:chart xmlns:c="http://schemas.openxmlformats.org/drawingml/2006/chart" xmlns:r="http://schemas.openxmlformats.org/officeDocument/2006/relationships" r:id="rId2"/>
          </a:graphicData>
        </a:graphic>
      </p:graphicFrame>
      <p:sp>
        <p:nvSpPr>
          <p:cNvPr id="2" name="文本框 3"/>
          <p:cNvSpPr txBox="1"/>
          <p:nvPr/>
        </p:nvSpPr>
        <p:spPr>
          <a:xfrm>
            <a:off x="363031" y="234660"/>
            <a:ext cx="7442200" cy="460375"/>
          </a:xfrm>
          <a:prstGeom prst="rect">
            <a:avLst/>
          </a:prstGeom>
          <a:noFill/>
        </p:spPr>
        <p:txBody>
          <a:bodyPr wrap="none" rtlCol="0">
            <a:spAutoFit/>
            <a:scene3d>
              <a:camera prst="orthographicFront"/>
              <a:lightRig rig="threePt" dir="t"/>
            </a:scene3d>
          </a:bodyPr>
          <a:lstStyle/>
          <a:p>
            <a:pPr lvl="0" algn="l">
              <a:spcBef>
                <a:spcPts val="0"/>
              </a:spcBef>
              <a:spcAft>
                <a:spcPts val="0"/>
              </a:spcAft>
              <a:buClrTx/>
              <a:buSzTx/>
              <a:buFontTx/>
              <a:defRPr/>
            </a:pPr>
            <a:r>
              <a:rPr kumimoji="1" lang="en-US" altLang="zh-CN" sz="2400" b="1" noProof="0" dirty="0">
                <a:ln>
                  <a:noFill/>
                </a:ln>
                <a:solidFill>
                  <a:srgbClr val="4F81BD"/>
                </a:solidFill>
                <a:effectLst>
                  <a:outerShdw blurRad="38100" dist="25400" dir="5400000" algn="ctr" rotWithShape="0">
                    <a:srgbClr val="6E747A">
                      <a:alpha val="43000"/>
                    </a:srgbClr>
                  </a:outerShdw>
                </a:effectLst>
                <a:uLnTx/>
                <a:uFillTx/>
                <a:latin typeface="Arial" panose="020B0604020202090204" pitchFamily="34" charset="0"/>
                <a:ea typeface="楷体_GB2312" panose="02010609030101010101" pitchFamily="49" charset="-122"/>
                <a:cs typeface="Arial" panose="020B0604020202090204" pitchFamily="34" charset="0"/>
                <a:sym typeface="+mn-ea"/>
              </a:rPr>
              <a:t>1.2 数据跟踪：</a:t>
            </a:r>
            <a:r>
              <a:rPr kumimoji="1" lang="zh-CN" altLang="en-US" sz="2400" b="1" noProof="0" dirty="0">
                <a:ln>
                  <a:noFill/>
                </a:ln>
                <a:solidFill>
                  <a:srgbClr val="4F81BD"/>
                </a:solidFill>
                <a:effectLst>
                  <a:outerShdw blurRad="38100" dist="25400" dir="5400000" algn="ctr" rotWithShape="0">
                    <a:srgbClr val="6E747A">
                      <a:alpha val="43000"/>
                    </a:srgbClr>
                  </a:outerShdw>
                </a:effectLst>
                <a:uLnTx/>
                <a:uFillTx/>
                <a:latin typeface="Arial" panose="020B0604020202090204" pitchFamily="34" charset="0"/>
                <a:ea typeface="楷体_GB2312" panose="02010609030101010101" pitchFamily="49" charset="-122"/>
                <a:cs typeface="Arial" panose="020B0604020202090204" pitchFamily="34" charset="0"/>
                <a:sym typeface="+mn-ea"/>
              </a:rPr>
              <a:t>国内</a:t>
            </a:r>
            <a:r>
              <a:rPr kumimoji="1" lang="en-US" altLang="zh-CN" sz="2400" b="1" noProof="0" dirty="0">
                <a:ln>
                  <a:noFill/>
                </a:ln>
                <a:solidFill>
                  <a:srgbClr val="4F81BD"/>
                </a:solidFill>
                <a:effectLst>
                  <a:outerShdw blurRad="38100" dist="25400" dir="5400000" algn="ctr" rotWithShape="0">
                    <a:srgbClr val="6E747A">
                      <a:alpha val="43000"/>
                    </a:srgbClr>
                  </a:outerShdw>
                </a:effectLst>
                <a:uLnTx/>
                <a:uFillTx/>
                <a:latin typeface="Arial" panose="020B0604020202090204" pitchFamily="34" charset="0"/>
                <a:ea typeface="楷体_GB2312" panose="02010609030101010101" pitchFamily="49" charset="-122"/>
                <a:cs typeface="Arial" panose="020B0604020202090204" pitchFamily="34" charset="0"/>
                <a:sym typeface="+mn-ea"/>
              </a:rPr>
              <a:t>PMI</a:t>
            </a:r>
            <a:r>
              <a:rPr kumimoji="1" lang="zh-CN" altLang="en-US" sz="2400" b="1" noProof="0" dirty="0">
                <a:ln>
                  <a:noFill/>
                </a:ln>
                <a:solidFill>
                  <a:srgbClr val="4F81BD"/>
                </a:solidFill>
                <a:effectLst>
                  <a:outerShdw blurRad="38100" dist="25400" dir="5400000" algn="ctr" rotWithShape="0">
                    <a:srgbClr val="6E747A">
                      <a:alpha val="43000"/>
                    </a:srgbClr>
                  </a:outerShdw>
                </a:effectLst>
                <a:uLnTx/>
                <a:uFillTx/>
                <a:latin typeface="Arial" panose="020B0604020202090204" pitchFamily="34" charset="0"/>
                <a:ea typeface="楷体_GB2312" panose="02010609030101010101" pitchFamily="49" charset="-122"/>
                <a:cs typeface="Arial" panose="020B0604020202090204" pitchFamily="34" charset="0"/>
                <a:sym typeface="+mn-ea"/>
              </a:rPr>
              <a:t>（</a:t>
            </a:r>
            <a:r>
              <a:rPr kumimoji="1" lang="en-US" altLang="zh-CN" sz="2400" b="1" noProof="0" dirty="0">
                <a:ln>
                  <a:noFill/>
                </a:ln>
                <a:solidFill>
                  <a:srgbClr val="4F81BD"/>
                </a:solidFill>
                <a:effectLst>
                  <a:outerShdw blurRad="38100" dist="25400" dir="5400000" algn="ctr" rotWithShape="0">
                    <a:srgbClr val="6E747A">
                      <a:alpha val="43000"/>
                    </a:srgbClr>
                  </a:outerShdw>
                </a:effectLst>
                <a:uLnTx/>
                <a:uFillTx/>
                <a:latin typeface="Arial" panose="020B0604020202090204" pitchFamily="34" charset="0"/>
                <a:ea typeface="楷体_GB2312" panose="02010609030101010101" pitchFamily="49" charset="-122"/>
                <a:cs typeface="Arial" panose="020B0604020202090204" pitchFamily="34" charset="0"/>
                <a:sym typeface="+mn-ea"/>
              </a:rPr>
              <a:t>t-1</a:t>
            </a:r>
            <a:r>
              <a:rPr kumimoji="1" lang="zh-CN" altLang="en-US" sz="2400" b="1" noProof="0" dirty="0">
                <a:ln>
                  <a:noFill/>
                </a:ln>
                <a:solidFill>
                  <a:srgbClr val="4F81BD"/>
                </a:solidFill>
                <a:effectLst>
                  <a:outerShdw blurRad="38100" dist="25400" dir="5400000" algn="ctr" rotWithShape="0">
                    <a:srgbClr val="6E747A">
                      <a:alpha val="43000"/>
                    </a:srgbClr>
                  </a:outerShdw>
                </a:effectLst>
                <a:uLnTx/>
                <a:uFillTx/>
                <a:latin typeface="Arial" panose="020B0604020202090204" pitchFamily="34" charset="0"/>
                <a:ea typeface="楷体_GB2312" panose="02010609030101010101" pitchFamily="49" charset="-122"/>
                <a:cs typeface="Arial" panose="020B0604020202090204" pitchFamily="34" charset="0"/>
                <a:sym typeface="+mn-ea"/>
              </a:rPr>
              <a:t>）</a:t>
            </a:r>
            <a:r>
              <a:rPr kumimoji="1" lang="en-US" altLang="zh-CN" sz="2400" b="1" noProof="0" dirty="0">
                <a:ln>
                  <a:noFill/>
                </a:ln>
                <a:solidFill>
                  <a:srgbClr val="4F81BD"/>
                </a:solidFill>
                <a:effectLst>
                  <a:outerShdw blurRad="38100" dist="25400" dir="5400000" algn="ctr" rotWithShape="0">
                    <a:srgbClr val="6E747A">
                      <a:alpha val="43000"/>
                    </a:srgbClr>
                  </a:outerShdw>
                </a:effectLst>
                <a:uLnTx/>
                <a:uFillTx/>
                <a:latin typeface="Arial" panose="020B0604020202090204" pitchFamily="34" charset="0"/>
                <a:ea typeface="楷体_GB2312" panose="02010609030101010101" pitchFamily="49" charset="-122"/>
                <a:cs typeface="Arial" panose="020B0604020202090204" pitchFamily="34" charset="0"/>
                <a:sym typeface="+mn-ea"/>
              </a:rPr>
              <a:t>vs</a:t>
            </a:r>
            <a:r>
              <a:rPr kumimoji="1" lang="zh-CN" altLang="en-US" sz="2400" b="1" noProof="0" dirty="0">
                <a:ln>
                  <a:noFill/>
                </a:ln>
                <a:solidFill>
                  <a:srgbClr val="4F81BD"/>
                </a:solidFill>
                <a:effectLst>
                  <a:outerShdw blurRad="38100" dist="25400" dir="5400000" algn="ctr" rotWithShape="0">
                    <a:srgbClr val="6E747A">
                      <a:alpha val="43000"/>
                    </a:srgbClr>
                  </a:outerShdw>
                </a:effectLst>
                <a:uLnTx/>
                <a:uFillTx/>
                <a:latin typeface="Arial" panose="020B0604020202090204" pitchFamily="34" charset="0"/>
                <a:ea typeface="楷体_GB2312" panose="02010609030101010101" pitchFamily="49" charset="-122"/>
                <a:cs typeface="Arial" panose="020B0604020202090204" pitchFamily="34" charset="0"/>
                <a:sym typeface="+mn-ea"/>
              </a:rPr>
              <a:t>奢侈品集团亚太增速</a:t>
            </a:r>
          </a:p>
        </p:txBody>
      </p:sp>
      <p:sp>
        <p:nvSpPr>
          <p:cNvPr id="13" name="矩形 12"/>
          <p:cNvSpPr/>
          <p:nvPr/>
        </p:nvSpPr>
        <p:spPr>
          <a:xfrm>
            <a:off x="1" y="808302"/>
            <a:ext cx="3146256" cy="45719"/>
          </a:xfrm>
          <a:prstGeom prst="rect">
            <a:avLst/>
          </a:prstGeom>
          <a:solidFill>
            <a:srgbClr val="403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sp>
        <p:nvSpPr>
          <p:cNvPr id="14" name="矩形 13"/>
          <p:cNvSpPr/>
          <p:nvPr/>
        </p:nvSpPr>
        <p:spPr>
          <a:xfrm flipV="1">
            <a:off x="2743201" y="4869590"/>
            <a:ext cx="6400800" cy="52501"/>
          </a:xfrm>
          <a:prstGeom prst="rect">
            <a:avLst/>
          </a:prstGeom>
          <a:solidFill>
            <a:srgbClr val="C5B1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sp>
        <p:nvSpPr>
          <p:cNvPr id="6" name="矩形 5"/>
          <p:cNvSpPr/>
          <p:nvPr/>
        </p:nvSpPr>
        <p:spPr>
          <a:xfrm>
            <a:off x="2705211" y="2596254"/>
            <a:ext cx="4048788" cy="194438"/>
          </a:xfrm>
          <a:prstGeom prst="rect">
            <a:avLst/>
          </a:prstGeom>
          <a:solidFill>
            <a:srgbClr val="403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楷体_GB2312" panose="02010609030101010101" pitchFamily="49" charset="-122"/>
                <a:ea typeface="楷体_GB2312" panose="02010609030101010101" pitchFamily="49" charset="-122"/>
                <a:cs typeface="+mn-cs"/>
              </a:rPr>
              <a:t>奢侈品集团亚太区域增速及</a:t>
            </a:r>
            <a:r>
              <a:rPr kumimoji="0" lang="en-US" altLang="zh-CN" sz="1200" b="0" i="0" u="none" strike="noStrike" kern="1200" cap="none" spc="0" normalizeH="0" baseline="0" noProof="0" dirty="0">
                <a:ln>
                  <a:noFill/>
                </a:ln>
                <a:solidFill>
                  <a:prstClr val="white"/>
                </a:solidFill>
                <a:effectLst/>
                <a:uLnTx/>
                <a:uFillTx/>
                <a:latin typeface="楷体_GB2312" panose="02010609030101010101" pitchFamily="49" charset="-122"/>
                <a:ea typeface="楷体_GB2312" panose="02010609030101010101" pitchFamily="49" charset="-122"/>
                <a:cs typeface="+mn-cs"/>
              </a:rPr>
              <a:t>PMI</a:t>
            </a:r>
            <a:r>
              <a:rPr kumimoji="0" lang="zh-CN" altLang="en-US" sz="1200" b="0" i="0" u="none" strike="noStrike" kern="1200" cap="none" spc="0" normalizeH="0" baseline="0" noProof="0" dirty="0">
                <a:ln>
                  <a:noFill/>
                </a:ln>
                <a:solidFill>
                  <a:prstClr val="white"/>
                </a:solidFill>
                <a:effectLst/>
                <a:uLnTx/>
                <a:uFillTx/>
                <a:latin typeface="楷体_GB2312" panose="02010609030101010101" pitchFamily="49" charset="-122"/>
                <a:ea typeface="楷体_GB2312" panose="02010609030101010101" pitchFamily="49" charset="-122"/>
                <a:cs typeface="+mn-cs"/>
              </a:rPr>
              <a:t>季末值同比变动（</a:t>
            </a:r>
            <a:r>
              <a:rPr kumimoji="0" lang="en-US" altLang="zh-CN" sz="1200" b="0" i="0" u="none" strike="noStrike" kern="1200" cap="none" spc="0" normalizeH="0" baseline="0" noProof="0" dirty="0">
                <a:ln>
                  <a:noFill/>
                </a:ln>
                <a:solidFill>
                  <a:prstClr val="white"/>
                </a:solidFill>
                <a:effectLst/>
                <a:uLnTx/>
                <a:uFillTx/>
                <a:latin typeface="楷体_GB2312" panose="02010609030101010101" pitchFamily="49" charset="-122"/>
                <a:ea typeface="楷体_GB2312" panose="02010609030101010101" pitchFamily="49" charset="-122"/>
                <a:cs typeface="+mn-cs"/>
              </a:rPr>
              <a:t>%</a:t>
            </a:r>
            <a:r>
              <a:rPr kumimoji="0" lang="zh-CN" altLang="en-US" sz="1200" b="0" i="0" u="none" strike="noStrike" kern="1200" cap="none" spc="0" normalizeH="0" baseline="0" noProof="0" dirty="0">
                <a:ln>
                  <a:noFill/>
                </a:ln>
                <a:solidFill>
                  <a:prstClr val="white"/>
                </a:solidFill>
                <a:effectLst/>
                <a:uLnTx/>
                <a:uFillTx/>
                <a:latin typeface="楷体_GB2312" panose="02010609030101010101" pitchFamily="49" charset="-122"/>
                <a:ea typeface="楷体_GB2312" panose="02010609030101010101" pitchFamily="49" charset="-122"/>
                <a:cs typeface="+mn-cs"/>
              </a:rPr>
              <a:t>）</a:t>
            </a:r>
          </a:p>
        </p:txBody>
      </p:sp>
      <p:sp>
        <p:nvSpPr>
          <p:cNvPr id="9" name="矩形 23"/>
          <p:cNvSpPr/>
          <p:nvPr/>
        </p:nvSpPr>
        <p:spPr>
          <a:xfrm>
            <a:off x="363220" y="852805"/>
            <a:ext cx="8591550" cy="1096645"/>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noAutofit/>
            <a:scene3d>
              <a:camera prst="orthographicFront"/>
              <a:lightRig rig="threePt" dir="t"/>
            </a:scene3d>
          </a:bodyPr>
          <a:lstStyle/>
          <a:p>
            <a:pPr marL="215900" lvl="0" indent="-215900" algn="just">
              <a:lnSpc>
                <a:spcPct val="130000"/>
              </a:lnSpc>
              <a:spcBef>
                <a:spcPts val="130"/>
              </a:spcBef>
              <a:spcAft>
                <a:spcPts val="130"/>
              </a:spcAft>
              <a:buClrTx/>
              <a:buSzTx/>
              <a:buFont typeface="Wingdings" panose="05000000000000000000" pitchFamily="2" charset="2"/>
              <a:buChar char="n"/>
              <a:defRPr/>
            </a:pPr>
            <a:r>
              <a:rPr lang="zh-CN" altLang="en-US" sz="1200" b="1" dirty="0">
                <a:solidFill>
                  <a:schemeClr val="accent1"/>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PMI反映宏观经济景气度的先行指标，当PMI增速回升时，企业生产、就业、订单等指标改善，整体经济景气度提升，居民（尤其是高净值人群）消费信心增强，对奢侈品的购买意愿和能力上升，进而推动奢侈品集团在亚太（以中国市场为核心）的业绩增长。</a:t>
            </a:r>
          </a:p>
          <a:p>
            <a:pPr marL="215900" lvl="0" indent="-215900" algn="just">
              <a:lnSpc>
                <a:spcPct val="130000"/>
              </a:lnSpc>
              <a:spcBef>
                <a:spcPts val="130"/>
              </a:spcBef>
              <a:spcAft>
                <a:spcPts val="130"/>
              </a:spcAft>
              <a:buClrTx/>
              <a:buSzTx/>
              <a:buFont typeface="Wingdings" panose="05000000000000000000" pitchFamily="2" charset="2"/>
              <a:buChar char="n"/>
              <a:defRPr/>
            </a:pPr>
            <a:r>
              <a:rPr lang="zh-CN" altLang="en-US" sz="1200" b="1" dirty="0">
                <a:solidFill>
                  <a:schemeClr val="accent1"/>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部分时段二者走势出现背离，典型阶段如下：</a:t>
            </a:r>
            <a:r>
              <a:rPr lang="zh-CN" altLang="en-US"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10-11年、18-19年pmi季末之同比走低但奢侈品集团亚太区保持较快增长，pmi走低系国内加息、经济结构转型、贸易摩擦等因素影响，而奢侈品亚太区域增长较好可能与</a:t>
            </a:r>
            <a:r>
              <a:rPr lang="en-US" altLang="zh-CN"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1</a:t>
            </a:r>
            <a:r>
              <a:rPr lang="zh-CN" altLang="en-US"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a:t>
            </a:r>
            <a:r>
              <a:rPr lang="en-US" altLang="zh-CN"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10-14</a:t>
            </a:r>
            <a:r>
              <a:rPr lang="zh-CN" altLang="en-US"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年前后系奢侈品中国区开店高峰，</a:t>
            </a:r>
            <a:r>
              <a:rPr lang="en-US" altLang="zh-CN"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2</a:t>
            </a:r>
            <a:r>
              <a:rPr lang="zh-CN" altLang="en-US"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a:t>
            </a:r>
            <a:r>
              <a:rPr lang="en-US" altLang="zh-CN"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18-19</a:t>
            </a:r>
            <a:r>
              <a:rPr lang="zh-CN" altLang="en-US"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年奢侈品内外价差缩小相关（如 LVMH等调整定价体系），叠加国内进口关税下调（18年7月1日针对服饰等品类）。</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3"/>
          <p:cNvSpPr txBox="1"/>
          <p:nvPr/>
        </p:nvSpPr>
        <p:spPr>
          <a:xfrm>
            <a:off x="363031" y="234660"/>
            <a:ext cx="6524625" cy="460375"/>
          </a:xfrm>
          <a:prstGeom prst="rect">
            <a:avLst/>
          </a:prstGeom>
          <a:noFill/>
        </p:spPr>
        <p:txBody>
          <a:bodyPr wrap="none" rtlCol="0">
            <a:spAutoFit/>
            <a:scene3d>
              <a:camera prst="orthographicFront"/>
              <a:lightRig rig="threePt" dir="t"/>
            </a:scene3d>
          </a:bodyPr>
          <a:lstStyle/>
          <a:p>
            <a:pPr lvl="0" algn="l">
              <a:spcBef>
                <a:spcPts val="0"/>
              </a:spcBef>
              <a:spcAft>
                <a:spcPts val="0"/>
              </a:spcAft>
              <a:buClrTx/>
              <a:buSzTx/>
              <a:buFontTx/>
              <a:defRPr/>
            </a:pPr>
            <a:r>
              <a:rPr kumimoji="1" lang="en-US" altLang="zh-CN" sz="2400" b="1" noProof="0" dirty="0">
                <a:ln>
                  <a:noFill/>
                </a:ln>
                <a:solidFill>
                  <a:srgbClr val="4F81BD"/>
                </a:solidFill>
                <a:effectLst>
                  <a:outerShdw blurRad="38100" dist="25400" dir="5400000" algn="ctr" rotWithShape="0">
                    <a:srgbClr val="6E747A">
                      <a:alpha val="43000"/>
                    </a:srgbClr>
                  </a:outerShdw>
                </a:effectLst>
                <a:uLnTx/>
                <a:uFillTx/>
                <a:latin typeface="Arial" panose="020B0604020202090204" pitchFamily="34" charset="0"/>
                <a:ea typeface="楷体_GB2312" panose="02010609030101010101" pitchFamily="49" charset="-122"/>
                <a:cs typeface="Arial" panose="020B0604020202090204" pitchFamily="34" charset="0"/>
                <a:sym typeface="+mn-ea"/>
              </a:rPr>
              <a:t>1.2 数据跟踪：华润数据&amp;奢侈品大中华区增长</a:t>
            </a:r>
          </a:p>
        </p:txBody>
      </p:sp>
      <p:sp>
        <p:nvSpPr>
          <p:cNvPr id="9" name="矩形 23"/>
          <p:cNvSpPr/>
          <p:nvPr/>
        </p:nvSpPr>
        <p:spPr>
          <a:xfrm>
            <a:off x="363220" y="852805"/>
            <a:ext cx="8591550" cy="1501775"/>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noAutofit/>
            <a:scene3d>
              <a:camera prst="orthographicFront"/>
              <a:lightRig rig="threePt" dir="t"/>
            </a:scene3d>
          </a:bodyPr>
          <a:lstStyle/>
          <a:p>
            <a:pPr marL="215900" marR="0" lvl="0" indent="-215900" algn="just" defTabSz="457200" rtl="0" eaLnBrk="1" fontAlgn="auto" latinLnBrk="0" hangingPunct="1">
              <a:lnSpc>
                <a:spcPct val="130000"/>
              </a:lnSpc>
              <a:spcBef>
                <a:spcPts val="130"/>
              </a:spcBef>
              <a:spcAft>
                <a:spcPts val="130"/>
              </a:spcAft>
              <a:buClrTx/>
              <a:buSzTx/>
              <a:buFont typeface="Wingdings" panose="05000000000000000000" pitchFamily="2" charset="2"/>
              <a:buChar char="n"/>
              <a:defRPr/>
            </a:pPr>
            <a:r>
              <a:rPr kumimoji="0" lang="zh-CN" altLang="en-US" sz="1200" b="1" i="0" u="none" strike="noStrike" kern="1200" cap="none" spc="0" normalizeH="0" baseline="0" noProof="0" dirty="0">
                <a:ln>
                  <a:noFill/>
                </a:ln>
                <a:solidFill>
                  <a:srgbClr val="4F81BD"/>
                </a:solidFill>
                <a:effectLst>
                  <a:outerShdw blurRad="38100" dist="25400" dir="5400000" algn="ctr" rotWithShape="0">
                    <a:srgbClr val="6E747A">
                      <a:alpha val="43000"/>
                    </a:srgbClr>
                  </a:outerShdw>
                </a:effectLst>
                <a:uLnTx/>
                <a:uFillTx/>
                <a:latin typeface="楷体_GB2312" panose="02010609030101010101" pitchFamily="49" charset="-122"/>
                <a:ea typeface="楷体_GB2312" panose="02010609030101010101" pitchFamily="49" charset="-122"/>
                <a:cs typeface="+mn-cs"/>
              </a:rPr>
              <a:t>高端消费数据跟踪：</a:t>
            </a:r>
            <a:r>
              <a:rPr lang="zh-CN" altLang="en-US" sz="1200" b="1" noProof="0" dirty="0">
                <a:ln>
                  <a:noFill/>
                </a:ln>
                <a:solidFill>
                  <a:srgbClr val="4F81BD"/>
                </a:solidFill>
                <a:effectLst>
                  <a:outerShdw blurRad="38100" dist="25400" dir="5400000" algn="ctr" rotWithShape="0">
                    <a:srgbClr val="6E747A">
                      <a:alpha val="43000"/>
                    </a:srgbClr>
                  </a:outerShdw>
                </a:effectLst>
                <a:uLnTx/>
                <a:uFillTx/>
                <a:latin typeface="楷体_GB2312" panose="02010609030101010101" pitchFamily="49" charset="-122"/>
                <a:ea typeface="楷体_GB2312" panose="02010609030101010101" pitchFamily="49" charset="-122"/>
                <a:sym typeface="+mn-ea"/>
              </a:rPr>
              <a:t>奢侈品集团大中华区三季度业绩增长趋势继续延续，成为复苏关键变量</a:t>
            </a:r>
            <a:r>
              <a:rPr kumimoji="0" lang="zh-CN" altLang="en-US" sz="1200" b="1" i="0" u="none" strike="noStrike" kern="1200" cap="none" spc="0" normalizeH="0" baseline="0" noProof="0" dirty="0">
                <a:ln>
                  <a:noFill/>
                </a:ln>
                <a:solidFill>
                  <a:srgbClr val="4F81BD"/>
                </a:solidFill>
                <a:effectLst>
                  <a:outerShdw blurRad="38100" dist="25400" dir="5400000" algn="ctr" rotWithShape="0">
                    <a:srgbClr val="6E747A">
                      <a:alpha val="43000"/>
                    </a:srgbClr>
                  </a:outerShdw>
                </a:effectLst>
                <a:uLnTx/>
                <a:uFillTx/>
                <a:latin typeface="楷体_GB2312" panose="02010609030101010101" pitchFamily="49" charset="-122"/>
                <a:ea typeface="楷体_GB2312" panose="02010609030101010101" pitchFamily="49" charset="-122"/>
                <a:cs typeface="+mn-cs"/>
              </a:rPr>
              <a:t>。</a:t>
            </a:r>
            <a:r>
              <a:rPr lang="zh-CN" altLang="en-US" sz="1200" noProof="0" dirty="0">
                <a:ln>
                  <a:noFill/>
                </a:ln>
                <a:solidFill>
                  <a:prstClr val="white">
                    <a:lumMod val="50000"/>
                  </a:prstClr>
                </a:solidFill>
                <a:effectLst>
                  <a:outerShdw blurRad="38100" dist="25400" dir="5400000" algn="ctr" rotWithShape="0">
                    <a:srgbClr val="6E747A">
                      <a:alpha val="43000"/>
                    </a:srgbClr>
                  </a:outerShdw>
                </a:effectLst>
                <a:uLnTx/>
                <a:uFillTx/>
                <a:latin typeface="楷体_GB2312" panose="02010609030101010101" pitchFamily="49" charset="-122"/>
                <a:ea typeface="楷体_GB2312" panose="02010609030101010101" pitchFamily="49" charset="-122"/>
                <a:sym typeface="+mn-ea"/>
              </a:rPr>
              <a:t>整体来看，自25Q2起中国区市场有所企稳回暖，并带动集团整体业绩修复。</a:t>
            </a:r>
            <a:r>
              <a:rPr lang="zh-CN" altLang="en-US" sz="1200" noProof="0" dirty="0">
                <a:ln>
                  <a:noFill/>
                </a:ln>
                <a:solidFill>
                  <a:srgbClr val="C00000"/>
                </a:solidFill>
                <a:effectLst>
                  <a:outerShdw blurRad="38100" dist="25400" dir="5400000" algn="ctr" rotWithShape="0">
                    <a:srgbClr val="6E747A">
                      <a:alpha val="43000"/>
                    </a:srgbClr>
                  </a:outerShdw>
                </a:effectLst>
                <a:uLnTx/>
                <a:uFillTx/>
                <a:latin typeface="楷体_GB2312" panose="02010609030101010101" pitchFamily="49" charset="-122"/>
                <a:ea typeface="楷体_GB2312" panose="02010609030101010101" pitchFamily="49" charset="-122"/>
                <a:sym typeface="+mn-ea"/>
              </a:rPr>
              <a:t>多个集团明确指出中国市场出现改善迹象</a:t>
            </a:r>
            <a:r>
              <a:rPr lang="zh-CN" altLang="en-US" sz="1200" noProof="0" dirty="0">
                <a:ln>
                  <a:noFill/>
                </a:ln>
                <a:solidFill>
                  <a:prstClr val="white">
                    <a:lumMod val="50000"/>
                  </a:prstClr>
                </a:solidFill>
                <a:effectLst>
                  <a:outerShdw blurRad="38100" dist="25400" dir="5400000" algn="ctr" rotWithShape="0">
                    <a:srgbClr val="6E747A">
                      <a:alpha val="43000"/>
                    </a:srgbClr>
                  </a:outerShdw>
                </a:effectLst>
                <a:uLnTx/>
                <a:uFillTx/>
                <a:latin typeface="楷体_GB2312" panose="02010609030101010101" pitchFamily="49" charset="-122"/>
                <a:ea typeface="楷体_GB2312" panose="02010609030101010101" pitchFamily="49" charset="-122"/>
                <a:sym typeface="+mn-ea"/>
              </a:rPr>
              <a:t>。LVMH确认中国恢复正增长；Prada称最糟糕阶段已过；爱马仕指出中国四季度开局充满活力；</a:t>
            </a:r>
            <a:r>
              <a:rPr lang="zh-CN" altLang="en-US" sz="1200" noProof="0" dirty="0">
                <a:ln>
                  <a:noFill/>
                </a:ln>
                <a:solidFill>
                  <a:srgbClr val="C00000"/>
                </a:solidFill>
                <a:effectLst>
                  <a:outerShdw blurRad="38100" dist="25400" dir="5400000" algn="ctr" rotWithShape="0">
                    <a:srgbClr val="6E747A">
                      <a:alpha val="43000"/>
                    </a:srgbClr>
                  </a:outerShdw>
                </a:effectLst>
                <a:uLnTx/>
                <a:uFillTx/>
                <a:latin typeface="楷体_GB2312" panose="02010609030101010101" pitchFamily="49" charset="-122"/>
                <a:ea typeface="楷体_GB2312" panose="02010609030101010101" pitchFamily="49" charset="-122"/>
                <a:sym typeface="+mn-ea"/>
              </a:rPr>
              <a:t>拉夫劳伦预计中国市场将继续保持领先增速；Coach集团持续看好中国市场的消费潜力，计划加大中国市场投入</a:t>
            </a:r>
            <a:r>
              <a:rPr lang="zh-CN" altLang="en-US" sz="1200" noProof="0" dirty="0">
                <a:ln>
                  <a:noFill/>
                </a:ln>
                <a:solidFill>
                  <a:prstClr val="white">
                    <a:lumMod val="50000"/>
                  </a:prstClr>
                </a:solidFill>
                <a:effectLst>
                  <a:outerShdw blurRad="38100" dist="25400" dir="5400000" algn="ctr" rotWithShape="0">
                    <a:srgbClr val="6E747A">
                      <a:alpha val="43000"/>
                    </a:srgbClr>
                  </a:outerShdw>
                </a:effectLst>
                <a:uLnTx/>
                <a:uFillTx/>
                <a:latin typeface="楷体_GB2312" panose="02010609030101010101" pitchFamily="49" charset="-122"/>
                <a:ea typeface="楷体_GB2312" panose="02010609030101010101" pitchFamily="49" charset="-122"/>
                <a:sym typeface="+mn-ea"/>
              </a:rPr>
              <a:t>；雅诗兰黛甚至将中国市场单独列示，其+9%的增长至关重要。尽管复苏力度尚弱（如开云指出“高端客户的情绪恢复比数据更慢”），但企稳回暖的趋势已经确立，为行业注入了强心剂。</a:t>
            </a:r>
            <a:r>
              <a:rPr lang="zh-CN" altLang="en-US" sz="1200" b="1" noProof="0" dirty="0">
                <a:ln>
                  <a:noFill/>
                </a:ln>
                <a:solidFill>
                  <a:prstClr val="white">
                    <a:lumMod val="50000"/>
                  </a:prstClr>
                </a:solidFill>
                <a:effectLst>
                  <a:outerShdw blurRad="38100" dist="25400" dir="5400000" algn="ctr" rotWithShape="0">
                    <a:srgbClr val="6E747A">
                      <a:alpha val="43000"/>
                    </a:srgbClr>
                  </a:outerShdw>
                </a:effectLst>
                <a:uLnTx/>
                <a:uFillTx/>
                <a:latin typeface="楷体_GB2312" panose="02010609030101010101" pitchFamily="49" charset="-122"/>
                <a:ea typeface="楷体_GB2312" panose="02010609030101010101" pitchFamily="49" charset="-122"/>
                <a:sym typeface="+mn-ea"/>
              </a:rPr>
              <a:t>根据华润数据验证，10月各奢侈品品牌继续扩大增幅（以及降幅收窄），确认大中华区三季度增长趋势将继续延续，Q4业绩有望继续回暖。</a:t>
            </a:r>
            <a:endParaRPr kumimoji="0" lang="zh-CN" altLang="en-US" sz="1200" b="1" i="0" u="none" strike="noStrike" kern="1200" cap="none" spc="0" normalizeH="0" baseline="0" noProof="0" dirty="0">
              <a:ln>
                <a:noFill/>
              </a:ln>
              <a:solidFill>
                <a:prstClr val="white">
                  <a:lumMod val="50000"/>
                </a:prstClr>
              </a:solidFill>
              <a:effectLst>
                <a:outerShdw blurRad="38100" dist="25400" dir="5400000" algn="ctr" rotWithShape="0">
                  <a:srgbClr val="6E747A">
                    <a:alpha val="43000"/>
                  </a:srgbClr>
                </a:outerShdw>
              </a:effectLst>
              <a:uLnTx/>
              <a:uFillTx/>
              <a:latin typeface="楷体_GB2312" panose="02010609030101010101" pitchFamily="49" charset="-122"/>
              <a:ea typeface="楷体_GB2312" panose="02010609030101010101" pitchFamily="49" charset="-122"/>
              <a:cs typeface="+mn-cs"/>
            </a:endParaRPr>
          </a:p>
        </p:txBody>
      </p:sp>
      <p:sp>
        <p:nvSpPr>
          <p:cNvPr id="4" name="文本框 3"/>
          <p:cNvSpPr txBox="1"/>
          <p:nvPr/>
        </p:nvSpPr>
        <p:spPr>
          <a:xfrm>
            <a:off x="5392489" y="4922092"/>
            <a:ext cx="3207812" cy="21399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prstClr val="black"/>
                </a:solidFill>
                <a:effectLst/>
                <a:uLnTx/>
                <a:uFillTx/>
                <a:latin typeface="Arial" panose="020B0604020202090204" pitchFamily="34" charset="0"/>
                <a:ea typeface="楷体_GB2312" panose="02010609030101010101" pitchFamily="49" charset="-122"/>
                <a:cs typeface="Arial" panose="020B0604020202090204" pitchFamily="34" charset="0"/>
              </a:rPr>
              <a:t>数据来源：华润万象、各公司公告</a:t>
            </a:r>
          </a:p>
        </p:txBody>
      </p:sp>
      <p:sp>
        <p:nvSpPr>
          <p:cNvPr id="13" name="矩形 12"/>
          <p:cNvSpPr/>
          <p:nvPr/>
        </p:nvSpPr>
        <p:spPr>
          <a:xfrm>
            <a:off x="1" y="808302"/>
            <a:ext cx="3146256" cy="45719"/>
          </a:xfrm>
          <a:prstGeom prst="rect">
            <a:avLst/>
          </a:prstGeom>
          <a:solidFill>
            <a:srgbClr val="403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sp>
        <p:nvSpPr>
          <p:cNvPr id="14" name="矩形 13"/>
          <p:cNvSpPr/>
          <p:nvPr/>
        </p:nvSpPr>
        <p:spPr>
          <a:xfrm flipV="1">
            <a:off x="2743201" y="4869590"/>
            <a:ext cx="6400800" cy="52501"/>
          </a:xfrm>
          <a:prstGeom prst="rect">
            <a:avLst/>
          </a:prstGeom>
          <a:solidFill>
            <a:srgbClr val="C5B1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sp>
        <p:nvSpPr>
          <p:cNvPr id="5" name="矩形 4"/>
          <p:cNvSpPr/>
          <p:nvPr/>
        </p:nvSpPr>
        <p:spPr>
          <a:xfrm>
            <a:off x="699246" y="2576569"/>
            <a:ext cx="4048788" cy="194438"/>
          </a:xfrm>
          <a:prstGeom prst="rect">
            <a:avLst/>
          </a:prstGeom>
          <a:solidFill>
            <a:srgbClr val="403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楷体_GB2312" panose="02010609030101010101" pitchFamily="49" charset="-122"/>
                <a:ea typeface="楷体_GB2312" panose="02010609030101010101" pitchFamily="49" charset="-122"/>
                <a:cs typeface="+mn-cs"/>
              </a:rPr>
              <a:t>华润万象体系头部奢侈品集团销售额同比数据（</a:t>
            </a:r>
            <a:r>
              <a:rPr kumimoji="0" lang="en-US" altLang="zh-CN" sz="1200" b="0" i="0" u="none" strike="noStrike" kern="1200" cap="none" spc="0" normalizeH="0" baseline="0" noProof="0" dirty="0">
                <a:ln>
                  <a:noFill/>
                </a:ln>
                <a:solidFill>
                  <a:prstClr val="white"/>
                </a:solidFill>
                <a:effectLst/>
                <a:uLnTx/>
                <a:uFillTx/>
                <a:latin typeface="楷体_GB2312" panose="02010609030101010101" pitchFamily="49" charset="-122"/>
                <a:ea typeface="楷体_GB2312" panose="02010609030101010101" pitchFamily="49" charset="-122"/>
                <a:cs typeface="+mn-cs"/>
              </a:rPr>
              <a:t>%</a:t>
            </a:r>
            <a:r>
              <a:rPr kumimoji="0" lang="zh-CN" altLang="en-US" sz="1200" b="0" i="0" u="none" strike="noStrike" kern="1200" cap="none" spc="0" normalizeH="0" baseline="0" noProof="0" dirty="0">
                <a:ln>
                  <a:noFill/>
                </a:ln>
                <a:solidFill>
                  <a:prstClr val="white"/>
                </a:solidFill>
                <a:effectLst/>
                <a:uLnTx/>
                <a:uFillTx/>
                <a:latin typeface="楷体_GB2312" panose="02010609030101010101" pitchFamily="49" charset="-122"/>
                <a:ea typeface="楷体_GB2312" panose="02010609030101010101" pitchFamily="49" charset="-122"/>
                <a:cs typeface="+mn-cs"/>
              </a:rPr>
              <a:t>）</a:t>
            </a:r>
          </a:p>
        </p:txBody>
      </p:sp>
      <p:sp>
        <p:nvSpPr>
          <p:cNvPr id="11" name="矩形 10"/>
          <p:cNvSpPr/>
          <p:nvPr/>
        </p:nvSpPr>
        <p:spPr>
          <a:xfrm>
            <a:off x="4906149" y="2576683"/>
            <a:ext cx="4048788" cy="194438"/>
          </a:xfrm>
          <a:prstGeom prst="rect">
            <a:avLst/>
          </a:prstGeom>
          <a:solidFill>
            <a:srgbClr val="403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lang="zh-CN" altLang="en-US" sz="1200" noProof="0" dirty="0">
                <a:ln>
                  <a:noFill/>
                </a:ln>
                <a:solidFill>
                  <a:prstClr val="white"/>
                </a:solidFill>
                <a:effectLst/>
                <a:uLnTx/>
                <a:uFillTx/>
                <a:latin typeface="楷体_GB2312" panose="02010609030101010101" pitchFamily="49" charset="-122"/>
                <a:ea typeface="楷体_GB2312" panose="02010609030101010101" pitchFamily="49" charset="-122"/>
                <a:sym typeface="+mn-ea"/>
              </a:rPr>
              <a:t>奢侈品集团大中华区增长率（</a:t>
            </a:r>
            <a:r>
              <a:rPr lang="en-US" altLang="zh-CN" sz="1200" noProof="0" dirty="0">
                <a:ln>
                  <a:noFill/>
                </a:ln>
                <a:solidFill>
                  <a:prstClr val="white"/>
                </a:solidFill>
                <a:effectLst/>
                <a:uLnTx/>
                <a:uFillTx/>
                <a:latin typeface="楷体_GB2312" panose="02010609030101010101" pitchFamily="49" charset="-122"/>
                <a:ea typeface="楷体_GB2312" panose="02010609030101010101" pitchFamily="49" charset="-122"/>
                <a:sym typeface="+mn-ea"/>
              </a:rPr>
              <a:t>%</a:t>
            </a:r>
            <a:r>
              <a:rPr lang="zh-CN" altLang="en-US" sz="1200" noProof="0" dirty="0">
                <a:ln>
                  <a:noFill/>
                </a:ln>
                <a:solidFill>
                  <a:prstClr val="white"/>
                </a:solidFill>
                <a:effectLst/>
                <a:uLnTx/>
                <a:uFillTx/>
                <a:latin typeface="楷体_GB2312" panose="02010609030101010101" pitchFamily="49" charset="-122"/>
                <a:ea typeface="楷体_GB2312" panose="02010609030101010101" pitchFamily="49" charset="-122"/>
                <a:sym typeface="+mn-ea"/>
              </a:rPr>
              <a:t>）</a:t>
            </a:r>
            <a:endParaRPr kumimoji="0" lang="zh-CN" altLang="en-US" sz="1200" b="0" i="0" u="none" strike="noStrike" kern="1200" cap="none" spc="0" normalizeH="0" baseline="0" noProof="0" dirty="0">
              <a:ln>
                <a:noFill/>
              </a:ln>
              <a:solidFill>
                <a:prstClr val="white"/>
              </a:solidFill>
              <a:effectLst/>
              <a:uLnTx/>
              <a:uFillTx/>
              <a:latin typeface="楷体_GB2312" panose="02010609030101010101" pitchFamily="49" charset="-122"/>
              <a:ea typeface="楷体_GB2312" panose="02010609030101010101" pitchFamily="49" charset="-122"/>
              <a:cs typeface="+mn-cs"/>
            </a:endParaRPr>
          </a:p>
        </p:txBody>
      </p:sp>
      <p:graphicFrame>
        <p:nvGraphicFramePr>
          <p:cNvPr id="3" name="图表 2"/>
          <p:cNvGraphicFramePr/>
          <p:nvPr/>
        </p:nvGraphicFramePr>
        <p:xfrm>
          <a:off x="699135" y="2821940"/>
          <a:ext cx="4031615" cy="192214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图表 7"/>
          <p:cNvGraphicFramePr/>
          <p:nvPr/>
        </p:nvGraphicFramePr>
        <p:xfrm>
          <a:off x="4906010" y="2771140"/>
          <a:ext cx="4048125" cy="2150745"/>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3"/>
          <p:cNvSpPr txBox="1"/>
          <p:nvPr/>
        </p:nvSpPr>
        <p:spPr>
          <a:xfrm>
            <a:off x="363031" y="234660"/>
            <a:ext cx="4154805" cy="460375"/>
          </a:xfrm>
          <a:prstGeom prst="rect">
            <a:avLst/>
          </a:prstGeom>
          <a:noFill/>
        </p:spPr>
        <p:txBody>
          <a:bodyPr wrap="none" rtlCol="0">
            <a:spAutoFit/>
            <a:scene3d>
              <a:camera prst="orthographicFront"/>
              <a:lightRig rig="threePt" dir="t"/>
            </a:scene3d>
          </a:bodyPr>
          <a:lstStyle/>
          <a:p>
            <a:pPr lvl="0" algn="l">
              <a:spcBef>
                <a:spcPts val="0"/>
              </a:spcBef>
              <a:spcAft>
                <a:spcPts val="0"/>
              </a:spcAft>
              <a:buClrTx/>
              <a:buSzTx/>
              <a:buFontTx/>
              <a:defRPr/>
            </a:pPr>
            <a:r>
              <a:rPr kumimoji="1" lang="en-US" altLang="zh-CN" sz="2400" b="1" noProof="0" dirty="0">
                <a:ln>
                  <a:noFill/>
                </a:ln>
                <a:solidFill>
                  <a:srgbClr val="4F81BD"/>
                </a:solidFill>
                <a:effectLst>
                  <a:outerShdw blurRad="38100" dist="25400" dir="5400000" algn="ctr" rotWithShape="0">
                    <a:srgbClr val="6E747A">
                      <a:alpha val="43000"/>
                    </a:srgbClr>
                  </a:outerShdw>
                </a:effectLst>
                <a:uLnTx/>
                <a:uFillTx/>
                <a:latin typeface="Arial" panose="020B0604020202090204" pitchFamily="34" charset="0"/>
                <a:ea typeface="楷体_GB2312" panose="02010609030101010101" pitchFamily="49" charset="-122"/>
                <a:cs typeface="Arial" panose="020B0604020202090204" pitchFamily="34" charset="0"/>
                <a:sym typeface="+mn-ea"/>
              </a:rPr>
              <a:t>1.2 数据跟踪：海南免税数据</a:t>
            </a:r>
          </a:p>
        </p:txBody>
      </p:sp>
      <p:sp>
        <p:nvSpPr>
          <p:cNvPr id="9" name="矩形 23"/>
          <p:cNvSpPr/>
          <p:nvPr/>
        </p:nvSpPr>
        <p:spPr>
          <a:xfrm>
            <a:off x="363220" y="852805"/>
            <a:ext cx="8591550" cy="1164590"/>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noAutofit/>
            <a:scene3d>
              <a:camera prst="orthographicFront"/>
              <a:lightRig rig="threePt" dir="t"/>
            </a:scene3d>
          </a:bodyPr>
          <a:lstStyle/>
          <a:p>
            <a:pPr marL="215900" lvl="0" indent="-215900" algn="just">
              <a:lnSpc>
                <a:spcPct val="130000"/>
              </a:lnSpc>
              <a:spcBef>
                <a:spcPts val="130"/>
              </a:spcBef>
              <a:spcAft>
                <a:spcPts val="130"/>
              </a:spcAft>
              <a:buFont typeface="Wingdings" panose="05000000000000000000" pitchFamily="2" charset="2"/>
              <a:buChar char="n"/>
              <a:defRPr/>
            </a:pPr>
            <a:r>
              <a:rPr lang="zh-CN" altLang="en-US" sz="1200" b="1" dirty="0">
                <a:solidFill>
                  <a:schemeClr val="accent1"/>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海南免税：离岛免税增速转正，近两年首次出现拐点。</a:t>
            </a:r>
            <a:r>
              <a:rPr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2024年三月起，离岛免税受到大环境影响+出境游分流+打击代购，销售额持续下滑</a:t>
            </a:r>
            <a:r>
              <a:rPr lang="zh-CN"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a:t>
            </a:r>
            <a:r>
              <a:rPr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2025年9月，增速转正，同比+3.42%</a:t>
            </a:r>
            <a:r>
              <a:rPr lang="zh-CN"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a:t>
            </a:r>
            <a:r>
              <a:rPr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此次转正核心为低基数带动</a:t>
            </a:r>
            <a:r>
              <a:rPr lang="zh-CN"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a:t>
            </a:r>
            <a:r>
              <a:rPr sz="1200" b="1"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2025年10月增速同比回暖至+13.1%</a:t>
            </a:r>
            <a:r>
              <a:rPr lang="zh-CN"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a:t>
            </a:r>
            <a:r>
              <a:rPr sz="1200" b="1"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主要系3C（苹果新机）带动</a:t>
            </a:r>
            <a:r>
              <a:rPr lang="zh-CN" sz="1200" b="1"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a:t>
            </a:r>
            <a:endParaRPr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endParaRPr>
          </a:p>
        </p:txBody>
      </p:sp>
      <p:sp>
        <p:nvSpPr>
          <p:cNvPr id="13" name="矩形 12"/>
          <p:cNvSpPr/>
          <p:nvPr/>
        </p:nvSpPr>
        <p:spPr>
          <a:xfrm>
            <a:off x="1" y="808302"/>
            <a:ext cx="3146256" cy="45719"/>
          </a:xfrm>
          <a:prstGeom prst="rect">
            <a:avLst/>
          </a:prstGeom>
          <a:solidFill>
            <a:srgbClr val="403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sp>
        <p:nvSpPr>
          <p:cNvPr id="14" name="矩形 13"/>
          <p:cNvSpPr/>
          <p:nvPr/>
        </p:nvSpPr>
        <p:spPr>
          <a:xfrm flipV="1">
            <a:off x="2743201" y="4869590"/>
            <a:ext cx="6400800" cy="52501"/>
          </a:xfrm>
          <a:prstGeom prst="rect">
            <a:avLst/>
          </a:prstGeom>
          <a:solidFill>
            <a:srgbClr val="C5B1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graphicFrame>
        <p:nvGraphicFramePr>
          <p:cNvPr id="3" name="图表 2"/>
          <p:cNvGraphicFramePr/>
          <p:nvPr/>
        </p:nvGraphicFramePr>
        <p:xfrm>
          <a:off x="699770" y="1876425"/>
          <a:ext cx="4047490" cy="1725295"/>
        </p:xfrm>
        <a:graphic>
          <a:graphicData uri="http://schemas.openxmlformats.org/drawingml/2006/chart">
            <c:chart xmlns:c="http://schemas.openxmlformats.org/drawingml/2006/chart" xmlns:r="http://schemas.openxmlformats.org/officeDocument/2006/relationships" r:id="rId2"/>
          </a:graphicData>
        </a:graphic>
      </p:graphicFrame>
      <p:sp>
        <p:nvSpPr>
          <p:cNvPr id="4" name="矩形 3"/>
          <p:cNvSpPr/>
          <p:nvPr/>
        </p:nvSpPr>
        <p:spPr>
          <a:xfrm>
            <a:off x="699246" y="1605654"/>
            <a:ext cx="4048788" cy="194438"/>
          </a:xfrm>
          <a:prstGeom prst="rect">
            <a:avLst/>
          </a:prstGeom>
          <a:solidFill>
            <a:srgbClr val="403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楷体_GB2312" panose="02010609030101010101" pitchFamily="49" charset="-122"/>
                <a:ea typeface="楷体_GB2312" panose="02010609030101010101" pitchFamily="49" charset="-122"/>
                <a:cs typeface="+mn-cs"/>
              </a:rPr>
              <a:t>海南离岛免税增速</a:t>
            </a:r>
          </a:p>
        </p:txBody>
      </p:sp>
      <p:sp>
        <p:nvSpPr>
          <p:cNvPr id="11" name="矩形 10"/>
          <p:cNvSpPr/>
          <p:nvPr/>
        </p:nvSpPr>
        <p:spPr>
          <a:xfrm>
            <a:off x="4906149" y="1605768"/>
            <a:ext cx="4048788" cy="194438"/>
          </a:xfrm>
          <a:prstGeom prst="rect">
            <a:avLst/>
          </a:prstGeom>
          <a:solidFill>
            <a:srgbClr val="403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lang="en-US" altLang="zh-CN" sz="1200" noProof="0" dirty="0">
                <a:ln>
                  <a:noFill/>
                </a:ln>
                <a:solidFill>
                  <a:prstClr val="white"/>
                </a:solidFill>
                <a:effectLst/>
                <a:uLnTx/>
                <a:uFillTx/>
                <a:latin typeface="楷体_GB2312" panose="02010609030101010101" pitchFamily="49" charset="-122"/>
                <a:ea typeface="楷体_GB2312" panose="02010609030101010101" pitchFamily="49" charset="-122"/>
                <a:sym typeface="+mn-ea"/>
              </a:rPr>
              <a:t>LVMH</a:t>
            </a:r>
            <a:r>
              <a:rPr lang="zh-CN" altLang="en-US" sz="1200" noProof="0" dirty="0">
                <a:ln>
                  <a:noFill/>
                </a:ln>
                <a:solidFill>
                  <a:prstClr val="white"/>
                </a:solidFill>
                <a:effectLst/>
                <a:uLnTx/>
                <a:uFillTx/>
                <a:latin typeface="楷体_GB2312" panose="02010609030101010101" pitchFamily="49" charset="-122"/>
                <a:ea typeface="楷体_GB2312" panose="02010609030101010101" pitchFamily="49" charset="-122"/>
                <a:sym typeface="+mn-ea"/>
              </a:rPr>
              <a:t>亚太增速及海南离岛免税增速（</a:t>
            </a:r>
            <a:r>
              <a:rPr lang="en-US" altLang="zh-CN" sz="1200" noProof="0" dirty="0">
                <a:ln>
                  <a:noFill/>
                </a:ln>
                <a:solidFill>
                  <a:prstClr val="white"/>
                </a:solidFill>
                <a:effectLst/>
                <a:uLnTx/>
                <a:uFillTx/>
                <a:latin typeface="楷体_GB2312" panose="02010609030101010101" pitchFamily="49" charset="-122"/>
                <a:ea typeface="楷体_GB2312" panose="02010609030101010101" pitchFamily="49" charset="-122"/>
                <a:sym typeface="+mn-ea"/>
              </a:rPr>
              <a:t>%</a:t>
            </a:r>
            <a:r>
              <a:rPr lang="zh-CN" altLang="en-US" sz="1200" noProof="0" dirty="0">
                <a:ln>
                  <a:noFill/>
                </a:ln>
                <a:solidFill>
                  <a:prstClr val="white"/>
                </a:solidFill>
                <a:effectLst/>
                <a:uLnTx/>
                <a:uFillTx/>
                <a:latin typeface="楷体_GB2312" panose="02010609030101010101" pitchFamily="49" charset="-122"/>
                <a:ea typeface="楷体_GB2312" panose="02010609030101010101" pitchFamily="49" charset="-122"/>
                <a:sym typeface="+mn-ea"/>
              </a:rPr>
              <a:t>）</a:t>
            </a:r>
          </a:p>
        </p:txBody>
      </p:sp>
      <p:graphicFrame>
        <p:nvGraphicFramePr>
          <p:cNvPr id="8" name="图表 7"/>
          <p:cNvGraphicFramePr/>
          <p:nvPr/>
        </p:nvGraphicFramePr>
        <p:xfrm>
          <a:off x="4906010" y="1876425"/>
          <a:ext cx="4047490" cy="1725295"/>
        </p:xfrm>
        <a:graphic>
          <a:graphicData uri="http://schemas.openxmlformats.org/drawingml/2006/chart">
            <c:chart xmlns:c="http://schemas.openxmlformats.org/drawingml/2006/chart" xmlns:r="http://schemas.openxmlformats.org/officeDocument/2006/relationships" r:id="rId3"/>
          </a:graphicData>
        </a:graphic>
      </p:graphicFrame>
      <p:sp>
        <p:nvSpPr>
          <p:cNvPr id="5" name="矩形 4"/>
          <p:cNvSpPr/>
          <p:nvPr/>
        </p:nvSpPr>
        <p:spPr>
          <a:xfrm>
            <a:off x="762722" y="3660695"/>
            <a:ext cx="8066865" cy="194438"/>
          </a:xfrm>
          <a:prstGeom prst="rect">
            <a:avLst/>
          </a:prstGeom>
          <a:solidFill>
            <a:srgbClr val="403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lang="en-US" altLang="zh-CN" sz="1200" dirty="0">
                <a:solidFill>
                  <a:prstClr val="white"/>
                </a:solidFill>
                <a:latin typeface="楷体_GB2312" panose="02010609030101010101" pitchFamily="49" charset="-122"/>
                <a:ea typeface="楷体_GB2312" panose="02010609030101010101" pitchFamily="49" charset="-122"/>
              </a:rPr>
              <a:t>10</a:t>
            </a:r>
            <a:r>
              <a:rPr lang="zh-CN" altLang="en-US" sz="1200" dirty="0">
                <a:solidFill>
                  <a:prstClr val="white"/>
                </a:solidFill>
                <a:latin typeface="楷体_GB2312" panose="02010609030101010101" pitchFamily="49" charset="-122"/>
                <a:ea typeface="楷体_GB2312" panose="02010609030101010101" pitchFamily="49" charset="-122"/>
              </a:rPr>
              <a:t>月与</a:t>
            </a:r>
            <a:r>
              <a:rPr lang="en-US" altLang="zh-CN" sz="1200" dirty="0">
                <a:solidFill>
                  <a:prstClr val="white"/>
                </a:solidFill>
                <a:latin typeface="楷体_GB2312" panose="02010609030101010101" pitchFamily="49" charset="-122"/>
                <a:ea typeface="楷体_GB2312" panose="02010609030101010101" pitchFamily="49" charset="-122"/>
              </a:rPr>
              <a:t>11</a:t>
            </a:r>
            <a:r>
              <a:rPr lang="zh-CN" altLang="en-US" sz="1200" dirty="0">
                <a:solidFill>
                  <a:prstClr val="white"/>
                </a:solidFill>
                <a:latin typeface="楷体_GB2312" panose="02010609030101010101" pitchFamily="49" charset="-122"/>
                <a:ea typeface="楷体_GB2312" panose="02010609030101010101" pitchFamily="49" charset="-122"/>
              </a:rPr>
              <a:t>月首周离岛免税品类拆解</a:t>
            </a:r>
            <a:endParaRPr kumimoji="0" lang="zh-CN" altLang="en-US" sz="1200" b="0" i="0" u="none" strike="noStrike" kern="1200" cap="none" spc="0" normalizeH="0" baseline="0" noProof="0" dirty="0">
              <a:ln>
                <a:noFill/>
              </a:ln>
              <a:solidFill>
                <a:prstClr val="white"/>
              </a:solidFill>
              <a:effectLst/>
              <a:uLnTx/>
              <a:uFillTx/>
              <a:latin typeface="楷体_GB2312" panose="02010609030101010101" pitchFamily="49" charset="-122"/>
              <a:ea typeface="楷体_GB2312" panose="02010609030101010101" pitchFamily="49" charset="-122"/>
              <a:cs typeface="+mn-cs"/>
            </a:endParaRPr>
          </a:p>
        </p:txBody>
      </p:sp>
      <p:graphicFrame>
        <p:nvGraphicFramePr>
          <p:cNvPr id="6" name="对象 5"/>
          <p:cNvGraphicFramePr>
            <a:graphicFrameLocks noChangeAspect="1"/>
          </p:cNvGraphicFramePr>
          <p:nvPr/>
        </p:nvGraphicFramePr>
        <p:xfrm>
          <a:off x="762722" y="3855133"/>
          <a:ext cx="8066865" cy="1014661"/>
        </p:xfrm>
        <a:graphic>
          <a:graphicData uri="http://schemas.openxmlformats.org/presentationml/2006/ole">
            <mc:AlternateContent xmlns:mc="http://schemas.openxmlformats.org/markup-compatibility/2006">
              <mc:Choice xmlns:v="urn:schemas-microsoft-com:vml" Requires="v">
                <p:oleObj name="Worksheet" r:id="rId4" imgW="6883400" imgH="866140" progId="Excel.Sheet.12">
                  <p:embed/>
                </p:oleObj>
              </mc:Choice>
              <mc:Fallback>
                <p:oleObj name="Worksheet" r:id="rId4" imgW="6883400" imgH="866140" progId="Excel.Sheet.12">
                  <p:embed/>
                  <p:pic>
                    <p:nvPicPr>
                      <p:cNvPr id="0" name="图片 2"/>
                      <p:cNvPicPr/>
                      <p:nvPr/>
                    </p:nvPicPr>
                    <p:blipFill>
                      <a:blip r:embed="rId5"/>
                      <a:stretch>
                        <a:fillRect/>
                      </a:stretch>
                    </p:blipFill>
                    <p:spPr>
                      <a:xfrm>
                        <a:off x="762722" y="3855133"/>
                        <a:ext cx="8066865" cy="1014661"/>
                      </a:xfrm>
                      <a:prstGeom prst="rect">
                        <a:avLst/>
                      </a:prstGeom>
                    </p:spPr>
                  </p:pic>
                </p:oleObj>
              </mc:Fallback>
            </mc:AlternateContent>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3"/>
          <p:cNvSpPr txBox="1"/>
          <p:nvPr/>
        </p:nvSpPr>
        <p:spPr>
          <a:xfrm>
            <a:off x="363031" y="234660"/>
            <a:ext cx="8326755" cy="460375"/>
          </a:xfrm>
          <a:prstGeom prst="rect">
            <a:avLst/>
          </a:prstGeom>
          <a:noFill/>
        </p:spPr>
        <p:txBody>
          <a:bodyPr wrap="none" rtlCol="0">
            <a:spAutoFit/>
            <a:scene3d>
              <a:camera prst="orthographicFront"/>
              <a:lightRig rig="threePt" dir="t"/>
            </a:scene3d>
          </a:bodyPr>
          <a:lstStyle/>
          <a:p>
            <a:pPr lvl="0" algn="l">
              <a:buClrTx/>
              <a:buSzTx/>
              <a:buFontTx/>
            </a:pPr>
            <a:r>
              <a:rPr kumimoji="1" lang="en-US" altLang="zh-CN" sz="2400" b="1" noProof="0" dirty="0">
                <a:ln>
                  <a:noFill/>
                </a:ln>
                <a:solidFill>
                  <a:srgbClr val="4F81BD"/>
                </a:solidFill>
                <a:effectLst>
                  <a:outerShdw blurRad="38100" dist="25400" dir="5400000" algn="ctr" rotWithShape="0">
                    <a:srgbClr val="6E747A">
                      <a:alpha val="43000"/>
                    </a:srgbClr>
                  </a:outerShdw>
                </a:effectLst>
                <a:uLnTx/>
                <a:uFillTx/>
                <a:latin typeface="Arial" panose="020B0604020202090204" pitchFamily="34" charset="0"/>
                <a:ea typeface="楷体_GB2312" panose="02010609030101010101" pitchFamily="49" charset="-122"/>
                <a:cs typeface="Arial" panose="020B0604020202090204" pitchFamily="34" charset="0"/>
                <a:sym typeface="+mn-ea"/>
              </a:rPr>
              <a:t>1.2 数据跟踪：高端美护修复同步反映中国</a:t>
            </a:r>
            <a:r>
              <a:rPr kumimoji="1" lang="zh-CN" altLang="en-US" sz="2400" b="1" dirty="0">
                <a:solidFill>
                  <a:srgbClr val="4F81BD"/>
                </a:solidFill>
                <a:effectLst>
                  <a:outerShdw blurRad="38100" dist="25400" dir="5400000" algn="ctr" rotWithShape="0">
                    <a:srgbClr val="6E747A">
                      <a:alpha val="43000"/>
                    </a:srgbClr>
                  </a:outerShdw>
                </a:effectLst>
                <a:latin typeface="Arial" panose="020B0604020202090204" pitchFamily="34" charset="0"/>
                <a:ea typeface="楷体_GB2312" panose="02010609030101010101" pitchFamily="49" charset="-122"/>
                <a:cs typeface="Arial" panose="020B0604020202090204" pitchFamily="34" charset="0"/>
                <a:sym typeface="+mn-ea"/>
              </a:rPr>
              <a:t>大众</a:t>
            </a:r>
            <a:r>
              <a:rPr kumimoji="1" lang="en-US" altLang="zh-CN" sz="2400" b="1" noProof="0" dirty="0" err="1">
                <a:ln>
                  <a:noFill/>
                </a:ln>
                <a:solidFill>
                  <a:srgbClr val="4F81BD"/>
                </a:solidFill>
                <a:effectLst>
                  <a:outerShdw blurRad="38100" dist="25400" dir="5400000" algn="ctr" rotWithShape="0">
                    <a:srgbClr val="6E747A">
                      <a:alpha val="43000"/>
                    </a:srgbClr>
                  </a:outerShdw>
                </a:effectLst>
                <a:uLnTx/>
                <a:uFillTx/>
                <a:latin typeface="Arial" panose="020B0604020202090204" pitchFamily="34" charset="0"/>
                <a:ea typeface="楷体_GB2312" panose="02010609030101010101" pitchFamily="49" charset="-122"/>
                <a:cs typeface="Arial" panose="020B0604020202090204" pitchFamily="34" charset="0"/>
                <a:sym typeface="+mn-ea"/>
              </a:rPr>
              <a:t>资产增速情况</a:t>
            </a:r>
            <a:endParaRPr kumimoji="1" lang="en-US" altLang="zh-CN" sz="2400" b="1" noProof="0" dirty="0">
              <a:ln>
                <a:noFill/>
              </a:ln>
              <a:solidFill>
                <a:srgbClr val="4F81BD"/>
              </a:solidFill>
              <a:effectLst>
                <a:outerShdw blurRad="38100" dist="25400" dir="5400000" algn="ctr" rotWithShape="0">
                  <a:srgbClr val="6E747A">
                    <a:alpha val="43000"/>
                  </a:srgbClr>
                </a:outerShdw>
              </a:effectLst>
              <a:uLnTx/>
              <a:uFillTx/>
              <a:latin typeface="Arial" panose="020B0604020202090204" pitchFamily="34" charset="0"/>
              <a:ea typeface="楷体_GB2312" panose="02010609030101010101" pitchFamily="49" charset="-122"/>
              <a:cs typeface="Arial" panose="020B0604020202090204" pitchFamily="34" charset="0"/>
              <a:sym typeface="+mn-ea"/>
            </a:endParaRPr>
          </a:p>
        </p:txBody>
      </p:sp>
      <p:sp>
        <p:nvSpPr>
          <p:cNvPr id="9" name="矩形 23"/>
          <p:cNvSpPr/>
          <p:nvPr/>
        </p:nvSpPr>
        <p:spPr>
          <a:xfrm>
            <a:off x="363220" y="852804"/>
            <a:ext cx="8591550" cy="1704341"/>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noAutofit/>
            <a:scene3d>
              <a:camera prst="orthographicFront"/>
              <a:lightRig rig="threePt" dir="t"/>
            </a:scene3d>
          </a:bodyPr>
          <a:lstStyle/>
          <a:p>
            <a:pPr marL="215900" lvl="0" indent="-215900" algn="just">
              <a:lnSpc>
                <a:spcPct val="130000"/>
              </a:lnSpc>
              <a:spcBef>
                <a:spcPts val="130"/>
              </a:spcBef>
              <a:spcAft>
                <a:spcPts val="130"/>
              </a:spcAft>
              <a:buFont typeface="Wingdings" panose="05000000000000000000" pitchFamily="2" charset="2"/>
              <a:buChar char="n"/>
              <a:defRPr/>
            </a:pPr>
            <a:r>
              <a:rPr lang="zh-CN" altLang="en-US" sz="1100" b="1" dirty="0">
                <a:solidFill>
                  <a:schemeClr val="accent1"/>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据雅诗兰黛集团亚太区收入、增速及占比，疫情后2021-2022年实现阶段性反弹，2023年后进入波动下行。</a:t>
            </a:r>
            <a:r>
              <a:rPr sz="11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从2020年低谷(2020Q2仅830.9百万美元)快速回升，2022年Q4达1570.0，较2020年同期增长33.6%，接近疫情前水平。2023年以来起震荡下行，2023Q3降至1058.0，较2022年峰值下滑32.6%，同比增速-6%；2024年Q4同比增速-11%，2025Q3</a:t>
            </a:r>
            <a:r>
              <a:rPr lang="zh-CN" altLang="en-US" sz="11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去除</a:t>
            </a:r>
            <a:r>
              <a:rPr lang="en-US" sz="1100" dirty="0" err="1">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china</a:t>
            </a:r>
            <a:r>
              <a:rPr lang="zh-CN" altLang="en-US" sz="11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加入全球旅游渠道后</a:t>
            </a:r>
            <a:r>
              <a:rPr sz="11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进一步跌至873.0百万美元，较2022年峰值下滑44.3%，同比增速-8%。</a:t>
            </a:r>
            <a:r>
              <a:rPr sz="1100" dirty="0" err="1">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从趋势看</a:t>
            </a:r>
            <a:r>
              <a:rPr sz="11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a:t>
            </a:r>
            <a:r>
              <a:rPr lang="zh-CN" altLang="en-US" sz="11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高端香化在高奢消费的大众线，较为依赖大众消费的修复，</a:t>
            </a:r>
            <a:r>
              <a:rPr sz="11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中国居民资产增速自2023年</a:t>
            </a:r>
            <a:r>
              <a:rPr lang="zh-CN" altLang="en-US" sz="11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进入负增长区间，</a:t>
            </a:r>
            <a:r>
              <a:rPr lang="en-US" altLang="zh-CN" sz="11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2025</a:t>
            </a:r>
            <a:r>
              <a:rPr lang="zh-CN" altLang="en-US" sz="11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年已修复至正增长，但大众居民资产增速依旧处于负增长通道，此</a:t>
            </a:r>
            <a:r>
              <a:rPr sz="1100" dirty="0" err="1">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一定程度上</a:t>
            </a:r>
            <a:r>
              <a:rPr lang="zh-CN" altLang="en-US" sz="11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会抑制</a:t>
            </a:r>
            <a:r>
              <a:rPr sz="1100" dirty="0" err="1">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居民</a:t>
            </a:r>
            <a:r>
              <a:rPr lang="zh-CN" altLang="en-US" sz="11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对于</a:t>
            </a:r>
            <a:r>
              <a:rPr sz="1100" dirty="0" err="1">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高端</a:t>
            </a:r>
            <a:r>
              <a:rPr lang="zh-CN" altLang="en-US" sz="11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香化消费</a:t>
            </a:r>
            <a:r>
              <a:rPr sz="1100" dirty="0" err="1">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意愿</a:t>
            </a:r>
            <a:r>
              <a:rPr lang="zh-CN" altLang="en-US" sz="11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及</a:t>
            </a:r>
            <a:r>
              <a:rPr sz="1100" dirty="0" err="1">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信心</a:t>
            </a:r>
            <a:r>
              <a:rPr lang="zh-CN" altLang="en-US" sz="11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，口红效应下大众资产缩水利好平价美护，但</a:t>
            </a:r>
            <a:r>
              <a:rPr lang="en-US" altLang="zh-CN" sz="11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2025Q2</a:t>
            </a:r>
            <a:r>
              <a:rPr lang="zh-CN" altLang="en-US" sz="11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大众资产降幅收窄至</a:t>
            </a:r>
            <a:r>
              <a:rPr lang="en-US" altLang="zh-CN" sz="11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-0.6%</a:t>
            </a:r>
            <a:r>
              <a:rPr lang="zh-CN" altLang="en-US" sz="11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a:t>
            </a:r>
            <a:r>
              <a:rPr lang="en-US" altLang="zh-CN" sz="11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25Q3</a:t>
            </a:r>
            <a:r>
              <a:rPr lang="zh-CN" altLang="en-US" sz="11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雅诗兰黛中国区实现中个数增长，已出现同步修复迹象，</a:t>
            </a:r>
            <a:r>
              <a:rPr lang="zh-CN" altLang="en-US" sz="1100" b="1"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若</a:t>
            </a:r>
            <a:r>
              <a:rPr lang="en-US" altLang="zh-CN" sz="1100" b="1"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25Q3-Q4</a:t>
            </a:r>
            <a:r>
              <a:rPr lang="zh-CN" altLang="en-US" sz="1100" b="1"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大众资产增速修复延续，有望看到高端香化的持续复苏。</a:t>
            </a:r>
            <a:endParaRPr sz="1100" b="1"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endParaRPr>
          </a:p>
        </p:txBody>
      </p:sp>
      <p:sp>
        <p:nvSpPr>
          <p:cNvPr id="13" name="矩形 12"/>
          <p:cNvSpPr/>
          <p:nvPr/>
        </p:nvSpPr>
        <p:spPr>
          <a:xfrm>
            <a:off x="1" y="808302"/>
            <a:ext cx="3146256" cy="45719"/>
          </a:xfrm>
          <a:prstGeom prst="rect">
            <a:avLst/>
          </a:prstGeom>
          <a:solidFill>
            <a:srgbClr val="403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sp>
        <p:nvSpPr>
          <p:cNvPr id="14" name="矩形 13"/>
          <p:cNvSpPr/>
          <p:nvPr/>
        </p:nvSpPr>
        <p:spPr>
          <a:xfrm flipV="1">
            <a:off x="2743201" y="4869590"/>
            <a:ext cx="6400800" cy="52501"/>
          </a:xfrm>
          <a:prstGeom prst="rect">
            <a:avLst/>
          </a:prstGeom>
          <a:solidFill>
            <a:srgbClr val="C5B1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graphicFrame>
        <p:nvGraphicFramePr>
          <p:cNvPr id="4" name="图表 3"/>
          <p:cNvGraphicFramePr/>
          <p:nvPr/>
        </p:nvGraphicFramePr>
        <p:xfrm>
          <a:off x="699135" y="2714026"/>
          <a:ext cx="4038600" cy="2227580"/>
        </p:xfrm>
        <a:graphic>
          <a:graphicData uri="http://schemas.openxmlformats.org/drawingml/2006/chart">
            <c:chart xmlns:c="http://schemas.openxmlformats.org/drawingml/2006/chart" xmlns:r="http://schemas.openxmlformats.org/officeDocument/2006/relationships" r:id="rId2"/>
          </a:graphicData>
        </a:graphic>
      </p:graphicFrame>
      <p:sp>
        <p:nvSpPr>
          <p:cNvPr id="7" name="矩形 6"/>
          <p:cNvSpPr/>
          <p:nvPr/>
        </p:nvSpPr>
        <p:spPr>
          <a:xfrm>
            <a:off x="699246" y="2572495"/>
            <a:ext cx="4048788" cy="194438"/>
          </a:xfrm>
          <a:prstGeom prst="rect">
            <a:avLst/>
          </a:prstGeom>
          <a:solidFill>
            <a:srgbClr val="403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lang="en-US" altLang="zh-CN" sz="1200" noProof="0" dirty="0">
                <a:ln>
                  <a:noFill/>
                </a:ln>
                <a:solidFill>
                  <a:prstClr val="white"/>
                </a:solidFill>
                <a:effectLst/>
                <a:uLnTx/>
                <a:uFillTx/>
                <a:latin typeface="楷体_GB2312" panose="02010609030101010101" pitchFamily="49" charset="-122"/>
                <a:ea typeface="楷体_GB2312" panose="02010609030101010101" pitchFamily="49" charset="-122"/>
                <a:sym typeface="+mn-ea"/>
              </a:rPr>
              <a:t>EL</a:t>
            </a:r>
            <a:r>
              <a:rPr lang="zh-CN" sz="1200" noProof="0" dirty="0">
                <a:ln>
                  <a:noFill/>
                </a:ln>
                <a:solidFill>
                  <a:prstClr val="white"/>
                </a:solidFill>
                <a:effectLst/>
                <a:uLnTx/>
                <a:uFillTx/>
                <a:latin typeface="楷体_GB2312" panose="02010609030101010101" pitchFamily="49" charset="-122"/>
                <a:ea typeface="楷体_GB2312" panose="02010609030101010101" pitchFamily="49" charset="-122"/>
                <a:sym typeface="+mn-ea"/>
              </a:rPr>
              <a:t>：2010Q1-2025Q2亚太地区收入、增速及占比</a:t>
            </a:r>
            <a:endParaRPr kumimoji="0" lang="zh-CN" altLang="en-US" sz="1200" b="0" i="0" u="none" strike="noStrike" kern="1200" cap="none" spc="0" normalizeH="0" baseline="0" noProof="0" dirty="0">
              <a:ln>
                <a:noFill/>
              </a:ln>
              <a:solidFill>
                <a:prstClr val="white"/>
              </a:solidFill>
              <a:effectLst/>
              <a:uLnTx/>
              <a:uFillTx/>
              <a:latin typeface="楷体_GB2312" panose="02010609030101010101" pitchFamily="49" charset="-122"/>
              <a:ea typeface="楷体_GB2312" panose="02010609030101010101" pitchFamily="49" charset="-122"/>
              <a:cs typeface="+mn-cs"/>
            </a:endParaRPr>
          </a:p>
        </p:txBody>
      </p:sp>
      <p:sp>
        <p:nvSpPr>
          <p:cNvPr id="11" name="矩形 10"/>
          <p:cNvSpPr/>
          <p:nvPr/>
        </p:nvSpPr>
        <p:spPr>
          <a:xfrm>
            <a:off x="4906149" y="2572609"/>
            <a:ext cx="4048788" cy="194438"/>
          </a:xfrm>
          <a:prstGeom prst="rect">
            <a:avLst/>
          </a:prstGeom>
          <a:solidFill>
            <a:srgbClr val="403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lang="en-US" sz="1200" noProof="0" dirty="0">
                <a:ln>
                  <a:noFill/>
                </a:ln>
                <a:solidFill>
                  <a:prstClr val="white"/>
                </a:solidFill>
                <a:effectLst/>
                <a:uLnTx/>
                <a:uFillTx/>
                <a:latin typeface="楷体_GB2312" panose="02010609030101010101" pitchFamily="49" charset="-122"/>
                <a:ea typeface="楷体_GB2312" panose="02010609030101010101" pitchFamily="49" charset="-122"/>
                <a:sym typeface="+mn-ea"/>
              </a:rPr>
              <a:t>EL</a:t>
            </a:r>
            <a:r>
              <a:rPr sz="1200" noProof="0" dirty="0">
                <a:ln>
                  <a:noFill/>
                </a:ln>
                <a:solidFill>
                  <a:prstClr val="white"/>
                </a:solidFill>
                <a:effectLst/>
                <a:uLnTx/>
                <a:uFillTx/>
                <a:latin typeface="楷体_GB2312" panose="02010609030101010101" pitchFamily="49" charset="-122"/>
                <a:ea typeface="楷体_GB2312" panose="02010609030101010101" pitchFamily="49" charset="-122"/>
                <a:sym typeface="+mn-ea"/>
              </a:rPr>
              <a:t>：20Q1-25Q2中国居民</a:t>
            </a:r>
            <a:r>
              <a:rPr lang="zh-CN" altLang="en-US" sz="1200" noProof="0" dirty="0">
                <a:ln>
                  <a:noFill/>
                </a:ln>
                <a:solidFill>
                  <a:prstClr val="white"/>
                </a:solidFill>
                <a:effectLst/>
                <a:uLnTx/>
                <a:uFillTx/>
                <a:latin typeface="楷体_GB2312" panose="02010609030101010101" pitchFamily="49" charset="-122"/>
                <a:ea typeface="楷体_GB2312" panose="02010609030101010101" pitchFamily="49" charset="-122"/>
                <a:sym typeface="+mn-ea"/>
              </a:rPr>
              <a:t>大众</a:t>
            </a:r>
            <a:r>
              <a:rPr sz="1200" noProof="0" dirty="0" err="1">
                <a:ln>
                  <a:noFill/>
                </a:ln>
                <a:solidFill>
                  <a:prstClr val="white"/>
                </a:solidFill>
                <a:effectLst/>
                <a:uLnTx/>
                <a:uFillTx/>
                <a:latin typeface="楷体_GB2312" panose="02010609030101010101" pitchFamily="49" charset="-122"/>
                <a:ea typeface="楷体_GB2312" panose="02010609030101010101" pitchFamily="49" charset="-122"/>
                <a:sym typeface="+mn-ea"/>
              </a:rPr>
              <a:t>资产增速及亚太区收入增速</a:t>
            </a:r>
            <a:endParaRPr sz="1200" noProof="0" dirty="0">
              <a:ln>
                <a:noFill/>
              </a:ln>
              <a:solidFill>
                <a:prstClr val="white"/>
              </a:solidFill>
              <a:effectLst/>
              <a:uLnTx/>
              <a:uFillTx/>
              <a:latin typeface="楷体_GB2312" panose="02010609030101010101" pitchFamily="49" charset="-122"/>
              <a:ea typeface="楷体_GB2312" panose="02010609030101010101" pitchFamily="49" charset="-122"/>
              <a:sym typeface="+mn-ea"/>
            </a:endParaRPr>
          </a:p>
        </p:txBody>
      </p:sp>
      <p:graphicFrame>
        <p:nvGraphicFramePr>
          <p:cNvPr id="5" name="图表 4"/>
          <p:cNvGraphicFramePr/>
          <p:nvPr/>
        </p:nvGraphicFramePr>
        <p:xfrm>
          <a:off x="4831843" y="2802441"/>
          <a:ext cx="4122927" cy="2139165"/>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0"/>
          <p:cNvSpPr txBox="1"/>
          <p:nvPr/>
        </p:nvSpPr>
        <p:spPr>
          <a:xfrm>
            <a:off x="1014975" y="1373345"/>
            <a:ext cx="2441694" cy="2400657"/>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15000" b="0" i="0" u="none" strike="noStrike" kern="1200" cap="none" spc="0" normalizeH="0" baseline="0" noProof="0" dirty="0">
                <a:ln>
                  <a:noFill/>
                </a:ln>
                <a:solidFill>
                  <a:srgbClr val="4F81BD"/>
                </a:solidFill>
                <a:effectLst>
                  <a:outerShdw blurRad="38100" dist="25400" dir="5400000" algn="ctr" rotWithShape="0">
                    <a:srgbClr val="6E747A">
                      <a:alpha val="43000"/>
                    </a:srgbClr>
                  </a:outerShdw>
                </a:effectLst>
                <a:uLnTx/>
                <a:uFillTx/>
                <a:latin typeface="微软雅黑" panose="020B0503020204020204" pitchFamily="34" charset="-122"/>
                <a:ea typeface="微软雅黑" panose="020B0503020204020204" pitchFamily="34" charset="-122"/>
                <a:cs typeface="微软雅黑" panose="020B0503020204020204" pitchFamily="34" charset="-122"/>
              </a:rPr>
              <a:t>0</a:t>
            </a:r>
            <a:r>
              <a:rPr kumimoji="1" lang="en-US" altLang="zh-CN" sz="15000" dirty="0">
                <a:solidFill>
                  <a:srgbClr val="4F81BD"/>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cs typeface="微软雅黑" panose="020B0503020204020204" pitchFamily="34" charset="-122"/>
              </a:rPr>
              <a:t>2</a:t>
            </a:r>
            <a:endParaRPr kumimoji="1" lang="en-US" altLang="zh-CN" sz="15000" b="0" i="0" u="none" strike="noStrike" kern="1200" cap="none" spc="0" normalizeH="0" baseline="0" noProof="0" dirty="0">
              <a:ln>
                <a:noFill/>
              </a:ln>
              <a:solidFill>
                <a:srgbClr val="4F81BD"/>
              </a:solidFill>
              <a:effectLst>
                <a:outerShdw blurRad="38100" dist="25400" dir="5400000" algn="ctr" rotWithShape="0">
                  <a:srgbClr val="6E747A">
                    <a:alpha val="43000"/>
                  </a:srgbClr>
                </a:outerShdw>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文本框 4"/>
          <p:cNvSpPr txBox="1"/>
          <p:nvPr/>
        </p:nvSpPr>
        <p:spPr>
          <a:xfrm>
            <a:off x="3594240" y="2003538"/>
            <a:ext cx="4609818" cy="1124585"/>
          </a:xfrm>
          <a:prstGeom prst="rect">
            <a:avLst/>
          </a:prstGeom>
          <a:noFill/>
        </p:spPr>
        <p:txBody>
          <a:bodyPr wrap="square" rtlCol="0">
            <a:spAutoFit/>
          </a:bodyPr>
          <a:lstStyle/>
          <a:p>
            <a:pPr marL="0" marR="0" lvl="0" indent="0" algn="r" defTabSz="457200" rtl="0" eaLnBrk="1" fontAlgn="auto" latinLnBrk="0" hangingPunct="1">
              <a:lnSpc>
                <a:spcPct val="120000"/>
              </a:lnSpc>
              <a:spcBef>
                <a:spcPts val="0"/>
              </a:spcBef>
              <a:spcAft>
                <a:spcPts val="0"/>
              </a:spcAft>
              <a:buClrTx/>
              <a:buSzTx/>
              <a:buFontTx/>
              <a:buNone/>
              <a:defRPr/>
            </a:pPr>
            <a:r>
              <a:rPr kumimoji="1" lang="zh-CN" altLang="en-US" sz="2800" b="0" i="0" u="none" strike="noStrike" kern="1200" cap="none" spc="0" normalizeH="0" baseline="0" noProof="0" dirty="0">
                <a:ln>
                  <a:noFill/>
                </a:ln>
                <a:solidFill>
                  <a:srgbClr val="4F81BD"/>
                </a:solidFill>
                <a:effectLst>
                  <a:outerShdw blurRad="38100" dist="25400" dir="5400000" algn="ctr" rotWithShape="0">
                    <a:srgbClr val="6E747A">
                      <a:alpha val="43000"/>
                    </a:srgbClr>
                  </a:outerShdw>
                </a:effectLst>
                <a:uLnTx/>
                <a:uFillTx/>
                <a:latin typeface="楷体_GB2312" panose="02010609030101010101" pitchFamily="49" charset="-122"/>
                <a:ea typeface="楷体_GB2312" panose="02010609030101010101" pitchFamily="49" charset="-122"/>
                <a:cs typeface="微软雅黑" panose="020B0503020204020204" pitchFamily="34" charset="-122"/>
              </a:rPr>
              <a:t>消费观察：样本商圈表现整体延续增长趋势</a:t>
            </a:r>
          </a:p>
        </p:txBody>
      </p:sp>
      <p:sp>
        <p:nvSpPr>
          <p:cNvPr id="2" name="矩形 1"/>
          <p:cNvSpPr/>
          <p:nvPr/>
        </p:nvSpPr>
        <p:spPr>
          <a:xfrm>
            <a:off x="0" y="828847"/>
            <a:ext cx="4938738" cy="255182"/>
          </a:xfrm>
          <a:prstGeom prst="rect">
            <a:avLst/>
          </a:prstGeom>
          <a:solidFill>
            <a:srgbClr val="403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sp>
        <p:nvSpPr>
          <p:cNvPr id="3" name="矩形 2"/>
          <p:cNvSpPr/>
          <p:nvPr/>
        </p:nvSpPr>
        <p:spPr>
          <a:xfrm>
            <a:off x="3638008" y="3995579"/>
            <a:ext cx="5505992" cy="255182"/>
          </a:xfrm>
          <a:prstGeom prst="rect">
            <a:avLst/>
          </a:prstGeom>
          <a:solidFill>
            <a:srgbClr val="C5B1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3"/>
          <p:cNvSpPr txBox="1"/>
          <p:nvPr/>
        </p:nvSpPr>
        <p:spPr>
          <a:xfrm>
            <a:off x="363031" y="234660"/>
            <a:ext cx="5103495" cy="460375"/>
          </a:xfrm>
          <a:prstGeom prst="rect">
            <a:avLst/>
          </a:prstGeom>
          <a:noFill/>
        </p:spPr>
        <p:txBody>
          <a:bodyPr wrap="none" rtlCol="0">
            <a:spAutoFit/>
            <a:scene3d>
              <a:camera prst="orthographicFront"/>
              <a:lightRig rig="threePt" dir="t"/>
            </a:scene3d>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2400" b="1" i="0" u="none" strike="noStrike" kern="1200" cap="none" spc="0" normalizeH="0" baseline="0" noProof="0" dirty="0">
                <a:ln>
                  <a:noFill/>
                </a:ln>
                <a:solidFill>
                  <a:srgbClr val="4F81BD"/>
                </a:solidFill>
                <a:effectLst>
                  <a:outerShdw blurRad="38100" dist="25400" dir="5400000" algn="ctr" rotWithShape="0">
                    <a:srgbClr val="6E747A">
                      <a:alpha val="43000"/>
                    </a:srgbClr>
                  </a:outerShdw>
                </a:effectLst>
                <a:uLnTx/>
                <a:uFillTx/>
                <a:latin typeface="Arial" panose="020B0604020202090204" pitchFamily="34" charset="0"/>
                <a:ea typeface="楷体_GB2312" panose="02010609030101010101" pitchFamily="49" charset="-122"/>
                <a:cs typeface="Arial" panose="020B0604020202090204" pitchFamily="34" charset="0"/>
              </a:rPr>
              <a:t>2.</a:t>
            </a:r>
            <a:r>
              <a:rPr kumimoji="1" lang="en-US" altLang="zh-CN" sz="2400" b="1" dirty="0">
                <a:solidFill>
                  <a:srgbClr val="4F81BD"/>
                </a:solidFill>
                <a:effectLst>
                  <a:outerShdw blurRad="38100" dist="25400" dir="5400000" algn="ctr" rotWithShape="0">
                    <a:srgbClr val="6E747A">
                      <a:alpha val="43000"/>
                    </a:srgbClr>
                  </a:outerShdw>
                </a:effectLst>
                <a:latin typeface="Arial" panose="020B0604020202090204" pitchFamily="34" charset="0"/>
                <a:ea typeface="楷体_GB2312" panose="02010609030101010101" pitchFamily="49" charset="-122"/>
                <a:cs typeface="Arial" panose="020B0604020202090204" pitchFamily="34" charset="0"/>
              </a:rPr>
              <a:t>1</a:t>
            </a:r>
            <a:r>
              <a:rPr kumimoji="1" lang="en-US" altLang="zh-CN" sz="2400" b="1" i="0" u="none" strike="noStrike" kern="1200" cap="none" spc="0" normalizeH="0" baseline="0" noProof="0" dirty="0">
                <a:ln>
                  <a:noFill/>
                </a:ln>
                <a:solidFill>
                  <a:srgbClr val="4F81BD"/>
                </a:solidFill>
                <a:effectLst>
                  <a:outerShdw blurRad="38100" dist="25400" dir="5400000" algn="ctr" rotWithShape="0">
                    <a:srgbClr val="6E747A">
                      <a:alpha val="43000"/>
                    </a:srgbClr>
                  </a:outerShdw>
                </a:effectLst>
                <a:uLnTx/>
                <a:uFillTx/>
                <a:latin typeface="楷体_GB2312" panose="02010609030101010101" pitchFamily="49" charset="-122"/>
                <a:ea typeface="楷体_GB2312" panose="02010609030101010101" pitchFamily="49" charset="-122"/>
                <a:cs typeface="微软雅黑" panose="020B0503020204020204" pitchFamily="34" charset="-122"/>
              </a:rPr>
              <a:t> </a:t>
            </a:r>
            <a:r>
              <a:rPr kumimoji="1" lang="zh-CN" altLang="en-US" sz="2400" b="1" i="0" u="none" strike="noStrike" kern="1200" cap="none" spc="0" normalizeH="0" baseline="0" noProof="0" dirty="0">
                <a:ln>
                  <a:noFill/>
                </a:ln>
                <a:solidFill>
                  <a:srgbClr val="4F81BD"/>
                </a:solidFill>
                <a:effectLst>
                  <a:outerShdw blurRad="38100" dist="25400" dir="5400000" algn="ctr" rotWithShape="0">
                    <a:srgbClr val="6E747A">
                      <a:alpha val="43000"/>
                    </a:srgbClr>
                  </a:outerShdw>
                </a:effectLst>
                <a:uLnTx/>
                <a:uFillTx/>
                <a:latin typeface="楷体_GB2312" panose="02010609030101010101" pitchFamily="49" charset="-122"/>
                <a:ea typeface="楷体_GB2312" panose="02010609030101010101" pitchFamily="49" charset="-122"/>
                <a:cs typeface="微软雅黑" panose="020B0503020204020204" pitchFamily="34" charset="-122"/>
              </a:rPr>
              <a:t>会员体系</a:t>
            </a:r>
            <a:r>
              <a:rPr kumimoji="1" lang="en-US" altLang="zh-CN" sz="2400" b="1" i="0" u="none" strike="noStrike" kern="1200" cap="none" spc="0" normalizeH="0" baseline="0" noProof="0" dirty="0">
                <a:ln>
                  <a:noFill/>
                </a:ln>
                <a:solidFill>
                  <a:srgbClr val="4F81BD"/>
                </a:solidFill>
                <a:effectLst>
                  <a:outerShdw blurRad="38100" dist="25400" dir="5400000" algn="ctr" rotWithShape="0">
                    <a:srgbClr val="6E747A">
                      <a:alpha val="43000"/>
                    </a:srgbClr>
                  </a:outerShdw>
                </a:effectLst>
                <a:uLnTx/>
                <a:uFillTx/>
                <a:latin typeface="楷体_GB2312" panose="02010609030101010101" pitchFamily="49" charset="-122"/>
                <a:ea typeface="楷体_GB2312" panose="02010609030101010101" pitchFamily="49" charset="-122"/>
                <a:cs typeface="微软雅黑" panose="020B0503020204020204" pitchFamily="34" charset="-122"/>
              </a:rPr>
              <a:t>-</a:t>
            </a:r>
            <a:r>
              <a:rPr kumimoji="1" lang="zh-CN" altLang="en-US" sz="2400" b="1" i="0" u="none" strike="noStrike" kern="1200" cap="none" spc="0" normalizeH="0" baseline="0" noProof="0" dirty="0">
                <a:ln>
                  <a:noFill/>
                </a:ln>
                <a:solidFill>
                  <a:srgbClr val="4F81BD"/>
                </a:solidFill>
                <a:effectLst>
                  <a:outerShdw blurRad="38100" dist="25400" dir="5400000" algn="ctr" rotWithShape="0">
                    <a:srgbClr val="6E747A">
                      <a:alpha val="43000"/>
                    </a:srgbClr>
                  </a:outerShdw>
                </a:effectLst>
                <a:uLnTx/>
                <a:uFillTx/>
                <a:latin typeface="楷体_GB2312" panose="02010609030101010101" pitchFamily="49" charset="-122"/>
                <a:ea typeface="楷体_GB2312" panose="02010609030101010101" pitchFamily="49" charset="-122"/>
                <a:cs typeface="微软雅黑" panose="020B0503020204020204" pitchFamily="34" charset="-122"/>
              </a:rPr>
              <a:t>华润万象</a:t>
            </a:r>
            <a:r>
              <a:rPr kumimoji="1" lang="en-US" altLang="zh-CN" sz="2400" b="1" i="0" u="none" strike="noStrike" kern="1200" cap="none" spc="0" normalizeH="0" baseline="0" noProof="0" dirty="0">
                <a:ln>
                  <a:noFill/>
                </a:ln>
                <a:solidFill>
                  <a:srgbClr val="4F81BD"/>
                </a:solidFill>
                <a:effectLst>
                  <a:outerShdw blurRad="38100" dist="25400" dir="5400000" algn="ctr" rotWithShape="0">
                    <a:srgbClr val="6E747A">
                      <a:alpha val="43000"/>
                    </a:srgbClr>
                  </a:outerShdw>
                </a:effectLst>
                <a:uLnTx/>
                <a:uFillTx/>
                <a:latin typeface="楷体_GB2312" panose="02010609030101010101" pitchFamily="49" charset="-122"/>
                <a:ea typeface="楷体_GB2312" panose="02010609030101010101" pitchFamily="49" charset="-122"/>
                <a:cs typeface="微软雅黑" panose="020B0503020204020204" pitchFamily="34" charset="-122"/>
              </a:rPr>
              <a:t>&amp;</a:t>
            </a:r>
            <a:r>
              <a:rPr kumimoji="1" lang="zh-CN" altLang="en-US" sz="2400" b="1" i="0" u="none" strike="noStrike" kern="1200" cap="none" spc="0" normalizeH="0" baseline="0" noProof="0" dirty="0">
                <a:ln>
                  <a:noFill/>
                </a:ln>
                <a:solidFill>
                  <a:srgbClr val="4F81BD"/>
                </a:solidFill>
                <a:effectLst>
                  <a:outerShdw blurRad="38100" dist="25400" dir="5400000" algn="ctr" rotWithShape="0">
                    <a:srgbClr val="6E747A">
                      <a:alpha val="43000"/>
                    </a:srgbClr>
                  </a:outerShdw>
                </a:effectLst>
                <a:uLnTx/>
                <a:uFillTx/>
                <a:latin typeface="楷体_GB2312" panose="02010609030101010101" pitchFamily="49" charset="-122"/>
                <a:ea typeface="楷体_GB2312" panose="02010609030101010101" pitchFamily="49" charset="-122"/>
                <a:cs typeface="微软雅黑" panose="020B0503020204020204" pitchFamily="34" charset="-122"/>
              </a:rPr>
              <a:t>恒隆</a:t>
            </a:r>
            <a:r>
              <a:rPr kumimoji="1" lang="en-US" altLang="zh-CN" sz="2400" b="1" i="0" u="none" strike="noStrike" kern="1200" cap="none" spc="0" normalizeH="0" baseline="0" noProof="0" dirty="0">
                <a:ln>
                  <a:noFill/>
                </a:ln>
                <a:solidFill>
                  <a:srgbClr val="4F81BD"/>
                </a:solidFill>
                <a:effectLst>
                  <a:outerShdw blurRad="38100" dist="25400" dir="5400000" algn="ctr" rotWithShape="0">
                    <a:srgbClr val="6E747A">
                      <a:alpha val="43000"/>
                    </a:srgbClr>
                  </a:outerShdw>
                </a:effectLst>
                <a:uLnTx/>
                <a:uFillTx/>
                <a:latin typeface="楷体_GB2312" panose="02010609030101010101" pitchFamily="49" charset="-122"/>
                <a:ea typeface="楷体_GB2312" panose="02010609030101010101" pitchFamily="49" charset="-122"/>
                <a:cs typeface="微软雅黑" panose="020B0503020204020204" pitchFamily="34" charset="-122"/>
              </a:rPr>
              <a:t>&amp;</a:t>
            </a:r>
            <a:r>
              <a:rPr kumimoji="1" lang="zh-CN" altLang="en-US" sz="2400" b="1" i="0" u="none" strike="noStrike" kern="1200" cap="none" spc="0" normalizeH="0" baseline="0" noProof="0" dirty="0">
                <a:ln>
                  <a:noFill/>
                </a:ln>
                <a:solidFill>
                  <a:srgbClr val="4F81BD"/>
                </a:solidFill>
                <a:effectLst>
                  <a:outerShdw blurRad="38100" dist="25400" dir="5400000" algn="ctr" rotWithShape="0">
                    <a:srgbClr val="6E747A">
                      <a:alpha val="43000"/>
                    </a:srgbClr>
                  </a:outerShdw>
                </a:effectLst>
                <a:uLnTx/>
                <a:uFillTx/>
                <a:latin typeface="楷体_GB2312" panose="02010609030101010101" pitchFamily="49" charset="-122"/>
                <a:ea typeface="楷体_GB2312" panose="02010609030101010101" pitchFamily="49" charset="-122"/>
                <a:cs typeface="微软雅黑" panose="020B0503020204020204" pitchFamily="34" charset="-122"/>
              </a:rPr>
              <a:t>太古</a:t>
            </a:r>
          </a:p>
        </p:txBody>
      </p:sp>
      <p:sp>
        <p:nvSpPr>
          <p:cNvPr id="9" name="矩形 23"/>
          <p:cNvSpPr/>
          <p:nvPr/>
        </p:nvSpPr>
        <p:spPr>
          <a:xfrm>
            <a:off x="363220" y="852805"/>
            <a:ext cx="8591550" cy="1501775"/>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noAutofit/>
            <a:scene3d>
              <a:camera prst="orthographicFront"/>
              <a:lightRig rig="threePt" dir="t"/>
            </a:scene3d>
          </a:bodyPr>
          <a:lstStyle/>
          <a:p>
            <a:pPr marL="215900" lvl="0" indent="-215900" algn="just">
              <a:lnSpc>
                <a:spcPct val="130000"/>
              </a:lnSpc>
              <a:spcBef>
                <a:spcPts val="130"/>
              </a:spcBef>
              <a:spcAft>
                <a:spcPts val="130"/>
              </a:spcAft>
              <a:buFont typeface="Wingdings" panose="05000000000000000000" pitchFamily="2" charset="2"/>
              <a:buChar char="n"/>
              <a:defRPr/>
            </a:pPr>
            <a:r>
              <a:rPr lang="zh-CN" altLang="en-US" sz="1200" b="1" dirty="0">
                <a:solidFill>
                  <a:schemeClr val="accent1"/>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华润万象：随商圈扩张会员体系人数大幅提升，客群消费均呈现频次增加、单次金额下降趋势，单客贡献值持续提升。</a:t>
            </a:r>
            <a:r>
              <a:rPr lang="zh-CN" altLang="en-US"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截至</a:t>
            </a:r>
            <a:r>
              <a:rPr lang="en-US" altLang="zh-CN"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2025</a:t>
            </a:r>
            <a:r>
              <a:rPr lang="zh-CN" altLang="en-US"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年</a:t>
            </a:r>
            <a:r>
              <a:rPr lang="en-US" altLang="zh-CN"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6</a:t>
            </a:r>
            <a:r>
              <a:rPr lang="zh-CN" altLang="en-US"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月末，华润万象体系会员人数达</a:t>
            </a:r>
            <a:r>
              <a:rPr lang="en-US" altLang="zh-CN"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7100</a:t>
            </a:r>
            <a:r>
              <a:rPr lang="zh-CN" altLang="en-US"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万人，同比</a:t>
            </a:r>
            <a:r>
              <a:rPr lang="en-US" altLang="zh-CN"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+16%</a:t>
            </a:r>
            <a:r>
              <a:rPr lang="zh-CN" altLang="en-US"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a:t>
            </a:r>
            <a:r>
              <a:rPr lang="en-US" altLang="zh-CN"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2020-2024</a:t>
            </a:r>
            <a:r>
              <a:rPr lang="zh-CN" altLang="en-US"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年会员人数</a:t>
            </a:r>
            <a:r>
              <a:rPr lang="en-US" altLang="zh-CN"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CAGR</a:t>
            </a:r>
            <a:r>
              <a:rPr lang="zh-CN" altLang="en-US"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达</a:t>
            </a:r>
            <a:r>
              <a:rPr lang="en-US" altLang="zh-CN"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46%</a:t>
            </a:r>
            <a:r>
              <a:rPr lang="zh-CN" altLang="en-US"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，其中黑金</a:t>
            </a:r>
            <a:r>
              <a:rPr lang="en-US" altLang="zh-CN"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a:t>
            </a:r>
            <a:r>
              <a:rPr lang="zh-CN" altLang="en-US"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白金</a:t>
            </a:r>
            <a:r>
              <a:rPr lang="en-US" altLang="zh-CN"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a:t>
            </a:r>
            <a:r>
              <a:rPr lang="zh-CN" altLang="en-US"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金卡</a:t>
            </a:r>
            <a:r>
              <a:rPr lang="en-US" altLang="zh-CN"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a:t>
            </a:r>
            <a:r>
              <a:rPr lang="zh-CN" altLang="en-US"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银卡会员人数</a:t>
            </a:r>
            <a:r>
              <a:rPr lang="en-US" altLang="zh-CN"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CAGR</a:t>
            </a:r>
            <a:r>
              <a:rPr lang="zh-CN" altLang="en-US"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分别为为</a:t>
            </a:r>
            <a:r>
              <a:rPr lang="en-US" altLang="zh-CN"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28%/31%/27%/52%</a:t>
            </a:r>
            <a:r>
              <a:rPr lang="zh-CN" altLang="en-US"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a:t>
            </a:r>
            <a:r>
              <a:rPr lang="en-US" altLang="zh-CN"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2020-2024</a:t>
            </a:r>
            <a:r>
              <a:rPr lang="zh-CN" altLang="en-US"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年，</a:t>
            </a:r>
            <a:r>
              <a:rPr lang="en-US" altLang="zh-CN"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1</a:t>
            </a:r>
            <a:r>
              <a:rPr lang="zh-CN" altLang="en-US"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）黑金会员，消费频次</a:t>
            </a:r>
            <a:r>
              <a:rPr lang="en-US" altLang="zh-CN"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a:t>
            </a:r>
            <a:r>
              <a:rPr lang="zh-CN" altLang="en-US"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单次消费金额</a:t>
            </a:r>
            <a:r>
              <a:rPr lang="en-US" altLang="zh-CN"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cagr +18%/-12%</a:t>
            </a:r>
            <a:r>
              <a:rPr lang="zh-CN" altLang="en-US"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a:t>
            </a:r>
            <a:r>
              <a:rPr lang="en-US" altLang="zh-CN"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2</a:t>
            </a:r>
            <a:r>
              <a:rPr lang="zh-CN" altLang="en-US"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）白金会员，消费频次</a:t>
            </a:r>
            <a:r>
              <a:rPr lang="en-US" altLang="zh-CN"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a:t>
            </a:r>
            <a:r>
              <a:rPr lang="zh-CN" altLang="en-US"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单次消费金额</a:t>
            </a:r>
            <a:r>
              <a:rPr lang="en-US" altLang="zh-CN"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cagr +14%/-13%</a:t>
            </a:r>
            <a:r>
              <a:rPr lang="zh-CN" altLang="en-US"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a:t>
            </a:r>
            <a:r>
              <a:rPr lang="en-US" altLang="zh-CN"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3</a:t>
            </a:r>
            <a:r>
              <a:rPr lang="zh-CN" altLang="en-US"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）金卡会员，消费频次</a:t>
            </a:r>
            <a:r>
              <a:rPr lang="en-US" altLang="zh-CN"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a:t>
            </a:r>
            <a:r>
              <a:rPr lang="zh-CN" altLang="en-US"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单次消费金额</a:t>
            </a:r>
            <a:r>
              <a:rPr lang="en-US" altLang="zh-CN"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cagr +16%/-10%</a:t>
            </a:r>
            <a:r>
              <a:rPr lang="zh-CN" altLang="en-US"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a:t>
            </a:r>
            <a:r>
              <a:rPr lang="en-US" altLang="zh-CN"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4</a:t>
            </a:r>
            <a:r>
              <a:rPr lang="zh-CN" altLang="en-US"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）银卡会员，消费频次</a:t>
            </a:r>
            <a:r>
              <a:rPr lang="en-US" altLang="zh-CN"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a:t>
            </a:r>
            <a:r>
              <a:rPr lang="zh-CN" altLang="en-US"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单次消费金额</a:t>
            </a:r>
            <a:r>
              <a:rPr lang="en-US" altLang="zh-CN"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cagr +37%/-17%</a:t>
            </a:r>
            <a:r>
              <a:rPr lang="zh-CN" altLang="en-US"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a:t>
            </a:r>
          </a:p>
          <a:p>
            <a:pPr marL="215900" lvl="0" indent="-215900" algn="just">
              <a:lnSpc>
                <a:spcPct val="130000"/>
              </a:lnSpc>
              <a:spcBef>
                <a:spcPts val="130"/>
              </a:spcBef>
              <a:spcAft>
                <a:spcPts val="130"/>
              </a:spcAft>
              <a:buClrTx/>
              <a:buSzTx/>
              <a:buFont typeface="Wingdings" panose="05000000000000000000" pitchFamily="2" charset="2"/>
              <a:buChar char="n"/>
              <a:defRPr/>
            </a:pPr>
            <a:r>
              <a:rPr lang="zh-CN" altLang="en-US" sz="1200" b="1" dirty="0">
                <a:solidFill>
                  <a:schemeClr val="accent1"/>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恒隆会员体系：</a:t>
            </a:r>
            <a:r>
              <a:rPr lang="en-US" altLang="zh-CN" sz="1200" b="1" dirty="0">
                <a:solidFill>
                  <a:schemeClr val="accent1"/>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2024-2025</a:t>
            </a:r>
            <a:r>
              <a:rPr lang="zh-CN" altLang="en-US" sz="1200" b="1" dirty="0">
                <a:solidFill>
                  <a:schemeClr val="accent1"/>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年高端客群客户价值仍未恢复（人数恢复至</a:t>
            </a:r>
            <a:r>
              <a:rPr lang="en-US" altLang="zh-CN" sz="1200" b="1" dirty="0">
                <a:solidFill>
                  <a:schemeClr val="accent1"/>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23</a:t>
            </a:r>
            <a:r>
              <a:rPr lang="zh-CN" altLang="en-US" sz="1200" b="1" dirty="0">
                <a:solidFill>
                  <a:schemeClr val="accent1"/>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年，频次仍低），中低端会员人数大幅增加。</a:t>
            </a:r>
            <a:r>
              <a:rPr lang="en-US" altLang="zh-CN"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1）高端会员，绿宝（收入贡献近60%）24年单次消费金额-25%/频次-15%，25年频次未涨但客单价提升；蓝宝24年单次消费金额-12%/频次-15%/人数降级8-9%，25年频次未涨但客单价提升/人数+12%；2）中低端会员，24-25年人数大幅增加。</a:t>
            </a:r>
          </a:p>
          <a:p>
            <a:pPr marL="215900" lvl="0" indent="-215900" algn="just">
              <a:lnSpc>
                <a:spcPct val="130000"/>
              </a:lnSpc>
              <a:spcBef>
                <a:spcPts val="130"/>
              </a:spcBef>
              <a:spcAft>
                <a:spcPts val="130"/>
              </a:spcAft>
              <a:buClrTx/>
              <a:buSzTx/>
              <a:buFont typeface="Wingdings" panose="05000000000000000000" pitchFamily="2" charset="2"/>
              <a:buChar char="n"/>
              <a:defRPr/>
            </a:pPr>
            <a:r>
              <a:rPr lang="zh-CN" altLang="en-US" sz="1200" b="1" dirty="0">
                <a:solidFill>
                  <a:schemeClr val="accent1"/>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太古地产：25年估计会员销售额整体有所恢复（根据公司口径估算）。</a:t>
            </a:r>
          </a:p>
        </p:txBody>
      </p:sp>
      <p:sp>
        <p:nvSpPr>
          <p:cNvPr id="4" name="文本框 3"/>
          <p:cNvSpPr txBox="1"/>
          <p:nvPr/>
        </p:nvSpPr>
        <p:spPr>
          <a:xfrm>
            <a:off x="5392489" y="4922092"/>
            <a:ext cx="3207812" cy="21399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prstClr val="black"/>
                </a:solidFill>
                <a:effectLst/>
                <a:uLnTx/>
                <a:uFillTx/>
                <a:latin typeface="Arial" panose="020B0604020202090204" pitchFamily="34" charset="0"/>
                <a:ea typeface="楷体_GB2312" panose="02010609030101010101" pitchFamily="49" charset="-122"/>
                <a:cs typeface="Arial" panose="020B0604020202090204" pitchFamily="34" charset="0"/>
              </a:rPr>
              <a:t>数据来源：华润万象、恒隆专家</a:t>
            </a:r>
          </a:p>
        </p:txBody>
      </p:sp>
      <p:sp>
        <p:nvSpPr>
          <p:cNvPr id="13" name="矩形 12"/>
          <p:cNvSpPr/>
          <p:nvPr/>
        </p:nvSpPr>
        <p:spPr>
          <a:xfrm>
            <a:off x="1" y="808302"/>
            <a:ext cx="3146256" cy="45719"/>
          </a:xfrm>
          <a:prstGeom prst="rect">
            <a:avLst/>
          </a:prstGeom>
          <a:solidFill>
            <a:srgbClr val="403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sp>
        <p:nvSpPr>
          <p:cNvPr id="14" name="矩形 13"/>
          <p:cNvSpPr/>
          <p:nvPr/>
        </p:nvSpPr>
        <p:spPr>
          <a:xfrm flipV="1">
            <a:off x="2743201" y="4869590"/>
            <a:ext cx="6400800" cy="52501"/>
          </a:xfrm>
          <a:prstGeom prst="rect">
            <a:avLst/>
          </a:prstGeom>
          <a:solidFill>
            <a:srgbClr val="C5B1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3"/>
          <p:cNvSpPr txBox="1"/>
          <p:nvPr/>
        </p:nvSpPr>
        <p:spPr>
          <a:xfrm>
            <a:off x="365585" y="234660"/>
            <a:ext cx="4639945" cy="460375"/>
          </a:xfrm>
          <a:prstGeom prst="rect">
            <a:avLst/>
          </a:prstGeom>
          <a:noFill/>
        </p:spPr>
        <p:txBody>
          <a:bodyPr wrap="none" rtlCol="0">
            <a:spAutoFit/>
            <a:scene3d>
              <a:camera prst="orthographicFront"/>
              <a:lightRig rig="threePt" dir="t"/>
            </a:scene3d>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2400" b="1" noProof="0" dirty="0">
                <a:ln>
                  <a:noFill/>
                </a:ln>
                <a:solidFill>
                  <a:srgbClr val="4F81BD"/>
                </a:solidFill>
                <a:effectLst>
                  <a:outerShdw blurRad="38100" dist="25400" dir="5400000" algn="ctr" rotWithShape="0">
                    <a:srgbClr val="6E747A">
                      <a:alpha val="43000"/>
                    </a:srgbClr>
                  </a:outerShdw>
                </a:effectLst>
                <a:uLnTx/>
                <a:uFillTx/>
                <a:latin typeface="Arial" panose="020B0604020202090204" pitchFamily="34" charset="0"/>
                <a:ea typeface="楷体_GB2312" panose="02010609030101010101" pitchFamily="49" charset="-122"/>
                <a:cs typeface="Arial" panose="020B0604020202090204" pitchFamily="34" charset="0"/>
                <a:sym typeface="+mn-ea"/>
              </a:rPr>
              <a:t>2.2</a:t>
            </a:r>
            <a:r>
              <a:rPr kumimoji="1" lang="en-US" altLang="zh-CN" sz="2400" b="1" noProof="0" dirty="0">
                <a:ln>
                  <a:noFill/>
                </a:ln>
                <a:solidFill>
                  <a:srgbClr val="4F81BD"/>
                </a:solidFill>
                <a:effectLst>
                  <a:outerShdw blurRad="38100" dist="25400" dir="5400000" algn="ctr" rotWithShape="0">
                    <a:srgbClr val="6E747A">
                      <a:alpha val="43000"/>
                    </a:srgbClr>
                  </a:outerShdw>
                </a:effectLst>
                <a:uLnTx/>
                <a:uFillTx/>
                <a:latin typeface="楷体_GB2312" panose="02010609030101010101" pitchFamily="49" charset="-122"/>
                <a:ea typeface="楷体_GB2312" panose="02010609030101010101" pitchFamily="49" charset="-122"/>
                <a:cs typeface="微软雅黑" panose="020B0503020204020204" pitchFamily="34" charset="-122"/>
                <a:sym typeface="+mn-ea"/>
              </a:rPr>
              <a:t> </a:t>
            </a:r>
            <a:r>
              <a:rPr kumimoji="1" lang="zh-CN" altLang="en-US" sz="2400" b="1" noProof="0" dirty="0">
                <a:ln>
                  <a:noFill/>
                </a:ln>
                <a:solidFill>
                  <a:srgbClr val="4F81BD"/>
                </a:solidFill>
                <a:effectLst>
                  <a:outerShdw blurRad="38100" dist="25400" dir="5400000" algn="ctr" rotWithShape="0">
                    <a:srgbClr val="6E747A">
                      <a:alpha val="43000"/>
                    </a:srgbClr>
                  </a:outerShdw>
                </a:effectLst>
                <a:uLnTx/>
                <a:uFillTx/>
                <a:latin typeface="楷体_GB2312" panose="02010609030101010101" pitchFamily="49" charset="-122"/>
                <a:ea typeface="楷体_GB2312" panose="02010609030101010101" pitchFamily="49" charset="-122"/>
                <a:cs typeface="微软雅黑" panose="020B0503020204020204" pitchFamily="34" charset="-122"/>
                <a:sym typeface="+mn-ea"/>
              </a:rPr>
              <a:t>高端商场数据表现</a:t>
            </a:r>
            <a:r>
              <a:rPr kumimoji="1" lang="en-US" altLang="zh-CN" sz="2400" b="1" noProof="0" dirty="0">
                <a:ln>
                  <a:noFill/>
                </a:ln>
                <a:solidFill>
                  <a:srgbClr val="4F81BD"/>
                </a:solidFill>
                <a:effectLst>
                  <a:outerShdw blurRad="38100" dist="25400" dir="5400000" algn="ctr" rotWithShape="0">
                    <a:srgbClr val="6E747A">
                      <a:alpha val="43000"/>
                    </a:srgbClr>
                  </a:outerShdw>
                </a:effectLst>
                <a:uLnTx/>
                <a:uFillTx/>
                <a:latin typeface="楷体_GB2312" panose="02010609030101010101" pitchFamily="49" charset="-122"/>
                <a:ea typeface="楷体_GB2312" panose="02010609030101010101" pitchFamily="49" charset="-122"/>
                <a:cs typeface="微软雅黑" panose="020B0503020204020204" pitchFamily="34" charset="-122"/>
                <a:sym typeface="+mn-ea"/>
              </a:rPr>
              <a:t>-</a:t>
            </a:r>
            <a:r>
              <a:rPr kumimoji="1" lang="zh-CN" altLang="en-US" sz="2400" b="1" noProof="0" dirty="0">
                <a:ln>
                  <a:noFill/>
                </a:ln>
                <a:solidFill>
                  <a:srgbClr val="4F81BD"/>
                </a:solidFill>
                <a:effectLst>
                  <a:outerShdw blurRad="38100" dist="25400" dir="5400000" algn="ctr" rotWithShape="0">
                    <a:srgbClr val="6E747A">
                      <a:alpha val="43000"/>
                    </a:srgbClr>
                  </a:outerShdw>
                </a:effectLst>
                <a:uLnTx/>
                <a:uFillTx/>
                <a:latin typeface="楷体_GB2312" panose="02010609030101010101" pitchFamily="49" charset="-122"/>
                <a:ea typeface="楷体_GB2312" panose="02010609030101010101" pitchFamily="49" charset="-122"/>
                <a:cs typeface="微软雅黑" panose="020B0503020204020204" pitchFamily="34" charset="-122"/>
                <a:sym typeface="+mn-ea"/>
              </a:rPr>
              <a:t>万象强α</a:t>
            </a:r>
          </a:p>
        </p:txBody>
      </p:sp>
      <p:sp>
        <p:nvSpPr>
          <p:cNvPr id="9" name="矩形 23"/>
          <p:cNvSpPr/>
          <p:nvPr/>
        </p:nvSpPr>
        <p:spPr>
          <a:xfrm>
            <a:off x="365760" y="897255"/>
            <a:ext cx="8594725" cy="942340"/>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noAutofit/>
            <a:scene3d>
              <a:camera prst="orthographicFront"/>
              <a:lightRig rig="threePt" dir="t"/>
            </a:scene3d>
          </a:bodyPr>
          <a:lstStyle/>
          <a:p>
            <a:pPr marL="215900" marR="0" lvl="0" indent="-215900" algn="just" defTabSz="457200" rtl="0" eaLnBrk="1" fontAlgn="auto" latinLnBrk="0" hangingPunct="1">
              <a:lnSpc>
                <a:spcPct val="150000"/>
              </a:lnSpc>
              <a:spcBef>
                <a:spcPts val="130"/>
              </a:spcBef>
              <a:spcAft>
                <a:spcPts val="130"/>
              </a:spcAft>
              <a:buClrTx/>
              <a:buSzTx/>
              <a:buFont typeface="Wingdings" panose="05000000000000000000" pitchFamily="2" charset="2"/>
              <a:buChar char="n"/>
              <a:defRPr/>
            </a:pPr>
            <a:r>
              <a:rPr kumimoji="0" lang="zh-CN" altLang="en-US" sz="1200" b="1" i="0" u="none" strike="noStrike" kern="1200" cap="none" spc="0" normalizeH="0" baseline="0" noProof="0" dirty="0">
                <a:ln>
                  <a:noFill/>
                </a:ln>
                <a:solidFill>
                  <a:srgbClr val="4F81BD"/>
                </a:solidFill>
                <a:effectLst>
                  <a:outerShdw blurRad="38100" dist="25400" dir="5400000" algn="ctr" rotWithShape="0">
                    <a:srgbClr val="6E747A">
                      <a:alpha val="43000"/>
                    </a:srgbClr>
                  </a:outerShdw>
                </a:effectLst>
                <a:uLnTx/>
                <a:uFillTx/>
                <a:latin typeface="楷体_GB2312" panose="02010609030101010101" pitchFamily="49" charset="-122"/>
                <a:ea typeface="楷体_GB2312" panose="02010609030101010101" pitchFamily="49" charset="-122"/>
                <a:cs typeface="+mn-cs"/>
              </a:rPr>
              <a:t>华润万象体系零售跟踪：</a:t>
            </a:r>
            <a:r>
              <a:rPr lang="zh-CN" altLang="en-US" sz="1200" b="1" dirty="0">
                <a:solidFill>
                  <a:srgbClr val="4F81BD"/>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rPr>
              <a:t>量增价微降，</a:t>
            </a:r>
            <a:r>
              <a:rPr kumimoji="0" lang="zh-CN" altLang="en-US" sz="1200" b="1" i="0" u="none" strike="noStrike" kern="1200" cap="none" spc="0" normalizeH="0" baseline="0" noProof="0" dirty="0">
                <a:ln>
                  <a:noFill/>
                </a:ln>
                <a:solidFill>
                  <a:srgbClr val="4F81BD"/>
                </a:solidFill>
                <a:effectLst>
                  <a:outerShdw blurRad="38100" dist="25400" dir="5400000" algn="ctr" rotWithShape="0">
                    <a:srgbClr val="6E747A">
                      <a:alpha val="43000"/>
                    </a:srgbClr>
                  </a:outerShdw>
                </a:effectLst>
                <a:uLnTx/>
                <a:uFillTx/>
                <a:latin typeface="楷体_GB2312" panose="02010609030101010101" pitchFamily="49" charset="-122"/>
                <a:ea typeface="楷体_GB2312" panose="02010609030101010101" pitchFamily="49" charset="-122"/>
                <a:cs typeface="+mn-cs"/>
              </a:rPr>
              <a:t>客流大幅改善，客单同比转负，线下零售维持正增长。</a:t>
            </a:r>
            <a:r>
              <a:rPr kumimoji="0" lang="zh-CN" altLang="en-US" sz="1200" b="0" i="0" u="none" strike="noStrike" kern="1200" cap="none" spc="0" normalizeH="0" baseline="0" noProof="0" dirty="0">
                <a:ln>
                  <a:noFill/>
                </a:ln>
                <a:solidFill>
                  <a:prstClr val="white">
                    <a:lumMod val="50000"/>
                  </a:prstClr>
                </a:solidFill>
                <a:effectLst>
                  <a:outerShdw blurRad="38100" dist="25400" dir="5400000" algn="ctr" rotWithShape="0">
                    <a:srgbClr val="6E747A">
                      <a:alpha val="43000"/>
                    </a:srgbClr>
                  </a:outerShdw>
                </a:effectLst>
                <a:uLnTx/>
                <a:uFillTx/>
                <a:latin typeface="楷体_GB2312" panose="02010609030101010101" pitchFamily="49" charset="-122"/>
                <a:ea typeface="楷体_GB2312" panose="02010609030101010101" pitchFamily="49" charset="-122"/>
                <a:cs typeface="+mn-cs"/>
              </a:rPr>
              <a:t>华润万象体系零售额呈现持续增长趋势，</a:t>
            </a:r>
            <a:r>
              <a:rPr kumimoji="0" lang="en-US" altLang="zh-CN" sz="1200" b="0" i="0" u="none" strike="noStrike" kern="1200" cap="none" spc="0" normalizeH="0" baseline="0" noProof="0" dirty="0">
                <a:ln>
                  <a:noFill/>
                </a:ln>
                <a:solidFill>
                  <a:prstClr val="white">
                    <a:lumMod val="50000"/>
                  </a:prstClr>
                </a:solidFill>
                <a:effectLst>
                  <a:outerShdw blurRad="38100" dist="25400" dir="5400000" algn="ctr" rotWithShape="0">
                    <a:srgbClr val="6E747A">
                      <a:alpha val="43000"/>
                    </a:srgbClr>
                  </a:outerShdw>
                </a:effectLst>
                <a:uLnTx/>
                <a:uFillTx/>
                <a:latin typeface="楷体_GB2312" panose="02010609030101010101" pitchFamily="49" charset="-122"/>
                <a:ea typeface="楷体_GB2312" panose="02010609030101010101" pitchFamily="49" charset="-122"/>
                <a:cs typeface="+mn-cs"/>
              </a:rPr>
              <a:t>2025</a:t>
            </a:r>
            <a:r>
              <a:rPr kumimoji="0" lang="zh-CN" altLang="en-US" sz="1200" b="0" i="0" u="none" strike="noStrike" kern="1200" cap="none" spc="0" normalizeH="0" baseline="0" noProof="0" dirty="0">
                <a:ln>
                  <a:noFill/>
                </a:ln>
                <a:solidFill>
                  <a:prstClr val="white">
                    <a:lumMod val="50000"/>
                  </a:prstClr>
                </a:solidFill>
                <a:effectLst>
                  <a:outerShdw blurRad="38100" dist="25400" dir="5400000" algn="ctr" rotWithShape="0">
                    <a:srgbClr val="6E747A">
                      <a:alpha val="43000"/>
                    </a:srgbClr>
                  </a:outerShdw>
                </a:effectLst>
                <a:uLnTx/>
                <a:uFillTx/>
                <a:latin typeface="楷体_GB2312" panose="02010609030101010101" pitchFamily="49" charset="-122"/>
                <a:ea typeface="楷体_GB2312" panose="02010609030101010101" pitchFamily="49" charset="-122"/>
                <a:cs typeface="+mn-cs"/>
              </a:rPr>
              <a:t>年</a:t>
            </a:r>
            <a:r>
              <a:rPr kumimoji="0" lang="en-US" altLang="zh-CN" sz="1200" b="0" i="0" u="none" strike="noStrike" kern="1200" cap="none" spc="0" normalizeH="0" baseline="0" noProof="0" dirty="0">
                <a:ln>
                  <a:noFill/>
                </a:ln>
                <a:solidFill>
                  <a:prstClr val="white">
                    <a:lumMod val="50000"/>
                  </a:prstClr>
                </a:solidFill>
                <a:effectLst>
                  <a:outerShdw blurRad="38100" dist="25400" dir="5400000" algn="ctr" rotWithShape="0">
                    <a:srgbClr val="6E747A">
                      <a:alpha val="43000"/>
                    </a:srgbClr>
                  </a:outerShdw>
                </a:effectLst>
                <a:uLnTx/>
                <a:uFillTx/>
                <a:latin typeface="楷体_GB2312" panose="02010609030101010101" pitchFamily="49" charset="-122"/>
                <a:ea typeface="楷体_GB2312" panose="02010609030101010101" pitchFamily="49" charset="-122"/>
                <a:cs typeface="+mn-cs"/>
              </a:rPr>
              <a:t>10</a:t>
            </a:r>
            <a:r>
              <a:rPr kumimoji="0" lang="zh-CN" altLang="en-US" sz="1200" b="0" i="0" u="none" strike="noStrike" kern="1200" cap="none" spc="0" normalizeH="0" baseline="0" noProof="0" dirty="0">
                <a:ln>
                  <a:noFill/>
                </a:ln>
                <a:solidFill>
                  <a:prstClr val="white">
                    <a:lumMod val="50000"/>
                  </a:prstClr>
                </a:solidFill>
                <a:effectLst>
                  <a:outerShdw blurRad="38100" dist="25400" dir="5400000" algn="ctr" rotWithShape="0">
                    <a:srgbClr val="6E747A">
                      <a:alpha val="43000"/>
                    </a:srgbClr>
                  </a:outerShdw>
                </a:effectLst>
                <a:uLnTx/>
                <a:uFillTx/>
                <a:latin typeface="楷体_GB2312" panose="02010609030101010101" pitchFamily="49" charset="-122"/>
                <a:ea typeface="楷体_GB2312" panose="02010609030101010101" pitchFamily="49" charset="-122"/>
                <a:cs typeface="+mn-cs"/>
              </a:rPr>
              <a:t>月可比项目零售额同比增长</a:t>
            </a:r>
            <a:r>
              <a:rPr kumimoji="0" lang="en-US" altLang="zh-CN" sz="1200" b="0" i="0" u="none" strike="noStrike" kern="1200" cap="none" spc="0" normalizeH="0" baseline="0" noProof="0" dirty="0">
                <a:ln>
                  <a:noFill/>
                </a:ln>
                <a:solidFill>
                  <a:prstClr val="white">
                    <a:lumMod val="50000"/>
                  </a:prstClr>
                </a:solidFill>
                <a:effectLst>
                  <a:outerShdw blurRad="38100" dist="25400" dir="5400000" algn="ctr" rotWithShape="0">
                    <a:srgbClr val="6E747A">
                      <a:alpha val="43000"/>
                    </a:srgbClr>
                  </a:outerShdw>
                </a:effectLst>
                <a:uLnTx/>
                <a:uFillTx/>
                <a:latin typeface="楷体_GB2312" panose="02010609030101010101" pitchFamily="49" charset="-122"/>
                <a:ea typeface="楷体_GB2312" panose="02010609030101010101" pitchFamily="49" charset="-122"/>
                <a:cs typeface="+mn-cs"/>
              </a:rPr>
              <a:t>10.7%</a:t>
            </a:r>
            <a:r>
              <a:rPr kumimoji="0" lang="zh-CN" altLang="en-US" sz="1200" b="0" i="0" u="none" strike="noStrike" kern="1200" cap="none" spc="0" normalizeH="0" baseline="0" noProof="0" dirty="0">
                <a:ln>
                  <a:noFill/>
                </a:ln>
                <a:solidFill>
                  <a:prstClr val="white">
                    <a:lumMod val="50000"/>
                  </a:prstClr>
                </a:solidFill>
                <a:effectLst>
                  <a:outerShdw blurRad="38100" dist="25400" dir="5400000" algn="ctr" rotWithShape="0">
                    <a:srgbClr val="6E747A">
                      <a:alpha val="43000"/>
                    </a:srgbClr>
                  </a:outerShdw>
                </a:effectLst>
                <a:uLnTx/>
                <a:uFillTx/>
                <a:latin typeface="楷体_GB2312" panose="02010609030101010101" pitchFamily="49" charset="-122"/>
                <a:ea typeface="楷体_GB2312" panose="02010609030101010101" pitchFamily="49" charset="-122"/>
                <a:cs typeface="+mn-cs"/>
              </a:rPr>
              <a:t>，连续</a:t>
            </a:r>
            <a:r>
              <a:rPr kumimoji="0" lang="en-US" altLang="zh-CN" sz="1200" b="0" i="0" u="none" strike="noStrike" kern="1200" cap="none" spc="0" normalizeH="0" baseline="0" noProof="0" dirty="0">
                <a:ln>
                  <a:noFill/>
                </a:ln>
                <a:solidFill>
                  <a:prstClr val="white">
                    <a:lumMod val="50000"/>
                  </a:prstClr>
                </a:solidFill>
                <a:effectLst>
                  <a:outerShdw blurRad="38100" dist="25400" dir="5400000" algn="ctr" rotWithShape="0">
                    <a:srgbClr val="6E747A">
                      <a:alpha val="43000"/>
                    </a:srgbClr>
                  </a:outerShdw>
                </a:effectLst>
                <a:uLnTx/>
                <a:uFillTx/>
                <a:latin typeface="楷体_GB2312" panose="02010609030101010101" pitchFamily="49" charset="-122"/>
                <a:ea typeface="楷体_GB2312" panose="02010609030101010101" pitchFamily="49" charset="-122"/>
                <a:cs typeface="+mn-cs"/>
              </a:rPr>
              <a:t>8</a:t>
            </a:r>
            <a:r>
              <a:rPr kumimoji="0" lang="zh-CN" altLang="en-US" sz="1200" b="0" i="0" u="none" strike="noStrike" kern="1200" cap="none" spc="0" normalizeH="0" baseline="0" noProof="0" dirty="0">
                <a:ln>
                  <a:noFill/>
                </a:ln>
                <a:solidFill>
                  <a:prstClr val="white">
                    <a:lumMod val="50000"/>
                  </a:prstClr>
                </a:solidFill>
                <a:effectLst>
                  <a:outerShdw blurRad="38100" dist="25400" dir="5400000" algn="ctr" rotWithShape="0">
                    <a:srgbClr val="6E747A">
                      <a:alpha val="43000"/>
                    </a:srgbClr>
                  </a:outerShdw>
                </a:effectLst>
                <a:uLnTx/>
                <a:uFillTx/>
                <a:latin typeface="楷体_GB2312" panose="02010609030101010101" pitchFamily="49" charset="-122"/>
                <a:ea typeface="楷体_GB2312" panose="02010609030101010101" pitchFamily="49" charset="-122"/>
                <a:cs typeface="+mn-cs"/>
              </a:rPr>
              <a:t>个月维持增长趋势，</a:t>
            </a:r>
            <a:r>
              <a:rPr kumimoji="0" lang="en-US" altLang="zh-CN" sz="1200" b="0" i="0" u="none" strike="noStrike" kern="1200" cap="none" spc="0" normalizeH="0" baseline="0" noProof="0" dirty="0">
                <a:ln>
                  <a:noFill/>
                </a:ln>
                <a:solidFill>
                  <a:prstClr val="white">
                    <a:lumMod val="50000"/>
                  </a:prstClr>
                </a:solidFill>
                <a:effectLst>
                  <a:outerShdw blurRad="38100" dist="25400" dir="5400000" algn="ctr" rotWithShape="0">
                    <a:srgbClr val="6E747A">
                      <a:alpha val="43000"/>
                    </a:srgbClr>
                  </a:outerShdw>
                </a:effectLst>
                <a:uLnTx/>
                <a:uFillTx/>
                <a:latin typeface="楷体_GB2312" panose="02010609030101010101" pitchFamily="49" charset="-122"/>
                <a:ea typeface="楷体_GB2312" panose="02010609030101010101" pitchFamily="49" charset="-122"/>
                <a:cs typeface="+mn-cs"/>
              </a:rPr>
              <a:t>1-10</a:t>
            </a:r>
            <a:r>
              <a:rPr kumimoji="0" lang="zh-CN" altLang="en-US" sz="1200" b="0" i="0" u="none" strike="noStrike" kern="1200" cap="none" spc="0" normalizeH="0" baseline="0" noProof="0" dirty="0">
                <a:ln>
                  <a:noFill/>
                </a:ln>
                <a:solidFill>
                  <a:prstClr val="white">
                    <a:lumMod val="50000"/>
                  </a:prstClr>
                </a:solidFill>
                <a:effectLst>
                  <a:outerShdw blurRad="38100" dist="25400" dir="5400000" algn="ctr" rotWithShape="0">
                    <a:srgbClr val="6E747A">
                      <a:alpha val="43000"/>
                    </a:srgbClr>
                  </a:outerShdw>
                </a:effectLst>
                <a:uLnTx/>
                <a:uFillTx/>
                <a:latin typeface="楷体_GB2312" panose="02010609030101010101" pitchFamily="49" charset="-122"/>
                <a:ea typeface="楷体_GB2312" panose="02010609030101010101" pitchFamily="49" charset="-122"/>
                <a:cs typeface="+mn-cs"/>
              </a:rPr>
              <a:t>月平均零售额增速达</a:t>
            </a:r>
            <a:r>
              <a:rPr kumimoji="0" lang="en-US" altLang="zh-CN" sz="1200" b="0" i="0" u="none" strike="noStrike" kern="1200" cap="none" spc="0" normalizeH="0" baseline="0" noProof="0" dirty="0">
                <a:ln>
                  <a:noFill/>
                </a:ln>
                <a:solidFill>
                  <a:prstClr val="white">
                    <a:lumMod val="50000"/>
                  </a:prstClr>
                </a:solidFill>
                <a:effectLst>
                  <a:outerShdw blurRad="38100" dist="25400" dir="5400000" algn="ctr" rotWithShape="0">
                    <a:srgbClr val="6E747A">
                      <a:alpha val="43000"/>
                    </a:srgbClr>
                  </a:outerShdw>
                </a:effectLst>
                <a:uLnTx/>
                <a:uFillTx/>
                <a:latin typeface="楷体_GB2312" panose="02010609030101010101" pitchFamily="49" charset="-122"/>
                <a:ea typeface="楷体_GB2312" panose="02010609030101010101" pitchFamily="49" charset="-122"/>
                <a:cs typeface="+mn-cs"/>
              </a:rPr>
              <a:t>7.83%</a:t>
            </a:r>
            <a:r>
              <a:rPr kumimoji="0" lang="zh-CN" altLang="en-US" sz="1200" b="0" i="0" u="none" strike="noStrike" kern="1200" cap="none" spc="0" normalizeH="0" baseline="0" noProof="0" dirty="0">
                <a:ln>
                  <a:noFill/>
                </a:ln>
                <a:solidFill>
                  <a:prstClr val="white">
                    <a:lumMod val="50000"/>
                  </a:prstClr>
                </a:solidFill>
                <a:effectLst>
                  <a:outerShdw blurRad="38100" dist="25400" dir="5400000" algn="ctr" rotWithShape="0">
                    <a:srgbClr val="6E747A">
                      <a:alpha val="43000"/>
                    </a:srgbClr>
                  </a:outerShdw>
                </a:effectLst>
                <a:uLnTx/>
                <a:uFillTx/>
                <a:latin typeface="楷体_GB2312" panose="02010609030101010101" pitchFamily="49" charset="-122"/>
                <a:ea typeface="楷体_GB2312" panose="02010609030101010101" pitchFamily="49" charset="-122"/>
                <a:cs typeface="+mn-cs"/>
              </a:rPr>
              <a:t>；</a:t>
            </a:r>
            <a:r>
              <a:rPr lang="en-US" altLang="zh-CN" sz="1200" dirty="0">
                <a:solidFill>
                  <a:prstClr val="white">
                    <a:lumMod val="50000"/>
                  </a:prst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rPr>
              <a:t>10</a:t>
            </a:r>
            <a:r>
              <a:rPr kumimoji="0" lang="zh-CN" altLang="en-US" sz="1200" b="0" i="0" u="none" strike="noStrike" kern="1200" cap="none" spc="0" normalizeH="0" baseline="0" noProof="0" dirty="0">
                <a:ln>
                  <a:noFill/>
                </a:ln>
                <a:solidFill>
                  <a:prstClr val="white">
                    <a:lumMod val="50000"/>
                  </a:prstClr>
                </a:solidFill>
                <a:effectLst>
                  <a:outerShdw blurRad="38100" dist="25400" dir="5400000" algn="ctr" rotWithShape="0">
                    <a:srgbClr val="6E747A">
                      <a:alpha val="43000"/>
                    </a:srgbClr>
                  </a:outerShdw>
                </a:effectLst>
                <a:uLnTx/>
                <a:uFillTx/>
                <a:latin typeface="楷体_GB2312" panose="02010609030101010101" pitchFamily="49" charset="-122"/>
                <a:ea typeface="楷体_GB2312" panose="02010609030101010101" pitchFamily="49" charset="-122"/>
                <a:cs typeface="+mn-cs"/>
              </a:rPr>
              <a:t>月可比客流</a:t>
            </a:r>
            <a:r>
              <a:rPr kumimoji="0" lang="en-US" altLang="zh-CN" sz="1200" b="0" i="0" u="none" strike="noStrike" kern="1200" cap="none" spc="0" normalizeH="0" baseline="0" noProof="0" dirty="0" err="1">
                <a:ln>
                  <a:noFill/>
                </a:ln>
                <a:solidFill>
                  <a:prstClr val="white">
                    <a:lumMod val="50000"/>
                  </a:prstClr>
                </a:solidFill>
                <a:effectLst>
                  <a:outerShdw blurRad="38100" dist="25400" dir="5400000" algn="ctr" rotWithShape="0">
                    <a:srgbClr val="6E747A">
                      <a:alpha val="43000"/>
                    </a:srgbClr>
                  </a:outerShdw>
                </a:effectLst>
                <a:uLnTx/>
                <a:uFillTx/>
                <a:latin typeface="楷体_GB2312" panose="02010609030101010101" pitchFamily="49" charset="-122"/>
                <a:ea typeface="楷体_GB2312" panose="02010609030101010101" pitchFamily="49" charset="-122"/>
                <a:cs typeface="+mn-cs"/>
              </a:rPr>
              <a:t>yoy</a:t>
            </a:r>
            <a:r>
              <a:rPr kumimoji="0" lang="en-US" altLang="zh-CN" sz="1200" b="0" i="0" u="none" strike="noStrike" kern="1200" cap="none" spc="0" normalizeH="0" baseline="0" noProof="0" dirty="0">
                <a:ln>
                  <a:noFill/>
                </a:ln>
                <a:solidFill>
                  <a:prstClr val="white">
                    <a:lumMod val="50000"/>
                  </a:prstClr>
                </a:solidFill>
                <a:effectLst>
                  <a:outerShdw blurRad="38100" dist="25400" dir="5400000" algn="ctr" rotWithShape="0">
                    <a:srgbClr val="6E747A">
                      <a:alpha val="43000"/>
                    </a:srgbClr>
                  </a:outerShdw>
                </a:effectLst>
                <a:uLnTx/>
                <a:uFillTx/>
                <a:latin typeface="楷体_GB2312" panose="02010609030101010101" pitchFamily="49" charset="-122"/>
                <a:ea typeface="楷体_GB2312" panose="02010609030101010101" pitchFamily="49" charset="-122"/>
                <a:cs typeface="+mn-cs"/>
              </a:rPr>
              <a:t>+</a:t>
            </a:r>
            <a:r>
              <a:rPr lang="en-US" altLang="zh-CN" sz="1200" dirty="0">
                <a:solidFill>
                  <a:prstClr val="white">
                    <a:lumMod val="50000"/>
                  </a:prst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rPr>
              <a:t>11.3</a:t>
            </a:r>
            <a:r>
              <a:rPr kumimoji="0" lang="en-US" altLang="zh-CN" sz="1200" b="0" i="0" u="none" strike="noStrike" kern="1200" cap="none" spc="0" normalizeH="0" baseline="0" noProof="0" dirty="0">
                <a:ln>
                  <a:noFill/>
                </a:ln>
                <a:solidFill>
                  <a:prstClr val="white">
                    <a:lumMod val="50000"/>
                  </a:prstClr>
                </a:solidFill>
                <a:effectLst>
                  <a:outerShdw blurRad="38100" dist="25400" dir="5400000" algn="ctr" rotWithShape="0">
                    <a:srgbClr val="6E747A">
                      <a:alpha val="43000"/>
                    </a:srgbClr>
                  </a:outerShdw>
                </a:effectLst>
                <a:uLnTx/>
                <a:uFillTx/>
                <a:latin typeface="楷体_GB2312" panose="02010609030101010101" pitchFamily="49" charset="-122"/>
                <a:ea typeface="楷体_GB2312" panose="02010609030101010101" pitchFamily="49" charset="-122"/>
                <a:cs typeface="+mn-cs"/>
              </a:rPr>
              <a:t>%</a:t>
            </a:r>
            <a:r>
              <a:rPr kumimoji="0" lang="zh-CN" altLang="en-US" sz="1200" b="0" i="0" u="none" strike="noStrike" kern="1200" cap="none" spc="0" normalizeH="0" baseline="0" noProof="0" dirty="0">
                <a:ln>
                  <a:noFill/>
                </a:ln>
                <a:solidFill>
                  <a:prstClr val="white">
                    <a:lumMod val="50000"/>
                  </a:prstClr>
                </a:solidFill>
                <a:effectLst>
                  <a:outerShdw blurRad="38100" dist="25400" dir="5400000" algn="ctr" rotWithShape="0">
                    <a:srgbClr val="6E747A">
                      <a:alpha val="43000"/>
                    </a:srgbClr>
                  </a:outerShdw>
                </a:effectLst>
                <a:uLnTx/>
                <a:uFillTx/>
                <a:latin typeface="楷体_GB2312" panose="02010609030101010101" pitchFamily="49" charset="-122"/>
                <a:ea typeface="楷体_GB2312" panose="02010609030101010101" pitchFamily="49" charset="-122"/>
                <a:cs typeface="+mn-cs"/>
              </a:rPr>
              <a:t>，</a:t>
            </a:r>
            <a:r>
              <a:rPr kumimoji="0" lang="en-US" altLang="zh-CN" sz="1200" b="0" i="0" u="none" strike="noStrike" kern="1200" cap="none" spc="0" normalizeH="0" baseline="0" noProof="0" dirty="0">
                <a:ln>
                  <a:noFill/>
                </a:ln>
                <a:solidFill>
                  <a:prstClr val="white">
                    <a:lumMod val="50000"/>
                  </a:prstClr>
                </a:solidFill>
                <a:effectLst>
                  <a:outerShdw blurRad="38100" dist="25400" dir="5400000" algn="ctr" rotWithShape="0">
                    <a:srgbClr val="6E747A">
                      <a:alpha val="43000"/>
                    </a:srgbClr>
                  </a:outerShdw>
                </a:effectLst>
                <a:uLnTx/>
                <a:uFillTx/>
                <a:latin typeface="楷体_GB2312" panose="02010609030101010101" pitchFamily="49" charset="-122"/>
                <a:ea typeface="楷体_GB2312" panose="02010609030101010101" pitchFamily="49" charset="-122"/>
                <a:cs typeface="+mn-cs"/>
              </a:rPr>
              <a:t>1-10</a:t>
            </a:r>
            <a:r>
              <a:rPr kumimoji="0" lang="zh-CN" altLang="en-US" sz="1200" b="0" i="0" u="none" strike="noStrike" kern="1200" cap="none" spc="0" normalizeH="0" baseline="0" noProof="0" dirty="0">
                <a:ln>
                  <a:noFill/>
                </a:ln>
                <a:solidFill>
                  <a:prstClr val="white">
                    <a:lumMod val="50000"/>
                  </a:prstClr>
                </a:solidFill>
                <a:effectLst>
                  <a:outerShdw blurRad="38100" dist="25400" dir="5400000" algn="ctr" rotWithShape="0">
                    <a:srgbClr val="6E747A">
                      <a:alpha val="43000"/>
                    </a:srgbClr>
                  </a:outerShdw>
                </a:effectLst>
                <a:uLnTx/>
                <a:uFillTx/>
                <a:latin typeface="楷体_GB2312" panose="02010609030101010101" pitchFamily="49" charset="-122"/>
                <a:ea typeface="楷体_GB2312" panose="02010609030101010101" pitchFamily="49" charset="-122"/>
                <a:cs typeface="+mn-cs"/>
              </a:rPr>
              <a:t>月平均客流增速达</a:t>
            </a:r>
            <a:r>
              <a:rPr kumimoji="0" lang="en-US" altLang="zh-CN" sz="1200" b="0" i="0" u="none" strike="noStrike" kern="1200" cap="none" spc="0" normalizeH="0" baseline="0" noProof="0" dirty="0">
                <a:ln>
                  <a:noFill/>
                </a:ln>
                <a:solidFill>
                  <a:prstClr val="white">
                    <a:lumMod val="50000"/>
                  </a:prstClr>
                </a:solidFill>
                <a:effectLst>
                  <a:outerShdw blurRad="38100" dist="25400" dir="5400000" algn="ctr" rotWithShape="0">
                    <a:srgbClr val="6E747A">
                      <a:alpha val="43000"/>
                    </a:srgbClr>
                  </a:outerShdw>
                </a:effectLst>
                <a:uLnTx/>
                <a:uFillTx/>
                <a:latin typeface="楷体_GB2312" panose="02010609030101010101" pitchFamily="49" charset="-122"/>
                <a:ea typeface="楷体_GB2312" panose="02010609030101010101" pitchFamily="49" charset="-122"/>
                <a:cs typeface="+mn-cs"/>
              </a:rPr>
              <a:t>6.78%</a:t>
            </a:r>
            <a:r>
              <a:rPr kumimoji="0" lang="zh-CN" altLang="en-US" sz="1200" b="0" i="0" u="none" strike="noStrike" kern="1200" cap="none" spc="0" normalizeH="0" baseline="0" noProof="0" dirty="0">
                <a:ln>
                  <a:noFill/>
                </a:ln>
                <a:solidFill>
                  <a:prstClr val="white">
                    <a:lumMod val="50000"/>
                  </a:prstClr>
                </a:solidFill>
                <a:effectLst>
                  <a:outerShdw blurRad="38100" dist="25400" dir="5400000" algn="ctr" rotWithShape="0">
                    <a:srgbClr val="6E747A">
                      <a:alpha val="43000"/>
                    </a:srgbClr>
                  </a:outerShdw>
                </a:effectLst>
                <a:uLnTx/>
                <a:uFillTx/>
                <a:latin typeface="楷体_GB2312" panose="02010609030101010101" pitchFamily="49" charset="-122"/>
                <a:ea typeface="楷体_GB2312" panose="02010609030101010101" pitchFamily="49" charset="-122"/>
                <a:cs typeface="+mn-cs"/>
              </a:rPr>
              <a:t>；客单价</a:t>
            </a:r>
            <a:r>
              <a:rPr kumimoji="0" lang="en-US" altLang="zh-CN" sz="1200" b="0" i="0" u="none" strike="noStrike" kern="1200" cap="none" spc="0" normalizeH="0" baseline="0" noProof="0" dirty="0">
                <a:ln>
                  <a:noFill/>
                </a:ln>
                <a:solidFill>
                  <a:prstClr val="white">
                    <a:lumMod val="50000"/>
                  </a:prstClr>
                </a:solidFill>
                <a:effectLst>
                  <a:outerShdw blurRad="38100" dist="25400" dir="5400000" algn="ctr" rotWithShape="0">
                    <a:srgbClr val="6E747A">
                      <a:alpha val="43000"/>
                    </a:srgbClr>
                  </a:outerShdw>
                </a:effectLst>
                <a:uLnTx/>
                <a:uFillTx/>
                <a:latin typeface="楷体_GB2312" panose="02010609030101010101" pitchFamily="49" charset="-122"/>
                <a:ea typeface="楷体_GB2312" panose="02010609030101010101" pitchFamily="49" charset="-122"/>
                <a:cs typeface="+mn-cs"/>
              </a:rPr>
              <a:t>10</a:t>
            </a:r>
            <a:r>
              <a:rPr kumimoji="0" lang="zh-CN" altLang="en-US" sz="1200" b="0" i="0" u="none" strike="noStrike" kern="1200" cap="none" spc="0" normalizeH="0" baseline="0" noProof="0" dirty="0">
                <a:ln>
                  <a:noFill/>
                </a:ln>
                <a:solidFill>
                  <a:prstClr val="white">
                    <a:lumMod val="50000"/>
                  </a:prstClr>
                </a:solidFill>
                <a:effectLst>
                  <a:outerShdw blurRad="38100" dist="25400" dir="5400000" algn="ctr" rotWithShape="0">
                    <a:srgbClr val="6E747A">
                      <a:alpha val="43000"/>
                    </a:srgbClr>
                  </a:outerShdw>
                </a:effectLst>
                <a:uLnTx/>
                <a:uFillTx/>
                <a:latin typeface="楷体_GB2312" panose="02010609030101010101" pitchFamily="49" charset="-122"/>
                <a:ea typeface="楷体_GB2312" panose="02010609030101010101" pitchFamily="49" charset="-122"/>
                <a:cs typeface="+mn-cs"/>
              </a:rPr>
              <a:t>月同比下滑</a:t>
            </a:r>
            <a:r>
              <a:rPr kumimoji="0" lang="en-US" altLang="zh-CN" sz="1200" b="0" i="0" u="none" strike="noStrike" kern="1200" cap="none" spc="0" normalizeH="0" baseline="0" noProof="0" dirty="0">
                <a:ln>
                  <a:noFill/>
                </a:ln>
                <a:solidFill>
                  <a:prstClr val="white">
                    <a:lumMod val="50000"/>
                  </a:prstClr>
                </a:solidFill>
                <a:effectLst>
                  <a:outerShdw blurRad="38100" dist="25400" dir="5400000" algn="ctr" rotWithShape="0">
                    <a:srgbClr val="6E747A">
                      <a:alpha val="43000"/>
                    </a:srgbClr>
                  </a:outerShdw>
                </a:effectLst>
                <a:uLnTx/>
                <a:uFillTx/>
                <a:latin typeface="楷体_GB2312" panose="02010609030101010101" pitchFamily="49" charset="-122"/>
                <a:ea typeface="楷体_GB2312" panose="02010609030101010101" pitchFamily="49" charset="-122"/>
                <a:cs typeface="+mn-cs"/>
              </a:rPr>
              <a:t>0.5%</a:t>
            </a:r>
            <a:r>
              <a:rPr kumimoji="0" lang="zh-CN" altLang="en-US" sz="1200" b="0" i="0" u="none" strike="noStrike" kern="1200" cap="none" spc="0" normalizeH="0" baseline="0" noProof="0" dirty="0">
                <a:ln>
                  <a:noFill/>
                </a:ln>
                <a:solidFill>
                  <a:prstClr val="white">
                    <a:lumMod val="50000"/>
                  </a:prstClr>
                </a:solidFill>
                <a:effectLst>
                  <a:outerShdw blurRad="38100" dist="25400" dir="5400000" algn="ctr" rotWithShape="0">
                    <a:srgbClr val="6E747A">
                      <a:alpha val="43000"/>
                    </a:srgbClr>
                  </a:outerShdw>
                </a:effectLst>
                <a:uLnTx/>
                <a:uFillTx/>
                <a:latin typeface="楷体_GB2312" panose="02010609030101010101" pitchFamily="49" charset="-122"/>
                <a:ea typeface="楷体_GB2312" panose="02010609030101010101" pitchFamily="49" charset="-122"/>
                <a:cs typeface="+mn-cs"/>
              </a:rPr>
              <a:t>，环比转负。</a:t>
            </a:r>
            <a:r>
              <a:rPr lang="zh-CN" altLang="en-US" sz="1200" b="1" noProof="0" dirty="0">
                <a:ln>
                  <a:noFill/>
                </a:ln>
                <a:solidFill>
                  <a:prstClr val="white">
                    <a:lumMod val="50000"/>
                  </a:prstClr>
                </a:solidFill>
                <a:effectLst>
                  <a:outerShdw blurRad="38100" dist="25400" dir="5400000" algn="ctr" rotWithShape="0">
                    <a:srgbClr val="6E747A">
                      <a:alpha val="43000"/>
                    </a:srgbClr>
                  </a:outerShdw>
                </a:effectLst>
                <a:uLnTx/>
                <a:uFillTx/>
                <a:latin typeface="楷体_GB2312" panose="02010609030101010101" pitchFamily="49" charset="-122"/>
                <a:ea typeface="楷体_GB2312" panose="02010609030101010101" pitchFamily="49" charset="-122"/>
                <a:sym typeface="+mn-ea"/>
              </a:rPr>
              <a:t>奢侈品品类</a:t>
            </a:r>
            <a:r>
              <a:rPr lang="zh-CN" altLang="en-US" sz="1200" noProof="0" dirty="0">
                <a:ln>
                  <a:noFill/>
                </a:ln>
                <a:solidFill>
                  <a:prstClr val="white">
                    <a:lumMod val="50000"/>
                  </a:prstClr>
                </a:solidFill>
                <a:effectLst>
                  <a:outerShdw blurRad="38100" dist="25400" dir="5400000" algn="ctr" rotWithShape="0">
                    <a:srgbClr val="6E747A">
                      <a:alpha val="43000"/>
                    </a:srgbClr>
                  </a:outerShdw>
                </a:effectLst>
                <a:uLnTx/>
                <a:uFillTx/>
                <a:latin typeface="楷体_GB2312" panose="02010609030101010101" pitchFamily="49" charset="-122"/>
                <a:ea typeface="楷体_GB2312" panose="02010609030101010101" pitchFamily="49" charset="-122"/>
                <a:sym typeface="+mn-ea"/>
              </a:rPr>
              <a:t>表现稳健，同比增长</a:t>
            </a:r>
            <a:r>
              <a:rPr lang="en-US" altLang="zh-CN" sz="1200" dirty="0">
                <a:solidFill>
                  <a:prstClr val="white">
                    <a:lumMod val="50000"/>
                  </a:prst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6.7</a:t>
            </a:r>
            <a:r>
              <a:rPr lang="en-US" altLang="zh-CN" sz="1200" noProof="0" dirty="0">
                <a:ln>
                  <a:noFill/>
                </a:ln>
                <a:solidFill>
                  <a:prstClr val="white">
                    <a:lumMod val="50000"/>
                  </a:prstClr>
                </a:solidFill>
                <a:effectLst>
                  <a:outerShdw blurRad="38100" dist="25400" dir="5400000" algn="ctr" rotWithShape="0">
                    <a:srgbClr val="6E747A">
                      <a:alpha val="43000"/>
                    </a:srgbClr>
                  </a:outerShdw>
                </a:effectLst>
                <a:uLnTx/>
                <a:uFillTx/>
                <a:latin typeface="楷体_GB2312" panose="02010609030101010101" pitchFamily="49" charset="-122"/>
                <a:ea typeface="楷体_GB2312" panose="02010609030101010101" pitchFamily="49" charset="-122"/>
                <a:sym typeface="+mn-ea"/>
              </a:rPr>
              <a:t>%</a:t>
            </a:r>
            <a:r>
              <a:rPr lang="zh-CN" altLang="en-US" sz="1200" noProof="0" dirty="0">
                <a:ln>
                  <a:noFill/>
                </a:ln>
                <a:solidFill>
                  <a:prstClr val="white">
                    <a:lumMod val="50000"/>
                  </a:prstClr>
                </a:solidFill>
                <a:effectLst>
                  <a:outerShdw blurRad="38100" dist="25400" dir="5400000" algn="ctr" rotWithShape="0">
                    <a:srgbClr val="6E747A">
                      <a:alpha val="43000"/>
                    </a:srgbClr>
                  </a:outerShdw>
                </a:effectLst>
                <a:uLnTx/>
                <a:uFillTx/>
                <a:latin typeface="楷体_GB2312" panose="02010609030101010101" pitchFamily="49" charset="-122"/>
                <a:ea typeface="楷体_GB2312" panose="02010609030101010101" pitchFamily="49" charset="-122"/>
                <a:sym typeface="+mn-ea"/>
              </a:rPr>
              <a:t>，增速连续</a:t>
            </a:r>
            <a:r>
              <a:rPr lang="en-US" altLang="zh-CN" sz="1200" noProof="0" dirty="0">
                <a:ln>
                  <a:noFill/>
                </a:ln>
                <a:solidFill>
                  <a:prstClr val="white">
                    <a:lumMod val="50000"/>
                  </a:prstClr>
                </a:solidFill>
                <a:effectLst>
                  <a:outerShdw blurRad="38100" dist="25400" dir="5400000" algn="ctr" rotWithShape="0">
                    <a:srgbClr val="6E747A">
                      <a:alpha val="43000"/>
                    </a:srgbClr>
                  </a:outerShdw>
                </a:effectLst>
                <a:uLnTx/>
                <a:uFillTx/>
                <a:latin typeface="楷体_GB2312" panose="02010609030101010101" pitchFamily="49" charset="-122"/>
                <a:ea typeface="楷体_GB2312" panose="02010609030101010101" pitchFamily="49" charset="-122"/>
                <a:sym typeface="+mn-ea"/>
              </a:rPr>
              <a:t>4</a:t>
            </a:r>
            <a:r>
              <a:rPr lang="zh-CN" altLang="en-US" sz="1200" noProof="0" dirty="0">
                <a:ln>
                  <a:noFill/>
                </a:ln>
                <a:solidFill>
                  <a:prstClr val="white">
                    <a:lumMod val="50000"/>
                  </a:prstClr>
                </a:solidFill>
                <a:effectLst>
                  <a:outerShdw blurRad="38100" dist="25400" dir="5400000" algn="ctr" rotWithShape="0">
                    <a:srgbClr val="6E747A">
                      <a:alpha val="43000"/>
                    </a:srgbClr>
                  </a:outerShdw>
                </a:effectLst>
                <a:uLnTx/>
                <a:uFillTx/>
                <a:latin typeface="楷体_GB2312" panose="02010609030101010101" pitchFamily="49" charset="-122"/>
                <a:ea typeface="楷体_GB2312" panose="02010609030101010101" pitchFamily="49" charset="-122"/>
                <a:sym typeface="+mn-ea"/>
              </a:rPr>
              <a:t>个月持续提升，</a:t>
            </a:r>
            <a:endParaRPr kumimoji="0" lang="zh-CN" altLang="en-US" sz="1200" b="0" i="0" u="none" strike="noStrike" kern="1200" cap="none" spc="0" normalizeH="0" baseline="0" noProof="0" dirty="0">
              <a:ln>
                <a:noFill/>
              </a:ln>
              <a:solidFill>
                <a:prstClr val="white">
                  <a:lumMod val="50000"/>
                </a:prstClr>
              </a:solidFill>
              <a:effectLst>
                <a:outerShdw blurRad="38100" dist="25400" dir="5400000" algn="ctr" rotWithShape="0">
                  <a:srgbClr val="6E747A">
                    <a:alpha val="43000"/>
                  </a:srgbClr>
                </a:outerShdw>
              </a:effectLst>
              <a:uLnTx/>
              <a:uFillTx/>
              <a:latin typeface="楷体_GB2312" panose="02010609030101010101" pitchFamily="49" charset="-122"/>
              <a:ea typeface="楷体_GB2312" panose="02010609030101010101" pitchFamily="49" charset="-122"/>
              <a:cs typeface="+mn-cs"/>
            </a:endParaRPr>
          </a:p>
        </p:txBody>
      </p:sp>
      <p:sp>
        <p:nvSpPr>
          <p:cNvPr id="4" name="文本框 3"/>
          <p:cNvSpPr txBox="1"/>
          <p:nvPr/>
        </p:nvSpPr>
        <p:spPr>
          <a:xfrm>
            <a:off x="6930887" y="4922092"/>
            <a:ext cx="1669413" cy="21544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prstClr val="black"/>
                </a:solidFill>
                <a:effectLst/>
                <a:uLnTx/>
                <a:uFillTx/>
                <a:latin typeface="Arial" panose="020B0604020202090204" pitchFamily="34" charset="0"/>
                <a:ea typeface="楷体_GB2312" panose="02010609030101010101" pitchFamily="49" charset="-122"/>
                <a:cs typeface="Arial" panose="020B0604020202090204" pitchFamily="34" charset="0"/>
              </a:rPr>
              <a:t>数据来源：华润万象</a:t>
            </a:r>
          </a:p>
        </p:txBody>
      </p:sp>
      <p:sp>
        <p:nvSpPr>
          <p:cNvPr id="13" name="矩形 12"/>
          <p:cNvSpPr/>
          <p:nvPr/>
        </p:nvSpPr>
        <p:spPr>
          <a:xfrm>
            <a:off x="1" y="808302"/>
            <a:ext cx="3146256" cy="45719"/>
          </a:xfrm>
          <a:prstGeom prst="rect">
            <a:avLst/>
          </a:prstGeom>
          <a:solidFill>
            <a:srgbClr val="403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sp>
        <p:nvSpPr>
          <p:cNvPr id="14" name="矩形 13"/>
          <p:cNvSpPr/>
          <p:nvPr/>
        </p:nvSpPr>
        <p:spPr>
          <a:xfrm flipV="1">
            <a:off x="2743201" y="4869590"/>
            <a:ext cx="6400800" cy="52501"/>
          </a:xfrm>
          <a:prstGeom prst="rect">
            <a:avLst/>
          </a:prstGeom>
          <a:solidFill>
            <a:srgbClr val="C5B1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sp>
        <p:nvSpPr>
          <p:cNvPr id="5" name="矩形 4"/>
          <p:cNvSpPr/>
          <p:nvPr/>
        </p:nvSpPr>
        <p:spPr>
          <a:xfrm>
            <a:off x="602901" y="2041322"/>
            <a:ext cx="8184383" cy="194438"/>
          </a:xfrm>
          <a:prstGeom prst="rect">
            <a:avLst/>
          </a:prstGeom>
          <a:solidFill>
            <a:srgbClr val="403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楷体_GB2312" panose="02010609030101010101" pitchFamily="49" charset="-122"/>
                <a:ea typeface="楷体_GB2312" panose="02010609030101010101" pitchFamily="49" charset="-122"/>
                <a:cs typeface="+mn-cs"/>
              </a:rPr>
              <a:t>华润万象体系商场月度零售客流、客单、零售额同比变化</a:t>
            </a:r>
          </a:p>
        </p:txBody>
      </p:sp>
      <p:graphicFrame>
        <p:nvGraphicFramePr>
          <p:cNvPr id="6" name="图表 5"/>
          <p:cNvGraphicFramePr/>
          <p:nvPr/>
        </p:nvGraphicFramePr>
        <p:xfrm>
          <a:off x="675640" y="2229485"/>
          <a:ext cx="8184515" cy="2601595"/>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3"/>
          <p:cNvSpPr txBox="1"/>
          <p:nvPr/>
        </p:nvSpPr>
        <p:spPr>
          <a:xfrm>
            <a:off x="363031" y="234660"/>
            <a:ext cx="4945380" cy="460375"/>
          </a:xfrm>
          <a:prstGeom prst="rect">
            <a:avLst/>
          </a:prstGeom>
          <a:noFill/>
        </p:spPr>
        <p:txBody>
          <a:bodyPr wrap="none" rtlCol="0">
            <a:spAutoFit/>
            <a:scene3d>
              <a:camera prst="orthographicFront"/>
              <a:lightRig rig="threePt" dir="t"/>
            </a:scene3d>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2400" b="1" i="0" u="none" strike="noStrike" kern="1200" cap="none" spc="0" normalizeH="0" baseline="0" noProof="0" dirty="0">
                <a:ln>
                  <a:noFill/>
                </a:ln>
                <a:solidFill>
                  <a:srgbClr val="4F81BD"/>
                </a:solidFill>
                <a:effectLst>
                  <a:outerShdw blurRad="38100" dist="25400" dir="5400000" algn="ctr" rotWithShape="0">
                    <a:srgbClr val="6E747A">
                      <a:alpha val="43000"/>
                    </a:srgbClr>
                  </a:outerShdw>
                </a:effectLst>
                <a:uLnTx/>
                <a:uFillTx/>
                <a:latin typeface="Arial" panose="020B0604020202090204" pitchFamily="34" charset="0"/>
                <a:ea typeface="楷体_GB2312" panose="02010609030101010101" pitchFamily="49" charset="-122"/>
                <a:cs typeface="Arial" panose="020B0604020202090204" pitchFamily="34" charset="0"/>
              </a:rPr>
              <a:t>2.2</a:t>
            </a:r>
            <a:r>
              <a:rPr kumimoji="1" lang="en-US" altLang="zh-CN" sz="2400" b="1" i="0" u="none" strike="noStrike" kern="1200" cap="none" spc="0" normalizeH="0" baseline="0" noProof="0" dirty="0">
                <a:ln>
                  <a:noFill/>
                </a:ln>
                <a:solidFill>
                  <a:srgbClr val="4F81BD"/>
                </a:solidFill>
                <a:effectLst>
                  <a:outerShdw blurRad="38100" dist="25400" dir="5400000" algn="ctr" rotWithShape="0">
                    <a:srgbClr val="6E747A">
                      <a:alpha val="43000"/>
                    </a:srgbClr>
                  </a:outerShdw>
                </a:effectLst>
                <a:uLnTx/>
                <a:uFillTx/>
                <a:latin typeface="楷体_GB2312" panose="02010609030101010101" pitchFamily="49" charset="-122"/>
                <a:ea typeface="楷体_GB2312" panose="02010609030101010101" pitchFamily="49" charset="-122"/>
                <a:cs typeface="微软雅黑" panose="020B0503020204020204" pitchFamily="34" charset="-122"/>
              </a:rPr>
              <a:t> </a:t>
            </a:r>
            <a:r>
              <a:rPr kumimoji="1" lang="zh-CN" altLang="en-US" sz="2400" b="1" noProof="0" dirty="0">
                <a:ln>
                  <a:noFill/>
                </a:ln>
                <a:solidFill>
                  <a:srgbClr val="4F81BD"/>
                </a:solidFill>
                <a:effectLst>
                  <a:outerShdw blurRad="38100" dist="25400" dir="5400000" algn="ctr" rotWithShape="0">
                    <a:srgbClr val="6E747A">
                      <a:alpha val="43000"/>
                    </a:srgbClr>
                  </a:outerShdw>
                </a:effectLst>
                <a:uLnTx/>
                <a:uFillTx/>
                <a:latin typeface="楷体_GB2312" panose="02010609030101010101" pitchFamily="49" charset="-122"/>
                <a:ea typeface="楷体_GB2312" panose="02010609030101010101" pitchFamily="49" charset="-122"/>
                <a:cs typeface="微软雅黑" panose="020B0503020204020204" pitchFamily="34" charset="-122"/>
                <a:sym typeface="+mn-ea"/>
              </a:rPr>
              <a:t>高端商场数据表现</a:t>
            </a:r>
            <a:r>
              <a:rPr kumimoji="1" lang="en-US" altLang="zh-CN" sz="2400" b="1" noProof="0" dirty="0">
                <a:ln>
                  <a:noFill/>
                </a:ln>
                <a:solidFill>
                  <a:srgbClr val="4F81BD"/>
                </a:solidFill>
                <a:effectLst>
                  <a:outerShdw blurRad="38100" dist="25400" dir="5400000" algn="ctr" rotWithShape="0">
                    <a:srgbClr val="6E747A">
                      <a:alpha val="43000"/>
                    </a:srgbClr>
                  </a:outerShdw>
                </a:effectLst>
                <a:uLnTx/>
                <a:uFillTx/>
                <a:latin typeface="楷体_GB2312" panose="02010609030101010101" pitchFamily="49" charset="-122"/>
                <a:ea typeface="楷体_GB2312" panose="02010609030101010101" pitchFamily="49" charset="-122"/>
                <a:cs typeface="微软雅黑" panose="020B0503020204020204" pitchFamily="34" charset="-122"/>
                <a:sym typeface="+mn-ea"/>
              </a:rPr>
              <a:t>-</a:t>
            </a:r>
            <a:r>
              <a:rPr kumimoji="1" lang="zh-CN" altLang="en-US" sz="2400" b="1" noProof="0" dirty="0">
                <a:ln>
                  <a:noFill/>
                </a:ln>
                <a:solidFill>
                  <a:srgbClr val="4F81BD"/>
                </a:solidFill>
                <a:effectLst>
                  <a:outerShdw blurRad="38100" dist="25400" dir="5400000" algn="ctr" rotWithShape="0">
                    <a:srgbClr val="6E747A">
                      <a:alpha val="43000"/>
                    </a:srgbClr>
                  </a:outerShdw>
                </a:effectLst>
                <a:uLnTx/>
                <a:uFillTx/>
                <a:latin typeface="楷体_GB2312" panose="02010609030101010101" pitchFamily="49" charset="-122"/>
                <a:ea typeface="楷体_GB2312" panose="02010609030101010101" pitchFamily="49" charset="-122"/>
                <a:cs typeface="微软雅黑" panose="020B0503020204020204" pitchFamily="34" charset="-122"/>
                <a:sym typeface="+mn-ea"/>
              </a:rPr>
              <a:t>恒隆及太古</a:t>
            </a:r>
          </a:p>
        </p:txBody>
      </p:sp>
      <p:sp>
        <p:nvSpPr>
          <p:cNvPr id="9" name="矩形 23"/>
          <p:cNvSpPr/>
          <p:nvPr/>
        </p:nvSpPr>
        <p:spPr>
          <a:xfrm>
            <a:off x="363220" y="852805"/>
            <a:ext cx="8591550" cy="789940"/>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noAutofit/>
            <a:scene3d>
              <a:camera prst="orthographicFront"/>
              <a:lightRig rig="threePt" dir="t"/>
            </a:scene3d>
          </a:bodyPr>
          <a:lstStyle/>
          <a:p>
            <a:pPr marL="215900" lvl="0" indent="-215900" algn="just">
              <a:lnSpc>
                <a:spcPct val="130000"/>
              </a:lnSpc>
              <a:spcBef>
                <a:spcPts val="130"/>
              </a:spcBef>
              <a:spcAft>
                <a:spcPts val="130"/>
              </a:spcAft>
              <a:buFont typeface="Wingdings" panose="05000000000000000000" pitchFamily="2" charset="2"/>
              <a:buChar char="n"/>
              <a:defRPr/>
            </a:pPr>
            <a:r>
              <a:rPr lang="zh-CN" altLang="en-US" sz="1200" b="1" dirty="0">
                <a:solidFill>
                  <a:schemeClr val="accent1"/>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恒隆：</a:t>
            </a:r>
            <a:r>
              <a:rPr lang="en-US" altLang="zh-CN" sz="1200" b="1" dirty="0">
                <a:solidFill>
                  <a:schemeClr val="accent1"/>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1H2025</a:t>
            </a:r>
            <a:r>
              <a:rPr lang="zh-CN" altLang="en-US" sz="1200" b="1" dirty="0">
                <a:solidFill>
                  <a:schemeClr val="accent1"/>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a:t>
            </a:r>
            <a:r>
              <a:rPr lang="en-US" altLang="zh-CN" sz="1200" b="1" dirty="0">
                <a:solidFill>
                  <a:schemeClr val="accent1"/>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恒隆广场租户零售额呈现明显分化态势。</a:t>
            </a:r>
            <a:r>
              <a:rPr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内地整体租户销售额</a:t>
            </a:r>
            <a:r>
              <a:rPr lang="zh-CN"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基本持平</a:t>
            </a:r>
            <a:r>
              <a:rPr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，上海港汇恒隆广场</a:t>
            </a:r>
            <a:r>
              <a:rPr lang="zh-CN"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同比</a:t>
            </a:r>
            <a:r>
              <a:rPr lang="en-US" altLang="zh-CN"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a:t>
            </a:r>
            <a:r>
              <a:rPr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10%</a:t>
            </a:r>
            <a:r>
              <a:rPr lang="zh-CN"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a:t>
            </a:r>
            <a:r>
              <a:rPr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大连恒隆广场亦实现13%的增长，通过优化品牌组合和营销活动带动业绩上扬。而上海恒隆广场因客户高端消费谨慎，租户销售额下滑8%；沈阳、武汉项目受同业竞争冲击，销售额分别大跌58%和31%。</a:t>
            </a:r>
          </a:p>
          <a:p>
            <a:pPr marL="215900" lvl="0" indent="-215900" algn="just">
              <a:lnSpc>
                <a:spcPct val="130000"/>
              </a:lnSpc>
              <a:spcBef>
                <a:spcPts val="130"/>
              </a:spcBef>
              <a:spcAft>
                <a:spcPts val="130"/>
              </a:spcAft>
              <a:buFont typeface="Wingdings" panose="05000000000000000000" pitchFamily="2" charset="2"/>
              <a:buChar char="n"/>
              <a:defRPr/>
            </a:pPr>
            <a:r>
              <a:rPr lang="zh-CN" altLang="en-US" sz="1200" b="1" dirty="0">
                <a:solidFill>
                  <a:schemeClr val="accent1"/>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太古：2025年前三季度，内地各商场租用率大多呈提升趋势。</a:t>
            </a:r>
            <a:r>
              <a:rPr lang="zh-CN" altLang="en-US"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北京三里屯太古里、北京颐堤港、成都太古里、上海前滩太古里分别增长 7.8%、2.9%、2.4%、5.6%，广州太古汇也实现 0.3% 的增长；其中上海兴业太古汇表现尤为突出，零售额大增41.9%（</a:t>
            </a:r>
            <a:r>
              <a:rPr lang="en-US" altLang="zh-CN"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Q3</a:t>
            </a:r>
            <a:r>
              <a:rPr lang="zh-CN" altLang="en-US"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大幅提速，系LV巨轮“路易号”2025年6月28日开业带动）。</a:t>
            </a:r>
            <a:endParaRPr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endParaRPr>
          </a:p>
        </p:txBody>
      </p:sp>
      <p:sp>
        <p:nvSpPr>
          <p:cNvPr id="4" name="文本框 3"/>
          <p:cNvSpPr txBox="1"/>
          <p:nvPr/>
        </p:nvSpPr>
        <p:spPr>
          <a:xfrm>
            <a:off x="5392489" y="4922092"/>
            <a:ext cx="3207812" cy="21399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prstClr val="black"/>
                </a:solidFill>
                <a:effectLst/>
                <a:uLnTx/>
                <a:uFillTx/>
                <a:latin typeface="Arial" panose="020B0604020202090204" pitchFamily="34" charset="0"/>
                <a:ea typeface="楷体_GB2312" panose="02010609030101010101" pitchFamily="49" charset="-122"/>
                <a:cs typeface="Arial" panose="020B0604020202090204" pitchFamily="34" charset="0"/>
              </a:rPr>
              <a:t>数据来源：恒隆地产、太古地产</a:t>
            </a:r>
          </a:p>
        </p:txBody>
      </p:sp>
      <p:sp>
        <p:nvSpPr>
          <p:cNvPr id="13" name="矩形 12"/>
          <p:cNvSpPr/>
          <p:nvPr/>
        </p:nvSpPr>
        <p:spPr>
          <a:xfrm>
            <a:off x="1" y="808302"/>
            <a:ext cx="3146256" cy="45719"/>
          </a:xfrm>
          <a:prstGeom prst="rect">
            <a:avLst/>
          </a:prstGeom>
          <a:solidFill>
            <a:srgbClr val="403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sp>
        <p:nvSpPr>
          <p:cNvPr id="14" name="矩形 13"/>
          <p:cNvSpPr/>
          <p:nvPr/>
        </p:nvSpPr>
        <p:spPr>
          <a:xfrm flipV="1">
            <a:off x="2743201" y="4869590"/>
            <a:ext cx="6400800" cy="52501"/>
          </a:xfrm>
          <a:prstGeom prst="rect">
            <a:avLst/>
          </a:prstGeom>
          <a:solidFill>
            <a:srgbClr val="C5B1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sp>
        <p:nvSpPr>
          <p:cNvPr id="5" name="矩形 4"/>
          <p:cNvSpPr/>
          <p:nvPr/>
        </p:nvSpPr>
        <p:spPr>
          <a:xfrm>
            <a:off x="699246" y="2351779"/>
            <a:ext cx="4048788" cy="194438"/>
          </a:xfrm>
          <a:prstGeom prst="rect">
            <a:avLst/>
          </a:prstGeom>
          <a:solidFill>
            <a:srgbClr val="403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楷体_GB2312" panose="02010609030101010101" pitchFamily="49" charset="-122"/>
                <a:ea typeface="楷体_GB2312" panose="02010609030101010101" pitchFamily="49" charset="-122"/>
                <a:cs typeface="+mn-cs"/>
              </a:rPr>
              <a:t>恒隆旗下商场租户零售额</a:t>
            </a:r>
            <a:r>
              <a:rPr kumimoji="0" lang="en-US" altLang="zh-CN" sz="1200" b="0" i="0" u="none" strike="noStrike" kern="1200" cap="none" spc="0" normalizeH="0" baseline="0" noProof="0" dirty="0">
                <a:ln>
                  <a:noFill/>
                </a:ln>
                <a:solidFill>
                  <a:prstClr val="white"/>
                </a:solidFill>
                <a:effectLst/>
                <a:uLnTx/>
                <a:uFillTx/>
                <a:latin typeface="楷体_GB2312" panose="02010609030101010101" pitchFamily="49" charset="-122"/>
                <a:ea typeface="楷体_GB2312" panose="02010609030101010101" pitchFamily="49" charset="-122"/>
                <a:cs typeface="+mn-cs"/>
              </a:rPr>
              <a:t>yoy</a:t>
            </a:r>
            <a:endParaRPr kumimoji="0" lang="zh-CN" altLang="en-US" sz="1200" b="0" i="0" u="none" strike="noStrike" kern="1200" cap="none" spc="0" normalizeH="0" baseline="0" noProof="0" dirty="0">
              <a:ln>
                <a:noFill/>
              </a:ln>
              <a:solidFill>
                <a:prstClr val="white"/>
              </a:solidFill>
              <a:effectLst/>
              <a:uLnTx/>
              <a:uFillTx/>
              <a:latin typeface="楷体_GB2312" panose="02010609030101010101" pitchFamily="49" charset="-122"/>
              <a:ea typeface="楷体_GB2312" panose="02010609030101010101" pitchFamily="49" charset="-122"/>
              <a:cs typeface="+mn-cs"/>
            </a:endParaRPr>
          </a:p>
        </p:txBody>
      </p:sp>
      <p:sp>
        <p:nvSpPr>
          <p:cNvPr id="11" name="矩形 10"/>
          <p:cNvSpPr/>
          <p:nvPr/>
        </p:nvSpPr>
        <p:spPr>
          <a:xfrm>
            <a:off x="4906149" y="2351893"/>
            <a:ext cx="4048788" cy="194438"/>
          </a:xfrm>
          <a:prstGeom prst="rect">
            <a:avLst/>
          </a:prstGeom>
          <a:solidFill>
            <a:srgbClr val="403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lang="zh-CN" altLang="en-US" sz="1200" noProof="0" dirty="0">
                <a:ln>
                  <a:noFill/>
                </a:ln>
                <a:solidFill>
                  <a:prstClr val="white"/>
                </a:solidFill>
                <a:effectLst/>
                <a:uLnTx/>
                <a:uFillTx/>
                <a:latin typeface="楷体_GB2312" panose="02010609030101010101" pitchFamily="49" charset="-122"/>
                <a:ea typeface="楷体_GB2312" panose="02010609030101010101" pitchFamily="49" charset="-122"/>
                <a:sym typeface="+mn-ea"/>
              </a:rPr>
              <a:t>太古旗下商场租户零售额</a:t>
            </a:r>
            <a:r>
              <a:rPr lang="en-US" altLang="zh-CN" sz="1200" noProof="0" dirty="0">
                <a:ln>
                  <a:noFill/>
                </a:ln>
                <a:solidFill>
                  <a:prstClr val="white"/>
                </a:solidFill>
                <a:effectLst/>
                <a:uLnTx/>
                <a:uFillTx/>
                <a:latin typeface="楷体_GB2312" panose="02010609030101010101" pitchFamily="49" charset="-122"/>
                <a:ea typeface="楷体_GB2312" panose="02010609030101010101" pitchFamily="49" charset="-122"/>
                <a:sym typeface="+mn-ea"/>
              </a:rPr>
              <a:t>yoy</a:t>
            </a:r>
            <a:endParaRPr kumimoji="0" lang="zh-CN" altLang="en-US" sz="1200" b="0" i="0" u="none" strike="noStrike" kern="1200" cap="none" spc="0" normalizeH="0" baseline="0" noProof="0" dirty="0">
              <a:ln>
                <a:noFill/>
              </a:ln>
              <a:solidFill>
                <a:prstClr val="white"/>
              </a:solidFill>
              <a:effectLst/>
              <a:uLnTx/>
              <a:uFillTx/>
              <a:latin typeface="楷体_GB2312" panose="02010609030101010101" pitchFamily="49" charset="-122"/>
              <a:ea typeface="楷体_GB2312" panose="02010609030101010101" pitchFamily="49" charset="-122"/>
              <a:cs typeface="+mn-cs"/>
            </a:endParaRPr>
          </a:p>
        </p:txBody>
      </p:sp>
      <p:pic>
        <p:nvPicPr>
          <p:cNvPr id="7" name="图片 6"/>
          <p:cNvPicPr>
            <a:picLocks noChangeAspect="1"/>
          </p:cNvPicPr>
          <p:nvPr/>
        </p:nvPicPr>
        <p:blipFill>
          <a:blip r:embed="rId2"/>
          <a:stretch>
            <a:fillRect/>
          </a:stretch>
        </p:blipFill>
        <p:spPr>
          <a:xfrm>
            <a:off x="4906010" y="2567940"/>
            <a:ext cx="4053840" cy="2297430"/>
          </a:xfrm>
          <a:prstGeom prst="rect">
            <a:avLst/>
          </a:prstGeom>
        </p:spPr>
      </p:pic>
      <p:pic>
        <p:nvPicPr>
          <p:cNvPr id="8" name="图片 7"/>
          <p:cNvPicPr>
            <a:picLocks noChangeAspect="1"/>
          </p:cNvPicPr>
          <p:nvPr/>
        </p:nvPicPr>
        <p:blipFill>
          <a:blip r:embed="rId3"/>
          <a:stretch>
            <a:fillRect/>
          </a:stretch>
        </p:blipFill>
        <p:spPr>
          <a:xfrm>
            <a:off x="699135" y="2567940"/>
            <a:ext cx="4045585" cy="229743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3"/>
          <p:cNvSpPr txBox="1"/>
          <p:nvPr/>
        </p:nvSpPr>
        <p:spPr>
          <a:xfrm>
            <a:off x="363031" y="234660"/>
            <a:ext cx="2897505" cy="460375"/>
          </a:xfrm>
          <a:prstGeom prst="rect">
            <a:avLst/>
          </a:prstGeom>
          <a:noFill/>
        </p:spPr>
        <p:txBody>
          <a:bodyPr wrap="none" rtlCol="0">
            <a:spAutoFit/>
            <a:scene3d>
              <a:camera prst="orthographicFront"/>
              <a:lightRig rig="threePt" dir="t"/>
            </a:scene3d>
          </a:bodyPr>
          <a:lstStyle/>
          <a:p>
            <a:pPr marR="0" indent="0" defTabSz="457200" fontAlgn="auto">
              <a:lnSpc>
                <a:spcPct val="100000"/>
              </a:lnSpc>
              <a:spcBef>
                <a:spcPts val="0"/>
              </a:spcBef>
              <a:spcAft>
                <a:spcPts val="0"/>
              </a:spcAft>
              <a:buClrTx/>
              <a:buSzTx/>
              <a:buFontTx/>
              <a:buNone/>
              <a:defRPr/>
            </a:pPr>
            <a:r>
              <a:rPr kumimoji="1" lang="en-US" altLang="zh-CN" sz="2400" b="1" i="0" kern="1200" cap="none" spc="0" normalizeH="0" baseline="0" noProof="0" dirty="0">
                <a:solidFill>
                  <a:srgbClr val="4F81BD"/>
                </a:solidFill>
                <a:effectLst>
                  <a:outerShdw blurRad="38100" dist="25400" dir="5400000" algn="ctr" rotWithShape="0">
                    <a:srgbClr val="6E747A">
                      <a:alpha val="43000"/>
                    </a:srgbClr>
                  </a:outerShdw>
                </a:effectLst>
                <a:latin typeface="Arial" panose="020B0604020202090204" pitchFamily="34" charset="0"/>
                <a:ea typeface="楷体_GB2312" panose="02010609030101010101" pitchFamily="49" charset="-122"/>
                <a:cs typeface="Arial" panose="020B0604020202090204" pitchFamily="34" charset="0"/>
              </a:rPr>
              <a:t>3.1</a:t>
            </a:r>
            <a:r>
              <a:rPr kumimoji="1" lang="en-US" altLang="zh-CN" sz="2400" b="1" i="0" kern="1200" cap="none" spc="0" normalizeH="0" baseline="0" noProof="0" dirty="0">
                <a:solidFill>
                  <a:srgbClr val="4F81BD"/>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cs typeface="微软雅黑" panose="020B0503020204020204" pitchFamily="34" charset="-122"/>
              </a:rPr>
              <a:t> </a:t>
            </a:r>
            <a:r>
              <a:rPr kumimoji="1" lang="zh-CN" altLang="en-US" sz="2400" b="1" i="0" kern="1200" cap="none" spc="0" normalizeH="0" baseline="0" noProof="0" dirty="0">
                <a:solidFill>
                  <a:srgbClr val="4F81BD"/>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cs typeface="微软雅黑" panose="020B0503020204020204" pitchFamily="34" charset="-122"/>
              </a:rPr>
              <a:t>中低端商场表现</a:t>
            </a:r>
          </a:p>
        </p:txBody>
      </p:sp>
      <p:sp>
        <p:nvSpPr>
          <p:cNvPr id="9" name="矩形 23"/>
          <p:cNvSpPr/>
          <p:nvPr/>
        </p:nvSpPr>
        <p:spPr>
          <a:xfrm>
            <a:off x="363220" y="852805"/>
            <a:ext cx="8591550" cy="1164590"/>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noAutofit/>
            <a:scene3d>
              <a:camera prst="orthographicFront"/>
              <a:lightRig rig="threePt" dir="t"/>
            </a:scene3d>
          </a:bodyPr>
          <a:lstStyle/>
          <a:p>
            <a:pPr marL="215900" lvl="0" indent="-215900" algn="just">
              <a:lnSpc>
                <a:spcPct val="130000"/>
              </a:lnSpc>
              <a:spcBef>
                <a:spcPts val="130"/>
              </a:spcBef>
              <a:spcAft>
                <a:spcPts val="130"/>
              </a:spcAft>
              <a:buFont typeface="Wingdings" panose="05000000000000000000" pitchFamily="2" charset="2"/>
              <a:buChar char="n"/>
              <a:defRPr/>
            </a:pPr>
            <a:r>
              <a:rPr lang="zh-CN" altLang="en-US" sz="1200" b="1" dirty="0">
                <a:solidFill>
                  <a:schemeClr val="accent1"/>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中端商业连锁：2025年上半年，行业多家企业同店及客流增长较好，与社零趋势一致。</a:t>
            </a:r>
          </a:p>
          <a:p>
            <a:pPr marL="215900" lvl="0" indent="-215900" algn="just">
              <a:lnSpc>
                <a:spcPct val="130000"/>
              </a:lnSpc>
              <a:spcBef>
                <a:spcPts val="130"/>
              </a:spcBef>
              <a:spcAft>
                <a:spcPts val="130"/>
              </a:spcAft>
              <a:buFont typeface="Wingdings" panose="05000000000000000000" pitchFamily="2" charset="2"/>
              <a:buChar char="n"/>
              <a:defRPr/>
            </a:pPr>
            <a:r>
              <a:rPr lang="zh-CN" altLang="en-US" sz="1200" b="1" dirty="0">
                <a:solidFill>
                  <a:schemeClr val="accent1"/>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社零前瞻指标：蓝领用工量趋势，</a:t>
            </a:r>
            <a:r>
              <a:rPr lang="en-US" altLang="zh-CN" sz="1200" b="1" dirty="0">
                <a:solidFill>
                  <a:schemeClr val="accent1"/>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25</a:t>
            </a:r>
            <a:r>
              <a:rPr lang="zh-CN" altLang="en-US" sz="1200" b="1" dirty="0">
                <a:solidFill>
                  <a:schemeClr val="accent1"/>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年</a:t>
            </a:r>
            <a:r>
              <a:rPr lang="en-US" altLang="zh-CN" sz="1200" b="1" dirty="0">
                <a:solidFill>
                  <a:schemeClr val="accent1"/>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5</a:t>
            </a:r>
            <a:r>
              <a:rPr lang="zh-CN" altLang="en-US" sz="1200" b="1" dirty="0">
                <a:solidFill>
                  <a:schemeClr val="accent1"/>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月</a:t>
            </a:r>
            <a:r>
              <a:rPr lang="en-US" altLang="zh-CN" sz="1200" b="1" dirty="0">
                <a:solidFill>
                  <a:schemeClr val="accent1"/>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-9</a:t>
            </a:r>
            <a:r>
              <a:rPr lang="zh-CN" altLang="en-US" sz="1200" b="1" dirty="0">
                <a:solidFill>
                  <a:schemeClr val="accent1"/>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月持续走弱，</a:t>
            </a:r>
            <a:r>
              <a:rPr lang="en-US" altLang="zh-CN" sz="1200" b="1" dirty="0">
                <a:solidFill>
                  <a:schemeClr val="accent1"/>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10</a:t>
            </a:r>
            <a:r>
              <a:rPr lang="zh-CN" altLang="en-US" sz="1200" b="1" dirty="0">
                <a:solidFill>
                  <a:schemeClr val="accent1"/>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月后降幅收窄。</a:t>
            </a:r>
            <a:r>
              <a:rPr lang="en-US"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2025</a:t>
            </a:r>
            <a:r>
              <a:rPr lang="zh-CN" altLang="en-US"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年</a:t>
            </a:r>
            <a:r>
              <a:rPr lang="en-US" altLang="zh-CN"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10</a:t>
            </a:r>
            <a:r>
              <a:rPr lang="zh-CN" altLang="en-US"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月及</a:t>
            </a:r>
            <a:r>
              <a:rPr lang="en-US" altLang="zh-CN"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11</a:t>
            </a:r>
            <a:r>
              <a:rPr lang="zh-CN" altLang="en-US"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月前半月蓝领用量同比</a:t>
            </a:r>
            <a:r>
              <a:rPr lang="en-US" altLang="zh-CN"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-0.7/-0.4</a:t>
            </a:r>
            <a:r>
              <a:rPr lang="zh-CN" altLang="en-US"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，降幅较</a:t>
            </a:r>
            <a:r>
              <a:rPr lang="en-US" altLang="zh-CN"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5-9</a:t>
            </a:r>
            <a:r>
              <a:rPr lang="zh-CN" altLang="en-US"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月明显收窄，此前数据用工量同比增减（</a:t>
            </a:r>
            <a:r>
              <a:rPr lang="en-US" altLang="zh-CN"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t-1</a:t>
            </a:r>
            <a:r>
              <a:rPr lang="zh-CN" altLang="en-US"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）与社零同比趋势关联度高，社零增速或在</a:t>
            </a:r>
            <a:r>
              <a:rPr lang="en-US" altLang="zh-CN"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11</a:t>
            </a:r>
            <a:r>
              <a:rPr lang="zh-CN" altLang="en-US"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rPr>
              <a:t>月后提升。</a:t>
            </a:r>
            <a:endParaRPr lang="zh-CN" sz="1200" dirty="0">
              <a:solidFill>
                <a:schemeClr val="bg1">
                  <a:lumMod val="50000"/>
                </a:schemeClr>
              </a:solidFill>
              <a:effectLst>
                <a:outerShdw blurRad="38100" dist="25400" dir="5400000" algn="ctr" rotWithShape="0">
                  <a:srgbClr val="6E747A">
                    <a:alpha val="43000"/>
                  </a:srgbClr>
                </a:outerShdw>
              </a:effectLst>
              <a:latin typeface="楷体_GB2312" panose="02010609030101010101" pitchFamily="49" charset="-122"/>
              <a:ea typeface="楷体_GB2312" panose="02010609030101010101" pitchFamily="49" charset="-122"/>
              <a:sym typeface="+mn-ea"/>
            </a:endParaRPr>
          </a:p>
        </p:txBody>
      </p:sp>
      <p:sp>
        <p:nvSpPr>
          <p:cNvPr id="4" name="文本框 3"/>
          <p:cNvSpPr txBox="1"/>
          <p:nvPr/>
        </p:nvSpPr>
        <p:spPr>
          <a:xfrm>
            <a:off x="5392489" y="4922092"/>
            <a:ext cx="3207812" cy="213995"/>
          </a:xfrm>
          <a:prstGeom prst="rect">
            <a:avLst/>
          </a:prstGeom>
          <a:noFill/>
        </p:spPr>
        <p:txBody>
          <a:bodyPr wrap="square" rtlCol="0">
            <a:spAutoFit/>
          </a:bodyPr>
          <a:lstStyle/>
          <a:p>
            <a:pPr marR="0" indent="0" defTabSz="457200" fontAlgn="auto">
              <a:lnSpc>
                <a:spcPct val="100000"/>
              </a:lnSpc>
              <a:spcBef>
                <a:spcPts val="0"/>
              </a:spcBef>
              <a:spcAft>
                <a:spcPts val="0"/>
              </a:spcAft>
              <a:buClrTx/>
              <a:buSzTx/>
              <a:buFontTx/>
              <a:buNone/>
              <a:defRPr/>
            </a:pPr>
            <a:r>
              <a:rPr kumimoji="0" lang="zh-CN" altLang="en-US" sz="800" b="0" i="0" kern="1200" cap="none" spc="0" normalizeH="0" baseline="0" noProof="0" dirty="0">
                <a:solidFill>
                  <a:prstClr val="black"/>
                </a:solidFill>
                <a:latin typeface="Arial" panose="020B0604020202090204" pitchFamily="34" charset="0"/>
                <a:ea typeface="楷体_GB2312" panose="02010609030101010101" pitchFamily="49" charset="-122"/>
                <a:cs typeface="Arial" panose="020B0604020202090204" pitchFamily="34" charset="0"/>
              </a:rPr>
              <a:t>数据来源：龙湖地产、大悦城控股、新城控股</a:t>
            </a:r>
          </a:p>
        </p:txBody>
      </p:sp>
      <p:sp>
        <p:nvSpPr>
          <p:cNvPr id="13" name="矩形 12"/>
          <p:cNvSpPr/>
          <p:nvPr/>
        </p:nvSpPr>
        <p:spPr>
          <a:xfrm>
            <a:off x="1" y="808302"/>
            <a:ext cx="3146256" cy="45719"/>
          </a:xfrm>
          <a:prstGeom prst="rect">
            <a:avLst/>
          </a:prstGeom>
          <a:solidFill>
            <a:srgbClr val="403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sp>
        <p:nvSpPr>
          <p:cNvPr id="14" name="矩形 13"/>
          <p:cNvSpPr/>
          <p:nvPr/>
        </p:nvSpPr>
        <p:spPr>
          <a:xfrm flipV="1">
            <a:off x="2743201" y="4869590"/>
            <a:ext cx="6400800" cy="52501"/>
          </a:xfrm>
          <a:prstGeom prst="rect">
            <a:avLst/>
          </a:prstGeom>
          <a:solidFill>
            <a:srgbClr val="C5B1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sp>
        <p:nvSpPr>
          <p:cNvPr id="5" name="矩形 4"/>
          <p:cNvSpPr/>
          <p:nvPr/>
        </p:nvSpPr>
        <p:spPr>
          <a:xfrm>
            <a:off x="452755" y="2000250"/>
            <a:ext cx="3277235" cy="194310"/>
          </a:xfrm>
          <a:prstGeom prst="rect">
            <a:avLst/>
          </a:prstGeom>
          <a:solidFill>
            <a:srgbClr val="403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sz="1200" b="0" i="0" u="none" strike="noStrike" kern="1200" cap="none" spc="0" normalizeH="0" baseline="0" noProof="0" dirty="0">
                <a:ln>
                  <a:noFill/>
                </a:ln>
                <a:solidFill>
                  <a:prstClr val="white"/>
                </a:solidFill>
                <a:effectLst/>
                <a:uLnTx/>
                <a:uFillTx/>
                <a:latin typeface="楷体_GB2312" panose="02010609030101010101" pitchFamily="49" charset="-122"/>
                <a:ea typeface="楷体_GB2312" panose="02010609030101010101" pitchFamily="49" charset="-122"/>
                <a:cs typeface="+mn-cs"/>
              </a:rPr>
              <a:t>国内中端连锁商业数据（</a:t>
            </a:r>
            <a:r>
              <a:rPr kumimoji="0" lang="en-US" altLang="zh-CN" sz="1200" b="0" i="0" u="none" strike="noStrike" kern="1200" cap="none" spc="0" normalizeH="0" baseline="0" noProof="0" dirty="0">
                <a:ln>
                  <a:noFill/>
                </a:ln>
                <a:solidFill>
                  <a:prstClr val="white"/>
                </a:solidFill>
                <a:effectLst/>
                <a:uLnTx/>
                <a:uFillTx/>
                <a:latin typeface="楷体_GB2312" panose="02010609030101010101" pitchFamily="49" charset="-122"/>
                <a:ea typeface="楷体_GB2312" panose="02010609030101010101" pitchFamily="49" charset="-122"/>
                <a:cs typeface="+mn-cs"/>
              </a:rPr>
              <a:t>%</a:t>
            </a:r>
            <a:r>
              <a:rPr kumimoji="0" lang="zh-CN" altLang="en-US" sz="1200" b="0" i="0" u="none" strike="noStrike" kern="1200" cap="none" spc="0" normalizeH="0" baseline="0" noProof="0" dirty="0">
                <a:ln>
                  <a:noFill/>
                </a:ln>
                <a:solidFill>
                  <a:prstClr val="white"/>
                </a:solidFill>
                <a:effectLst/>
                <a:uLnTx/>
                <a:uFillTx/>
                <a:latin typeface="楷体_GB2312" panose="02010609030101010101" pitchFamily="49" charset="-122"/>
                <a:ea typeface="楷体_GB2312" panose="02010609030101010101" pitchFamily="49" charset="-122"/>
                <a:cs typeface="+mn-cs"/>
              </a:rPr>
              <a:t>）</a:t>
            </a:r>
          </a:p>
        </p:txBody>
      </p:sp>
      <p:graphicFrame>
        <p:nvGraphicFramePr>
          <p:cNvPr id="3" name="表格 2"/>
          <p:cNvGraphicFramePr/>
          <p:nvPr>
            <p:custDataLst>
              <p:tags r:id="rId1"/>
            </p:custDataLst>
          </p:nvPr>
        </p:nvGraphicFramePr>
        <p:xfrm>
          <a:off x="66675" y="2252980"/>
          <a:ext cx="4048760" cy="2679700"/>
        </p:xfrm>
        <a:graphic>
          <a:graphicData uri="http://schemas.openxmlformats.org/drawingml/2006/table">
            <a:tbl>
              <a:tblPr/>
              <a:tblGrid>
                <a:gridCol w="972820">
                  <a:extLst>
                    <a:ext uri="{9D8B030D-6E8A-4147-A177-3AD203B41FA5}">
                      <a16:colId xmlns:a16="http://schemas.microsoft.com/office/drawing/2014/main" val="20000"/>
                    </a:ext>
                  </a:extLst>
                </a:gridCol>
                <a:gridCol w="513080">
                  <a:extLst>
                    <a:ext uri="{9D8B030D-6E8A-4147-A177-3AD203B41FA5}">
                      <a16:colId xmlns:a16="http://schemas.microsoft.com/office/drawing/2014/main" val="20001"/>
                    </a:ext>
                  </a:extLst>
                </a:gridCol>
                <a:gridCol w="513080">
                  <a:extLst>
                    <a:ext uri="{9D8B030D-6E8A-4147-A177-3AD203B41FA5}">
                      <a16:colId xmlns:a16="http://schemas.microsoft.com/office/drawing/2014/main" val="20002"/>
                    </a:ext>
                  </a:extLst>
                </a:gridCol>
                <a:gridCol w="511810">
                  <a:extLst>
                    <a:ext uri="{9D8B030D-6E8A-4147-A177-3AD203B41FA5}">
                      <a16:colId xmlns:a16="http://schemas.microsoft.com/office/drawing/2014/main" val="20003"/>
                    </a:ext>
                  </a:extLst>
                </a:gridCol>
                <a:gridCol w="512445">
                  <a:extLst>
                    <a:ext uri="{9D8B030D-6E8A-4147-A177-3AD203B41FA5}">
                      <a16:colId xmlns:a16="http://schemas.microsoft.com/office/drawing/2014/main" val="20004"/>
                    </a:ext>
                  </a:extLst>
                </a:gridCol>
                <a:gridCol w="511810">
                  <a:extLst>
                    <a:ext uri="{9D8B030D-6E8A-4147-A177-3AD203B41FA5}">
                      <a16:colId xmlns:a16="http://schemas.microsoft.com/office/drawing/2014/main" val="20005"/>
                    </a:ext>
                  </a:extLst>
                </a:gridCol>
                <a:gridCol w="513715">
                  <a:extLst>
                    <a:ext uri="{9D8B030D-6E8A-4147-A177-3AD203B41FA5}">
                      <a16:colId xmlns:a16="http://schemas.microsoft.com/office/drawing/2014/main" val="20006"/>
                    </a:ext>
                  </a:extLst>
                </a:gridCol>
              </a:tblGrid>
              <a:tr h="215900">
                <a:tc>
                  <a:txBody>
                    <a:bodyPr/>
                    <a:lstStyle/>
                    <a:p>
                      <a:pPr indent="0" algn="ctr">
                        <a:buNone/>
                      </a:pPr>
                      <a:endParaRPr lang="en-US" altLang="en-US" sz="1000" b="1">
                        <a:solidFill>
                          <a:srgbClr val="000000"/>
                        </a:solidFill>
                        <a:latin typeface="Times New Roman Regular" panose="02020503050405090304" charset="0"/>
                        <a:ea typeface="楷体" panose="02010609060101010101" pitchFamily="49" charset="-122"/>
                        <a:cs typeface="Times New Roman Regular" panose="02020503050405090304" charset="0"/>
                      </a:endParaRPr>
                    </a:p>
                  </a:txBody>
                  <a:tcPr marL="12700" marR="12700" marT="12700"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solidFill>
                      <a:srgbClr val="0070C0"/>
                    </a:solidFill>
                  </a:tcPr>
                </a:tc>
                <a:tc>
                  <a:txBody>
                    <a:bodyPr/>
                    <a:lstStyle/>
                    <a:p>
                      <a:pPr indent="0" algn="ctr">
                        <a:buNone/>
                      </a:pPr>
                      <a:r>
                        <a:rPr lang="en-US" sz="1000" b="1">
                          <a:solidFill>
                            <a:srgbClr val="000000"/>
                          </a:solidFill>
                          <a:latin typeface="Times New Roman Regular" panose="02020503050405090304" charset="0"/>
                          <a:ea typeface="楷体" panose="02010609060101010101" pitchFamily="49" charset="-122"/>
                          <a:cs typeface="Times New Roman Regular" panose="02020503050405090304" charset="0"/>
                        </a:rPr>
                        <a:t>2020</a:t>
                      </a:r>
                      <a:endParaRPr lang="en-US" altLang="en-US" sz="1000" b="1">
                        <a:solidFill>
                          <a:srgbClr val="000000"/>
                        </a:solidFill>
                        <a:latin typeface="Times New Roman Regular" panose="02020503050405090304" charset="0"/>
                        <a:ea typeface="楷体" panose="02010609060101010101" pitchFamily="49" charset="-122"/>
                        <a:cs typeface="Times New Roman Regular" panose="02020503050405090304" charset="0"/>
                      </a:endParaRPr>
                    </a:p>
                  </a:txBody>
                  <a:tcPr marL="12700" marR="12700" marT="12700"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solidFill>
                      <a:srgbClr val="0070C0"/>
                    </a:solidFill>
                  </a:tcPr>
                </a:tc>
                <a:tc>
                  <a:txBody>
                    <a:bodyPr/>
                    <a:lstStyle/>
                    <a:p>
                      <a:pPr indent="0" algn="ctr">
                        <a:buNone/>
                      </a:pPr>
                      <a:r>
                        <a:rPr lang="en-US" sz="1000" b="1">
                          <a:solidFill>
                            <a:srgbClr val="000000"/>
                          </a:solidFill>
                          <a:latin typeface="Times New Roman Regular" panose="02020503050405090304" charset="0"/>
                          <a:ea typeface="楷体" panose="02010609060101010101" pitchFamily="49" charset="-122"/>
                          <a:cs typeface="Times New Roman Regular" panose="02020503050405090304" charset="0"/>
                        </a:rPr>
                        <a:t>2021</a:t>
                      </a:r>
                      <a:endParaRPr lang="en-US" altLang="en-US" sz="1000" b="1">
                        <a:solidFill>
                          <a:srgbClr val="000000"/>
                        </a:solidFill>
                        <a:latin typeface="Times New Roman Regular" panose="02020503050405090304" charset="0"/>
                        <a:ea typeface="楷体" panose="02010609060101010101" pitchFamily="49" charset="-122"/>
                        <a:cs typeface="Times New Roman Regular" panose="02020503050405090304" charset="0"/>
                      </a:endParaRPr>
                    </a:p>
                  </a:txBody>
                  <a:tcPr marL="12700" marR="12700" marT="12700"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solidFill>
                      <a:srgbClr val="0070C0"/>
                    </a:solidFill>
                  </a:tcPr>
                </a:tc>
                <a:tc>
                  <a:txBody>
                    <a:bodyPr/>
                    <a:lstStyle/>
                    <a:p>
                      <a:pPr indent="0" algn="ctr">
                        <a:buNone/>
                      </a:pPr>
                      <a:r>
                        <a:rPr lang="en-US" sz="1000" b="1">
                          <a:solidFill>
                            <a:srgbClr val="000000"/>
                          </a:solidFill>
                          <a:latin typeface="Times New Roman Regular" panose="02020503050405090304" charset="0"/>
                          <a:ea typeface="楷体" panose="02010609060101010101" pitchFamily="49" charset="-122"/>
                          <a:cs typeface="Times New Roman Regular" panose="02020503050405090304" charset="0"/>
                        </a:rPr>
                        <a:t>2022</a:t>
                      </a:r>
                      <a:endParaRPr lang="en-US" altLang="en-US" sz="1000" b="1">
                        <a:solidFill>
                          <a:srgbClr val="000000"/>
                        </a:solidFill>
                        <a:latin typeface="Times New Roman Regular" panose="02020503050405090304" charset="0"/>
                        <a:ea typeface="楷体" panose="02010609060101010101" pitchFamily="49" charset="-122"/>
                        <a:cs typeface="Times New Roman Regular" panose="02020503050405090304" charset="0"/>
                      </a:endParaRPr>
                    </a:p>
                  </a:txBody>
                  <a:tcPr marL="12700" marR="12700" marT="12700"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solidFill>
                      <a:srgbClr val="0070C0"/>
                    </a:solidFill>
                  </a:tcPr>
                </a:tc>
                <a:tc>
                  <a:txBody>
                    <a:bodyPr/>
                    <a:lstStyle/>
                    <a:p>
                      <a:pPr indent="0" algn="ctr">
                        <a:buNone/>
                      </a:pPr>
                      <a:r>
                        <a:rPr lang="en-US" sz="1000" b="1">
                          <a:solidFill>
                            <a:srgbClr val="000000"/>
                          </a:solidFill>
                          <a:latin typeface="Times New Roman Regular" panose="02020503050405090304" charset="0"/>
                          <a:ea typeface="楷体" panose="02010609060101010101" pitchFamily="49" charset="-122"/>
                          <a:cs typeface="Times New Roman Regular" panose="02020503050405090304" charset="0"/>
                        </a:rPr>
                        <a:t>2023</a:t>
                      </a:r>
                      <a:endParaRPr lang="en-US" altLang="en-US" sz="1000" b="1">
                        <a:solidFill>
                          <a:srgbClr val="000000"/>
                        </a:solidFill>
                        <a:latin typeface="Times New Roman Regular" panose="02020503050405090304" charset="0"/>
                        <a:ea typeface="楷体" panose="02010609060101010101" pitchFamily="49" charset="-122"/>
                        <a:cs typeface="Times New Roman Regular" panose="02020503050405090304" charset="0"/>
                      </a:endParaRPr>
                    </a:p>
                  </a:txBody>
                  <a:tcPr marL="12700" marR="12700" marT="12700"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solidFill>
                      <a:srgbClr val="0070C0"/>
                    </a:solidFill>
                  </a:tcPr>
                </a:tc>
                <a:tc>
                  <a:txBody>
                    <a:bodyPr/>
                    <a:lstStyle/>
                    <a:p>
                      <a:pPr indent="0" algn="ctr">
                        <a:buNone/>
                      </a:pPr>
                      <a:r>
                        <a:rPr lang="en-US" sz="1000" b="1">
                          <a:solidFill>
                            <a:srgbClr val="000000"/>
                          </a:solidFill>
                          <a:latin typeface="Times New Roman Regular" panose="02020503050405090304" charset="0"/>
                          <a:ea typeface="楷体" panose="02010609060101010101" pitchFamily="49" charset="-122"/>
                          <a:cs typeface="Times New Roman Regular" panose="02020503050405090304" charset="0"/>
                        </a:rPr>
                        <a:t>2024</a:t>
                      </a:r>
                      <a:endParaRPr lang="en-US" altLang="en-US" sz="1000" b="1">
                        <a:solidFill>
                          <a:srgbClr val="000000"/>
                        </a:solidFill>
                        <a:latin typeface="Times New Roman Regular" panose="02020503050405090304" charset="0"/>
                        <a:ea typeface="楷体" panose="02010609060101010101" pitchFamily="49" charset="-122"/>
                        <a:cs typeface="Times New Roman Regular" panose="02020503050405090304" charset="0"/>
                      </a:endParaRPr>
                    </a:p>
                  </a:txBody>
                  <a:tcPr marL="12700" marR="12700" marT="12700"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solidFill>
                      <a:srgbClr val="0070C0"/>
                    </a:solidFill>
                  </a:tcPr>
                </a:tc>
                <a:tc>
                  <a:txBody>
                    <a:bodyPr/>
                    <a:lstStyle/>
                    <a:p>
                      <a:pPr indent="0" algn="ctr">
                        <a:buNone/>
                      </a:pPr>
                      <a:r>
                        <a:rPr lang="en-US" sz="1000" b="1">
                          <a:solidFill>
                            <a:srgbClr val="000000"/>
                          </a:solidFill>
                          <a:latin typeface="Times New Roman Regular" panose="02020503050405090304" charset="0"/>
                          <a:ea typeface="楷体" panose="02010609060101010101" pitchFamily="49" charset="-122"/>
                          <a:cs typeface="Times New Roman Regular" panose="02020503050405090304" charset="0"/>
                        </a:rPr>
                        <a:t>1H2025</a:t>
                      </a:r>
                      <a:endParaRPr lang="en-US" altLang="en-US" sz="1000" b="1">
                        <a:solidFill>
                          <a:srgbClr val="000000"/>
                        </a:solidFill>
                        <a:latin typeface="Times New Roman Regular" panose="02020503050405090304" charset="0"/>
                        <a:ea typeface="楷体" panose="02010609060101010101" pitchFamily="49" charset="-122"/>
                        <a:cs typeface="Times New Roman Regular" panose="02020503050405090304" charset="0"/>
                      </a:endParaRPr>
                    </a:p>
                  </a:txBody>
                  <a:tcPr marL="12700" marR="12700" marT="12700" anchor="ctr">
                    <a:lnL w="12700">
                      <a:solidFill>
                        <a:schemeClr val="tx1"/>
                      </a:solidFill>
                      <a:prstDash val="solid"/>
                    </a:lnL>
                    <a:lnR w="12700" cap="flat">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solidFill>
                      <a:srgbClr val="0070C0"/>
                    </a:solidFill>
                  </a:tcPr>
                </a:tc>
                <a:extLst>
                  <a:ext uri="{0D108BD9-81ED-4DB2-BD59-A6C34878D82A}">
                    <a16:rowId xmlns:a16="http://schemas.microsoft.com/office/drawing/2014/main" val="10000"/>
                  </a:ext>
                </a:extLst>
              </a:tr>
              <a:tr h="215900">
                <a:tc gridSpan="7">
                  <a:txBody>
                    <a:bodyPr/>
                    <a:lstStyle/>
                    <a:p>
                      <a:pPr indent="0" algn="l">
                        <a:buNone/>
                      </a:pPr>
                      <a:r>
                        <a:rPr lang="zh-CN" sz="1000" b="0">
                          <a:solidFill>
                            <a:srgbClr val="000000"/>
                          </a:solidFill>
                          <a:latin typeface="Times New Roman Regular" panose="02020503050405090304" charset="0"/>
                          <a:ea typeface="楷体" panose="02010609060101010101" pitchFamily="49" charset="-122"/>
                        </a:rPr>
                        <a:t>龙湖地产</a:t>
                      </a:r>
                      <a:endParaRPr lang="zh-CN" altLang="en-US" sz="1000" b="0">
                        <a:solidFill>
                          <a:srgbClr val="000000"/>
                        </a:solidFill>
                        <a:latin typeface="Times New Roman Regular" panose="02020503050405090304" charset="0"/>
                        <a:ea typeface="楷体" panose="02010609060101010101" pitchFamily="49" charset="-122"/>
                      </a:endParaRPr>
                    </a:p>
                  </a:txBody>
                  <a:tcPr marL="12700" marR="12700" marT="12700" anchor="ctr">
                    <a:lnL w="12700">
                      <a:solidFill>
                        <a:schemeClr val="tx1"/>
                      </a:solidFill>
                      <a:prstDash val="solid"/>
                    </a:lnL>
                    <a:lnR w="12700" cap="flat">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hMerge="1">
                  <a:txBody>
                    <a:bodyPr/>
                    <a:lstStyle/>
                    <a:p>
                      <a:endParaRPr lang="zh-CN"/>
                    </a:p>
                  </a:txBody>
                  <a:tcPr marL="12700" marR="12700" marT="12700"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hMerge="1">
                  <a:txBody>
                    <a:bodyPr/>
                    <a:lstStyle/>
                    <a:p>
                      <a:endParaRPr lang="zh-CN"/>
                    </a:p>
                  </a:txBody>
                  <a:tcPr marL="12700" marR="12700" marT="12700"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hMerge="1">
                  <a:txBody>
                    <a:bodyPr/>
                    <a:lstStyle/>
                    <a:p>
                      <a:endParaRPr lang="zh-CN"/>
                    </a:p>
                  </a:txBody>
                  <a:tcPr marL="12700" marR="12700" marT="12700"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hMerge="1">
                  <a:txBody>
                    <a:bodyPr/>
                    <a:lstStyle/>
                    <a:p>
                      <a:endParaRPr lang="zh-CN"/>
                    </a:p>
                  </a:txBody>
                  <a:tcPr marL="12700" marR="12700" marT="12700"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hMerge="1">
                  <a:txBody>
                    <a:bodyPr/>
                    <a:lstStyle/>
                    <a:p>
                      <a:endParaRPr lang="zh-CN"/>
                    </a:p>
                  </a:txBody>
                  <a:tcPr marL="12700" marR="12700" marT="12700"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hMerge="1">
                  <a:txBody>
                    <a:bodyPr/>
                    <a:lstStyle/>
                    <a:p>
                      <a:endParaRPr lang="zh-CN"/>
                    </a:p>
                  </a:txBody>
                  <a:tcPr marL="12700" marR="12700" marT="12700" anchor="ctr">
                    <a:lnL w="12700">
                      <a:solidFill>
                        <a:schemeClr val="tx1"/>
                      </a:solidFill>
                      <a:prstDash val="solid"/>
                    </a:lnL>
                    <a:lnR w="12700" cap="flat">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extLst>
                  <a:ext uri="{0D108BD9-81ED-4DB2-BD59-A6C34878D82A}">
                    <a16:rowId xmlns:a16="http://schemas.microsoft.com/office/drawing/2014/main" val="10001"/>
                  </a:ext>
                </a:extLst>
              </a:tr>
              <a:tr h="215900">
                <a:tc>
                  <a:txBody>
                    <a:bodyPr/>
                    <a:lstStyle/>
                    <a:p>
                      <a:pPr indent="0" algn="ctr">
                        <a:buNone/>
                      </a:pPr>
                      <a:r>
                        <a:rPr lang="zh-CN" sz="1000" b="0">
                          <a:solidFill>
                            <a:srgbClr val="000000"/>
                          </a:solidFill>
                          <a:latin typeface="Times New Roman Regular" panose="02020503050405090304" charset="0"/>
                          <a:ea typeface="楷体" panose="02010609060101010101" pitchFamily="49" charset="-122"/>
                          <a:cs typeface="Times New Roman Regular" panose="02020503050405090304" charset="0"/>
                        </a:rPr>
                        <a:t>同店销售额</a:t>
                      </a:r>
                    </a:p>
                    <a:p>
                      <a:pPr indent="0" algn="ctr">
                        <a:buNone/>
                      </a:pPr>
                      <a:r>
                        <a:rPr lang="zh-CN" sz="1000" b="0">
                          <a:solidFill>
                            <a:srgbClr val="000000"/>
                          </a:solidFill>
                          <a:latin typeface="Times New Roman Regular" panose="02020503050405090304" charset="0"/>
                          <a:ea typeface="楷体" panose="02010609060101010101" pitchFamily="49" charset="-122"/>
                          <a:cs typeface="Times New Roman Regular" panose="02020503050405090304" charset="0"/>
                        </a:rPr>
                        <a:t>yoy</a:t>
                      </a:r>
                      <a:endParaRPr lang="zh-CN" altLang="en-US" sz="1000" b="0">
                        <a:solidFill>
                          <a:srgbClr val="000000"/>
                        </a:solidFill>
                        <a:latin typeface="Times New Roman Regular" panose="02020503050405090304" charset="0"/>
                        <a:ea typeface="楷体" panose="02010609060101010101" pitchFamily="49" charset="-122"/>
                        <a:cs typeface="Times New Roman Regular" panose="02020503050405090304" charset="0"/>
                      </a:endParaRPr>
                    </a:p>
                  </a:txBody>
                  <a:tcPr marL="12700" marR="12700" marT="12700"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a:txBody>
                    <a:bodyPr/>
                    <a:lstStyle/>
                    <a:p>
                      <a:pPr indent="0" algn="ctr">
                        <a:buNone/>
                      </a:pPr>
                      <a:r>
                        <a:rPr lang="en-US" sz="1000" b="0">
                          <a:solidFill>
                            <a:srgbClr val="000000"/>
                          </a:solidFill>
                          <a:latin typeface="Times New Roman Regular" panose="02020503050405090304" charset="0"/>
                          <a:ea typeface="楷体" panose="02010609060101010101" pitchFamily="49" charset="-122"/>
                          <a:cs typeface="Times New Roman Regular" panose="02020503050405090304" charset="0"/>
                        </a:rPr>
                        <a:t>-7%</a:t>
                      </a:r>
                      <a:endParaRPr lang="en-US" altLang="en-US" sz="1000" b="0">
                        <a:solidFill>
                          <a:srgbClr val="000000"/>
                        </a:solidFill>
                        <a:latin typeface="Times New Roman Regular" panose="02020503050405090304" charset="0"/>
                        <a:ea typeface="楷体" panose="02010609060101010101" pitchFamily="49" charset="-122"/>
                        <a:cs typeface="Times New Roman Regular" panose="02020503050405090304" charset="0"/>
                      </a:endParaRPr>
                    </a:p>
                  </a:txBody>
                  <a:tcPr marL="12700" marR="12700" marT="12700"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a:txBody>
                    <a:bodyPr/>
                    <a:lstStyle/>
                    <a:p>
                      <a:pPr indent="0" algn="ctr">
                        <a:buNone/>
                      </a:pPr>
                      <a:r>
                        <a:rPr lang="en-US" sz="1000" b="0">
                          <a:solidFill>
                            <a:srgbClr val="000000"/>
                          </a:solidFill>
                          <a:latin typeface="Times New Roman Regular" panose="02020503050405090304" charset="0"/>
                          <a:ea typeface="楷体" panose="02010609060101010101" pitchFamily="49" charset="-122"/>
                          <a:cs typeface="Times New Roman Regular" panose="02020503050405090304" charset="0"/>
                        </a:rPr>
                        <a:t>20%</a:t>
                      </a:r>
                      <a:endParaRPr lang="en-US" altLang="en-US" sz="1000" b="0">
                        <a:solidFill>
                          <a:srgbClr val="000000"/>
                        </a:solidFill>
                        <a:latin typeface="Times New Roman Regular" panose="02020503050405090304" charset="0"/>
                        <a:ea typeface="楷体" panose="02010609060101010101" pitchFamily="49" charset="-122"/>
                        <a:cs typeface="Times New Roman Regular" panose="02020503050405090304" charset="0"/>
                      </a:endParaRPr>
                    </a:p>
                  </a:txBody>
                  <a:tcPr marL="12700" marR="12700" marT="12700"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a:txBody>
                    <a:bodyPr/>
                    <a:lstStyle/>
                    <a:p>
                      <a:pPr indent="0" algn="ctr">
                        <a:buNone/>
                      </a:pPr>
                      <a:r>
                        <a:rPr lang="zh-CN" sz="1000" b="0">
                          <a:solidFill>
                            <a:srgbClr val="000000"/>
                          </a:solidFill>
                          <a:latin typeface="Times New Roman Regular" panose="02020503050405090304" charset="0"/>
                          <a:ea typeface="楷体" panose="02010609060101010101" pitchFamily="49" charset="-122"/>
                        </a:rPr>
                        <a:t>下滑</a:t>
                      </a:r>
                      <a:endParaRPr lang="zh-CN" altLang="en-US" sz="1000" b="0">
                        <a:solidFill>
                          <a:srgbClr val="000000"/>
                        </a:solidFill>
                        <a:latin typeface="Times New Roman Regular" panose="02020503050405090304" charset="0"/>
                        <a:ea typeface="楷体" panose="02010609060101010101" pitchFamily="49" charset="-122"/>
                      </a:endParaRPr>
                    </a:p>
                  </a:txBody>
                  <a:tcPr marL="12700" marR="12700" marT="12700"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a:txBody>
                    <a:bodyPr/>
                    <a:lstStyle/>
                    <a:p>
                      <a:pPr indent="0" algn="ctr">
                        <a:buNone/>
                      </a:pPr>
                      <a:r>
                        <a:rPr lang="en-US" sz="1000" b="0">
                          <a:solidFill>
                            <a:srgbClr val="000000"/>
                          </a:solidFill>
                          <a:latin typeface="Times New Roman Regular" panose="02020503050405090304" charset="0"/>
                          <a:ea typeface="楷体" panose="02010609060101010101" pitchFamily="49" charset="-122"/>
                          <a:cs typeface="Times New Roman Regular" panose="02020503050405090304" charset="0"/>
                        </a:rPr>
                        <a:t>30%</a:t>
                      </a:r>
                      <a:endParaRPr lang="en-US" altLang="en-US" sz="1000" b="0">
                        <a:solidFill>
                          <a:srgbClr val="000000"/>
                        </a:solidFill>
                        <a:latin typeface="Times New Roman Regular" panose="02020503050405090304" charset="0"/>
                        <a:ea typeface="楷体" panose="02010609060101010101" pitchFamily="49" charset="-122"/>
                        <a:cs typeface="Times New Roman Regular" panose="02020503050405090304" charset="0"/>
                      </a:endParaRPr>
                    </a:p>
                  </a:txBody>
                  <a:tcPr marL="12700" marR="12700" marT="12700"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a:txBody>
                    <a:bodyPr/>
                    <a:lstStyle/>
                    <a:p>
                      <a:pPr indent="0" algn="ctr">
                        <a:buNone/>
                      </a:pPr>
                      <a:r>
                        <a:rPr lang="zh-CN" sz="1000" b="0">
                          <a:solidFill>
                            <a:srgbClr val="000000"/>
                          </a:solidFill>
                          <a:latin typeface="Times New Roman Regular" panose="02020503050405090304" charset="0"/>
                          <a:ea typeface="楷体" panose="02010609060101010101" pitchFamily="49" charset="-122"/>
                        </a:rPr>
                        <a:t>增长</a:t>
                      </a:r>
                      <a:endParaRPr lang="zh-CN" altLang="en-US" sz="1000" b="0">
                        <a:solidFill>
                          <a:srgbClr val="000000"/>
                        </a:solidFill>
                        <a:latin typeface="Times New Roman Regular" panose="02020503050405090304" charset="0"/>
                        <a:ea typeface="楷体" panose="02010609060101010101" pitchFamily="49" charset="-122"/>
                      </a:endParaRPr>
                    </a:p>
                  </a:txBody>
                  <a:tcPr marL="12700" marR="12700" marT="12700"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a:txBody>
                    <a:bodyPr/>
                    <a:lstStyle/>
                    <a:p>
                      <a:pPr indent="0" algn="ctr">
                        <a:buNone/>
                      </a:pPr>
                      <a:r>
                        <a:rPr lang="en-US" sz="1000" b="0">
                          <a:solidFill>
                            <a:srgbClr val="000000"/>
                          </a:solidFill>
                          <a:latin typeface="Times New Roman Regular" panose="02020503050405090304" charset="0"/>
                          <a:ea typeface="楷体" panose="02010609060101010101" pitchFamily="49" charset="-122"/>
                          <a:cs typeface="Times New Roman Regular" panose="02020503050405090304" charset="0"/>
                        </a:rPr>
                        <a:t>17%</a:t>
                      </a:r>
                      <a:endParaRPr lang="en-US" altLang="en-US" sz="1000" b="0">
                        <a:solidFill>
                          <a:srgbClr val="000000"/>
                        </a:solidFill>
                        <a:latin typeface="Times New Roman Regular" panose="02020503050405090304" charset="0"/>
                        <a:ea typeface="楷体" panose="02010609060101010101" pitchFamily="49" charset="-122"/>
                        <a:cs typeface="Times New Roman Regular" panose="02020503050405090304" charset="0"/>
                      </a:endParaRPr>
                    </a:p>
                  </a:txBody>
                  <a:tcPr marL="12700" marR="12700" marT="12700" anchor="ctr">
                    <a:lnL w="12700">
                      <a:solidFill>
                        <a:schemeClr val="tx1"/>
                      </a:solidFill>
                      <a:prstDash val="solid"/>
                    </a:lnL>
                    <a:lnR w="12700" cap="flat">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extLst>
                  <a:ext uri="{0D108BD9-81ED-4DB2-BD59-A6C34878D82A}">
                    <a16:rowId xmlns:a16="http://schemas.microsoft.com/office/drawing/2014/main" val="10002"/>
                  </a:ext>
                </a:extLst>
              </a:tr>
              <a:tr h="363220">
                <a:tc>
                  <a:txBody>
                    <a:bodyPr/>
                    <a:lstStyle/>
                    <a:p>
                      <a:pPr indent="0" algn="ctr">
                        <a:buNone/>
                      </a:pPr>
                      <a:r>
                        <a:rPr lang="zh-CN" sz="1000" b="0">
                          <a:solidFill>
                            <a:srgbClr val="000000"/>
                          </a:solidFill>
                          <a:latin typeface="Times New Roman Regular" panose="02020503050405090304" charset="0"/>
                          <a:ea typeface="楷体" panose="02010609060101010101" pitchFamily="49" charset="-122"/>
                          <a:cs typeface="Times New Roman Regular" panose="02020503050405090304" charset="0"/>
                        </a:rPr>
                        <a:t>同店日均客流yoy</a:t>
                      </a:r>
                      <a:endParaRPr lang="zh-CN" altLang="en-US" sz="1000" b="0">
                        <a:solidFill>
                          <a:srgbClr val="000000"/>
                        </a:solidFill>
                        <a:latin typeface="Times New Roman Regular" panose="02020503050405090304" charset="0"/>
                        <a:ea typeface="楷体" panose="02010609060101010101" pitchFamily="49" charset="-122"/>
                        <a:cs typeface="Times New Roman Regular" panose="02020503050405090304" charset="0"/>
                      </a:endParaRPr>
                    </a:p>
                  </a:txBody>
                  <a:tcPr marL="12700" marR="12700" marT="12700"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a:txBody>
                    <a:bodyPr/>
                    <a:lstStyle/>
                    <a:p>
                      <a:pPr indent="0" algn="ctr">
                        <a:buNone/>
                      </a:pPr>
                      <a:r>
                        <a:rPr lang="en-US" sz="1000" b="0">
                          <a:solidFill>
                            <a:srgbClr val="000000"/>
                          </a:solidFill>
                          <a:latin typeface="Times New Roman Regular" panose="02020503050405090304" charset="0"/>
                          <a:ea typeface="楷体" panose="02010609060101010101" pitchFamily="49" charset="-122"/>
                          <a:cs typeface="Times New Roman Regular" panose="02020503050405090304" charset="0"/>
                        </a:rPr>
                        <a:t>-20%</a:t>
                      </a:r>
                      <a:endParaRPr lang="en-US" altLang="en-US" sz="1000" b="0">
                        <a:solidFill>
                          <a:srgbClr val="000000"/>
                        </a:solidFill>
                        <a:latin typeface="Times New Roman Regular" panose="02020503050405090304" charset="0"/>
                        <a:ea typeface="楷体" panose="02010609060101010101" pitchFamily="49" charset="-122"/>
                        <a:cs typeface="Times New Roman Regular" panose="02020503050405090304" charset="0"/>
                      </a:endParaRPr>
                    </a:p>
                  </a:txBody>
                  <a:tcPr marL="12700" marR="12700" marT="12700"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a:txBody>
                    <a:bodyPr/>
                    <a:lstStyle/>
                    <a:p>
                      <a:pPr indent="0" algn="ctr">
                        <a:buNone/>
                      </a:pPr>
                      <a:r>
                        <a:rPr lang="en-US" sz="1000" b="0">
                          <a:solidFill>
                            <a:srgbClr val="000000"/>
                          </a:solidFill>
                          <a:latin typeface="Times New Roman Regular" panose="02020503050405090304" charset="0"/>
                          <a:ea typeface="楷体" panose="02010609060101010101" pitchFamily="49" charset="-122"/>
                          <a:cs typeface="Times New Roman Regular" panose="02020503050405090304" charset="0"/>
                        </a:rPr>
                        <a:t>20%</a:t>
                      </a:r>
                      <a:endParaRPr lang="en-US" altLang="en-US" sz="1000" b="0">
                        <a:solidFill>
                          <a:srgbClr val="000000"/>
                        </a:solidFill>
                        <a:latin typeface="Times New Roman Regular" panose="02020503050405090304" charset="0"/>
                        <a:ea typeface="楷体" panose="02010609060101010101" pitchFamily="49" charset="-122"/>
                        <a:cs typeface="Times New Roman Regular" panose="02020503050405090304" charset="0"/>
                      </a:endParaRPr>
                    </a:p>
                  </a:txBody>
                  <a:tcPr marL="12700" marR="12700" marT="12700"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a:txBody>
                    <a:bodyPr/>
                    <a:lstStyle/>
                    <a:p>
                      <a:pPr indent="0" algn="ctr">
                        <a:buNone/>
                      </a:pPr>
                      <a:r>
                        <a:rPr lang="zh-CN" sz="1000" b="0">
                          <a:solidFill>
                            <a:srgbClr val="000000"/>
                          </a:solidFill>
                          <a:latin typeface="Times New Roman Regular" panose="02020503050405090304" charset="0"/>
                          <a:ea typeface="楷体" panose="02010609060101010101" pitchFamily="49" charset="-122"/>
                        </a:rPr>
                        <a:t>下滑</a:t>
                      </a:r>
                      <a:endParaRPr lang="zh-CN" altLang="en-US" sz="1000" b="0">
                        <a:solidFill>
                          <a:srgbClr val="000000"/>
                        </a:solidFill>
                        <a:latin typeface="Times New Roman Regular" panose="02020503050405090304" charset="0"/>
                        <a:ea typeface="楷体" panose="02010609060101010101" pitchFamily="49" charset="-122"/>
                      </a:endParaRPr>
                    </a:p>
                  </a:txBody>
                  <a:tcPr marL="12700" marR="12700" marT="12700"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a:txBody>
                    <a:bodyPr/>
                    <a:lstStyle/>
                    <a:p>
                      <a:pPr indent="0" algn="ctr">
                        <a:buNone/>
                      </a:pPr>
                      <a:r>
                        <a:rPr lang="en-US" sz="1000" b="0">
                          <a:solidFill>
                            <a:srgbClr val="000000"/>
                          </a:solidFill>
                          <a:latin typeface="Times New Roman Regular" panose="02020503050405090304" charset="0"/>
                          <a:ea typeface="楷体" panose="02010609060101010101" pitchFamily="49" charset="-122"/>
                          <a:cs typeface="Times New Roman Regular" panose="02020503050405090304" charset="0"/>
                        </a:rPr>
                        <a:t>28%</a:t>
                      </a:r>
                      <a:endParaRPr lang="en-US" altLang="en-US" sz="1000" b="0">
                        <a:solidFill>
                          <a:srgbClr val="000000"/>
                        </a:solidFill>
                        <a:latin typeface="Times New Roman Regular" panose="02020503050405090304" charset="0"/>
                        <a:ea typeface="楷体" panose="02010609060101010101" pitchFamily="49" charset="-122"/>
                        <a:cs typeface="Times New Roman Regular" panose="02020503050405090304" charset="0"/>
                      </a:endParaRPr>
                    </a:p>
                  </a:txBody>
                  <a:tcPr marL="12700" marR="12700" marT="12700"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a:txBody>
                    <a:bodyPr/>
                    <a:lstStyle/>
                    <a:p>
                      <a:pPr indent="0" algn="ctr">
                        <a:buNone/>
                      </a:pPr>
                      <a:r>
                        <a:rPr lang="zh-CN" sz="1000" b="0">
                          <a:solidFill>
                            <a:srgbClr val="000000"/>
                          </a:solidFill>
                          <a:latin typeface="Times New Roman Regular" panose="02020503050405090304" charset="0"/>
                          <a:ea typeface="楷体" panose="02010609060101010101" pitchFamily="49" charset="-122"/>
                        </a:rPr>
                        <a:t>增长</a:t>
                      </a:r>
                      <a:endParaRPr lang="zh-CN" altLang="en-US" sz="1000" b="0">
                        <a:solidFill>
                          <a:srgbClr val="000000"/>
                        </a:solidFill>
                        <a:latin typeface="Times New Roman Regular" panose="02020503050405090304" charset="0"/>
                        <a:ea typeface="楷体" panose="02010609060101010101" pitchFamily="49" charset="-122"/>
                      </a:endParaRPr>
                    </a:p>
                  </a:txBody>
                  <a:tcPr marL="12700" marR="12700" marT="12700"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a:txBody>
                    <a:bodyPr/>
                    <a:lstStyle/>
                    <a:p>
                      <a:pPr indent="0" algn="ctr">
                        <a:buNone/>
                      </a:pPr>
                      <a:r>
                        <a:rPr lang="en-US" sz="1000" b="0">
                          <a:solidFill>
                            <a:srgbClr val="000000"/>
                          </a:solidFill>
                          <a:latin typeface="Times New Roman Regular" panose="02020503050405090304" charset="0"/>
                          <a:ea typeface="楷体" panose="02010609060101010101" pitchFamily="49" charset="-122"/>
                          <a:cs typeface="Times New Roman Regular" panose="02020503050405090304" charset="0"/>
                        </a:rPr>
                        <a:t>11%</a:t>
                      </a:r>
                      <a:endParaRPr lang="en-US" altLang="en-US" sz="1000" b="0">
                        <a:solidFill>
                          <a:srgbClr val="000000"/>
                        </a:solidFill>
                        <a:latin typeface="Times New Roman Regular" panose="02020503050405090304" charset="0"/>
                        <a:ea typeface="楷体" panose="02010609060101010101" pitchFamily="49" charset="-122"/>
                        <a:cs typeface="Times New Roman Regular" panose="02020503050405090304" charset="0"/>
                      </a:endParaRPr>
                    </a:p>
                  </a:txBody>
                  <a:tcPr marL="12700" marR="12700" marT="12700" anchor="ctr">
                    <a:lnL w="12700">
                      <a:solidFill>
                        <a:schemeClr val="tx1"/>
                      </a:solidFill>
                      <a:prstDash val="solid"/>
                    </a:lnL>
                    <a:lnR w="12700" cap="flat">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extLst>
                  <a:ext uri="{0D108BD9-81ED-4DB2-BD59-A6C34878D82A}">
                    <a16:rowId xmlns:a16="http://schemas.microsoft.com/office/drawing/2014/main" val="10003"/>
                  </a:ext>
                </a:extLst>
              </a:tr>
              <a:tr h="215900">
                <a:tc gridSpan="7">
                  <a:txBody>
                    <a:bodyPr/>
                    <a:lstStyle/>
                    <a:p>
                      <a:pPr indent="0" algn="l">
                        <a:buNone/>
                      </a:pPr>
                      <a:r>
                        <a:rPr lang="zh-CN" sz="1000" b="0">
                          <a:solidFill>
                            <a:srgbClr val="000000"/>
                          </a:solidFill>
                          <a:latin typeface="Times New Roman Regular" panose="02020503050405090304" charset="0"/>
                          <a:ea typeface="楷体" panose="02010609060101010101" pitchFamily="49" charset="-122"/>
                        </a:rPr>
                        <a:t>大悦城控股</a:t>
                      </a:r>
                      <a:endParaRPr lang="zh-CN" altLang="en-US" sz="1000" b="0">
                        <a:solidFill>
                          <a:srgbClr val="000000"/>
                        </a:solidFill>
                        <a:latin typeface="Times New Roman Regular" panose="02020503050405090304" charset="0"/>
                        <a:ea typeface="楷体" panose="02010609060101010101" pitchFamily="49" charset="-122"/>
                      </a:endParaRPr>
                    </a:p>
                  </a:txBody>
                  <a:tcPr marL="12700" marR="12700" marT="12700" anchor="ctr">
                    <a:lnL w="12700">
                      <a:solidFill>
                        <a:schemeClr val="tx1"/>
                      </a:solidFill>
                      <a:prstDash val="solid"/>
                    </a:lnL>
                    <a:lnR w="12700" cap="flat">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hMerge="1">
                  <a:txBody>
                    <a:bodyPr/>
                    <a:lstStyle/>
                    <a:p>
                      <a:endParaRPr lang="zh-CN"/>
                    </a:p>
                  </a:txBody>
                  <a:tcPr marL="12700" marR="12700" marT="12700"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hMerge="1">
                  <a:txBody>
                    <a:bodyPr/>
                    <a:lstStyle/>
                    <a:p>
                      <a:endParaRPr lang="zh-CN"/>
                    </a:p>
                  </a:txBody>
                  <a:tcPr marL="12700" marR="12700" marT="12700"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hMerge="1">
                  <a:txBody>
                    <a:bodyPr/>
                    <a:lstStyle/>
                    <a:p>
                      <a:endParaRPr lang="zh-CN"/>
                    </a:p>
                  </a:txBody>
                  <a:tcPr marL="12700" marR="12700" marT="12700"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hMerge="1">
                  <a:txBody>
                    <a:bodyPr/>
                    <a:lstStyle/>
                    <a:p>
                      <a:endParaRPr lang="zh-CN"/>
                    </a:p>
                  </a:txBody>
                  <a:tcPr marL="12700" marR="12700" marT="12700"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hMerge="1">
                  <a:txBody>
                    <a:bodyPr/>
                    <a:lstStyle/>
                    <a:p>
                      <a:endParaRPr lang="zh-CN"/>
                    </a:p>
                  </a:txBody>
                  <a:tcPr marL="12700" marR="12700" marT="12700"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hMerge="1">
                  <a:txBody>
                    <a:bodyPr/>
                    <a:lstStyle/>
                    <a:p>
                      <a:endParaRPr lang="zh-CN"/>
                    </a:p>
                  </a:txBody>
                  <a:tcPr marL="12700" marR="12700" marT="12700" anchor="ctr">
                    <a:lnL w="12700">
                      <a:solidFill>
                        <a:schemeClr val="tx1"/>
                      </a:solidFill>
                      <a:prstDash val="solid"/>
                    </a:lnL>
                    <a:lnR w="12700" cap="flat">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extLst>
                  <a:ext uri="{0D108BD9-81ED-4DB2-BD59-A6C34878D82A}">
                    <a16:rowId xmlns:a16="http://schemas.microsoft.com/office/drawing/2014/main" val="10004"/>
                  </a:ext>
                </a:extLst>
              </a:tr>
              <a:tr h="215900">
                <a:tc>
                  <a:txBody>
                    <a:bodyPr/>
                    <a:lstStyle/>
                    <a:p>
                      <a:pPr indent="0" algn="ctr">
                        <a:buNone/>
                      </a:pPr>
                      <a:r>
                        <a:rPr lang="zh-CN" sz="1000" b="0">
                          <a:solidFill>
                            <a:srgbClr val="000000"/>
                          </a:solidFill>
                          <a:latin typeface="Times New Roman Regular" panose="02020503050405090304" charset="0"/>
                          <a:ea typeface="楷体" panose="02010609060101010101" pitchFamily="49" charset="-122"/>
                          <a:cs typeface="Times New Roman Regular" panose="02020503050405090304" charset="0"/>
                        </a:rPr>
                        <a:t>同店销售额</a:t>
                      </a:r>
                    </a:p>
                    <a:p>
                      <a:pPr indent="0" algn="ctr">
                        <a:buNone/>
                      </a:pPr>
                      <a:r>
                        <a:rPr lang="zh-CN" sz="1000" b="0">
                          <a:solidFill>
                            <a:srgbClr val="000000"/>
                          </a:solidFill>
                          <a:latin typeface="Times New Roman Regular" panose="02020503050405090304" charset="0"/>
                          <a:ea typeface="楷体" panose="02010609060101010101" pitchFamily="49" charset="-122"/>
                          <a:cs typeface="Times New Roman Regular" panose="02020503050405090304" charset="0"/>
                        </a:rPr>
                        <a:t>yoy*</a:t>
                      </a:r>
                      <a:endParaRPr lang="zh-CN" altLang="en-US" sz="1000" b="0">
                        <a:solidFill>
                          <a:srgbClr val="000000"/>
                        </a:solidFill>
                        <a:latin typeface="Times New Roman Regular" panose="02020503050405090304" charset="0"/>
                        <a:ea typeface="楷体" panose="02010609060101010101" pitchFamily="49" charset="-122"/>
                        <a:cs typeface="Times New Roman Regular" panose="02020503050405090304" charset="0"/>
                      </a:endParaRPr>
                    </a:p>
                  </a:txBody>
                  <a:tcPr marL="12700" marR="12700" marT="12700"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a:txBody>
                    <a:bodyPr/>
                    <a:lstStyle/>
                    <a:p>
                      <a:pPr indent="0" algn="ctr">
                        <a:buNone/>
                      </a:pPr>
                      <a:endParaRPr lang="zh-CN" altLang="en-US" sz="1000">
                        <a:latin typeface="Times New Roman Regular" panose="02020503050405090304" charset="0"/>
                        <a:ea typeface="楷体" panose="02010609060101010101" pitchFamily="49" charset="-122"/>
                        <a:cs typeface="Times New Roman Regular" panose="02020503050405090304" charset="0"/>
                      </a:endParaRPr>
                    </a:p>
                  </a:txBody>
                  <a:tcPr marL="12700" marR="12700" marT="12700"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a:txBody>
                    <a:bodyPr/>
                    <a:lstStyle/>
                    <a:p>
                      <a:pPr indent="0" algn="ctr">
                        <a:buNone/>
                      </a:pPr>
                      <a:r>
                        <a:rPr lang="en-US" sz="1000" b="0">
                          <a:solidFill>
                            <a:srgbClr val="000000"/>
                          </a:solidFill>
                          <a:latin typeface="Times New Roman Regular" panose="02020503050405090304" charset="0"/>
                          <a:ea typeface="楷体" panose="02010609060101010101" pitchFamily="49" charset="-122"/>
                          <a:cs typeface="Times New Roman Regular" panose="02020503050405090304" charset="0"/>
                        </a:rPr>
                        <a:t>-7%</a:t>
                      </a:r>
                      <a:endParaRPr lang="en-US" altLang="en-US" sz="1000" b="0">
                        <a:solidFill>
                          <a:srgbClr val="000000"/>
                        </a:solidFill>
                        <a:latin typeface="Times New Roman Regular" panose="02020503050405090304" charset="0"/>
                        <a:ea typeface="楷体" panose="02010609060101010101" pitchFamily="49" charset="-122"/>
                        <a:cs typeface="Times New Roman Regular" panose="02020503050405090304" charset="0"/>
                      </a:endParaRPr>
                    </a:p>
                  </a:txBody>
                  <a:tcPr marL="12700" marR="12700" marT="12700"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a:txBody>
                    <a:bodyPr/>
                    <a:lstStyle/>
                    <a:p>
                      <a:pPr indent="0" algn="ctr">
                        <a:buNone/>
                      </a:pPr>
                      <a:r>
                        <a:rPr lang="en-US" sz="1000" b="0">
                          <a:solidFill>
                            <a:srgbClr val="000000"/>
                          </a:solidFill>
                          <a:latin typeface="Times New Roman Regular" panose="02020503050405090304" charset="0"/>
                          <a:ea typeface="楷体" panose="02010609060101010101" pitchFamily="49" charset="-122"/>
                          <a:cs typeface="Times New Roman Regular" panose="02020503050405090304" charset="0"/>
                        </a:rPr>
                        <a:t>-11%</a:t>
                      </a:r>
                      <a:endParaRPr lang="en-US" altLang="en-US" sz="1000" b="0">
                        <a:solidFill>
                          <a:srgbClr val="000000"/>
                        </a:solidFill>
                        <a:latin typeface="Times New Roman Regular" panose="02020503050405090304" charset="0"/>
                        <a:ea typeface="楷体" panose="02010609060101010101" pitchFamily="49" charset="-122"/>
                        <a:cs typeface="Times New Roman Regular" panose="02020503050405090304" charset="0"/>
                      </a:endParaRPr>
                    </a:p>
                  </a:txBody>
                  <a:tcPr marL="12700" marR="12700" marT="12700"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a:txBody>
                    <a:bodyPr/>
                    <a:lstStyle/>
                    <a:p>
                      <a:pPr indent="0" algn="ctr">
                        <a:buNone/>
                      </a:pPr>
                      <a:r>
                        <a:rPr lang="en-US" sz="1000" b="0">
                          <a:solidFill>
                            <a:srgbClr val="000000"/>
                          </a:solidFill>
                          <a:latin typeface="Times New Roman Regular" panose="02020503050405090304" charset="0"/>
                          <a:ea typeface="楷体" panose="02010609060101010101" pitchFamily="49" charset="-122"/>
                          <a:cs typeface="Times New Roman Regular" panose="02020503050405090304" charset="0"/>
                        </a:rPr>
                        <a:t>26%</a:t>
                      </a:r>
                      <a:endParaRPr lang="en-US" altLang="en-US" sz="1000" b="0">
                        <a:solidFill>
                          <a:srgbClr val="000000"/>
                        </a:solidFill>
                        <a:latin typeface="Times New Roman Regular" panose="02020503050405090304" charset="0"/>
                        <a:ea typeface="楷体" panose="02010609060101010101" pitchFamily="49" charset="-122"/>
                        <a:cs typeface="Times New Roman Regular" panose="02020503050405090304" charset="0"/>
                      </a:endParaRPr>
                    </a:p>
                  </a:txBody>
                  <a:tcPr marL="12700" marR="12700" marT="12700"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a:txBody>
                    <a:bodyPr/>
                    <a:lstStyle/>
                    <a:p>
                      <a:pPr indent="0" algn="ctr">
                        <a:buNone/>
                      </a:pPr>
                      <a:r>
                        <a:rPr lang="en-US" sz="1000" b="0">
                          <a:solidFill>
                            <a:srgbClr val="000000"/>
                          </a:solidFill>
                          <a:latin typeface="Times New Roman Regular" panose="02020503050405090304" charset="0"/>
                          <a:ea typeface="楷体" panose="02010609060101010101" pitchFamily="49" charset="-122"/>
                          <a:cs typeface="Times New Roman Regular" panose="02020503050405090304" charset="0"/>
                        </a:rPr>
                        <a:t>13%</a:t>
                      </a:r>
                      <a:endParaRPr lang="en-US" altLang="en-US" sz="1000" b="0">
                        <a:solidFill>
                          <a:srgbClr val="000000"/>
                        </a:solidFill>
                        <a:latin typeface="Times New Roman Regular" panose="02020503050405090304" charset="0"/>
                        <a:ea typeface="楷体" panose="02010609060101010101" pitchFamily="49" charset="-122"/>
                        <a:cs typeface="Times New Roman Regular" panose="02020503050405090304" charset="0"/>
                      </a:endParaRPr>
                    </a:p>
                  </a:txBody>
                  <a:tcPr marL="12700" marR="12700" marT="12700"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a:txBody>
                    <a:bodyPr/>
                    <a:lstStyle/>
                    <a:p>
                      <a:pPr indent="0" algn="ctr">
                        <a:buNone/>
                      </a:pPr>
                      <a:r>
                        <a:rPr lang="en-US" sz="1000" b="0">
                          <a:solidFill>
                            <a:srgbClr val="000000"/>
                          </a:solidFill>
                          <a:latin typeface="Times New Roman Regular" panose="02020503050405090304" charset="0"/>
                          <a:ea typeface="楷体" panose="02010609060101010101" pitchFamily="49" charset="-122"/>
                          <a:cs typeface="Times New Roman Regular" panose="02020503050405090304" charset="0"/>
                        </a:rPr>
                        <a:t>7%</a:t>
                      </a:r>
                      <a:endParaRPr lang="en-US" altLang="en-US" sz="1000" b="0">
                        <a:solidFill>
                          <a:srgbClr val="000000"/>
                        </a:solidFill>
                        <a:latin typeface="Times New Roman Regular" panose="02020503050405090304" charset="0"/>
                        <a:ea typeface="楷体" panose="02010609060101010101" pitchFamily="49" charset="-122"/>
                        <a:cs typeface="Times New Roman Regular" panose="02020503050405090304" charset="0"/>
                      </a:endParaRPr>
                    </a:p>
                  </a:txBody>
                  <a:tcPr marL="12700" marR="12700" marT="12700" anchor="ctr">
                    <a:lnL w="12700">
                      <a:solidFill>
                        <a:schemeClr val="tx1"/>
                      </a:solidFill>
                      <a:prstDash val="solid"/>
                    </a:lnL>
                    <a:lnR w="12700" cap="flat">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extLst>
                  <a:ext uri="{0D108BD9-81ED-4DB2-BD59-A6C34878D82A}">
                    <a16:rowId xmlns:a16="http://schemas.microsoft.com/office/drawing/2014/main" val="10005"/>
                  </a:ext>
                </a:extLst>
              </a:tr>
              <a:tr h="215900">
                <a:tc>
                  <a:txBody>
                    <a:bodyPr/>
                    <a:lstStyle/>
                    <a:p>
                      <a:pPr indent="0" algn="ctr">
                        <a:buNone/>
                      </a:pPr>
                      <a:r>
                        <a:rPr lang="zh-CN" sz="1000" b="0">
                          <a:solidFill>
                            <a:srgbClr val="000000"/>
                          </a:solidFill>
                          <a:latin typeface="Times New Roman Regular" panose="02020503050405090304" charset="0"/>
                          <a:ea typeface="楷体" panose="02010609060101010101" pitchFamily="49" charset="-122"/>
                          <a:cs typeface="Times New Roman Regular" panose="02020503050405090304" charset="0"/>
                        </a:rPr>
                        <a:t>同店客流量</a:t>
                      </a:r>
                    </a:p>
                    <a:p>
                      <a:pPr indent="0" algn="ctr">
                        <a:buNone/>
                      </a:pPr>
                      <a:r>
                        <a:rPr lang="zh-CN" sz="1000" b="0">
                          <a:solidFill>
                            <a:srgbClr val="000000"/>
                          </a:solidFill>
                          <a:latin typeface="Times New Roman Regular" panose="02020503050405090304" charset="0"/>
                          <a:ea typeface="楷体" panose="02010609060101010101" pitchFamily="49" charset="-122"/>
                          <a:cs typeface="Times New Roman Regular" panose="02020503050405090304" charset="0"/>
                        </a:rPr>
                        <a:t>yoy*</a:t>
                      </a:r>
                      <a:endParaRPr lang="zh-CN" altLang="en-US" sz="1000" b="0">
                        <a:solidFill>
                          <a:srgbClr val="000000"/>
                        </a:solidFill>
                        <a:latin typeface="Times New Roman Regular" panose="02020503050405090304" charset="0"/>
                        <a:ea typeface="楷体" panose="02010609060101010101" pitchFamily="49" charset="-122"/>
                        <a:cs typeface="Times New Roman Regular" panose="02020503050405090304" charset="0"/>
                      </a:endParaRPr>
                    </a:p>
                  </a:txBody>
                  <a:tcPr marL="12700" marR="12700" marT="12700"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a:txBody>
                    <a:bodyPr/>
                    <a:lstStyle/>
                    <a:p>
                      <a:pPr indent="0" algn="ctr">
                        <a:buNone/>
                      </a:pPr>
                      <a:endParaRPr lang="zh-CN" altLang="en-US" sz="1000">
                        <a:latin typeface="Times New Roman Regular" panose="02020503050405090304" charset="0"/>
                        <a:ea typeface="楷体" panose="02010609060101010101" pitchFamily="49" charset="-122"/>
                        <a:cs typeface="Times New Roman Regular" panose="02020503050405090304" charset="0"/>
                      </a:endParaRPr>
                    </a:p>
                  </a:txBody>
                  <a:tcPr marL="12700" marR="12700" marT="12700"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a:txBody>
                    <a:bodyPr/>
                    <a:lstStyle/>
                    <a:p>
                      <a:pPr indent="0" algn="ctr">
                        <a:buNone/>
                      </a:pPr>
                      <a:r>
                        <a:rPr lang="en-US" sz="1000" b="0">
                          <a:solidFill>
                            <a:srgbClr val="000000"/>
                          </a:solidFill>
                          <a:latin typeface="Times New Roman Regular" panose="02020503050405090304" charset="0"/>
                          <a:ea typeface="楷体" panose="02010609060101010101" pitchFamily="49" charset="-122"/>
                          <a:cs typeface="Times New Roman Regular" panose="02020503050405090304" charset="0"/>
                        </a:rPr>
                        <a:t>-13%</a:t>
                      </a:r>
                      <a:endParaRPr lang="en-US" altLang="en-US" sz="1000" b="0">
                        <a:solidFill>
                          <a:srgbClr val="000000"/>
                        </a:solidFill>
                        <a:latin typeface="Times New Roman Regular" panose="02020503050405090304" charset="0"/>
                        <a:ea typeface="楷体" panose="02010609060101010101" pitchFamily="49" charset="-122"/>
                        <a:cs typeface="Times New Roman Regular" panose="02020503050405090304" charset="0"/>
                      </a:endParaRPr>
                    </a:p>
                  </a:txBody>
                  <a:tcPr marL="12700" marR="12700" marT="12700"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a:txBody>
                    <a:bodyPr/>
                    <a:lstStyle/>
                    <a:p>
                      <a:pPr indent="0" algn="ctr">
                        <a:buNone/>
                      </a:pPr>
                      <a:r>
                        <a:rPr lang="en-US" sz="1000" b="0">
                          <a:solidFill>
                            <a:srgbClr val="000000"/>
                          </a:solidFill>
                          <a:latin typeface="Times New Roman Regular" panose="02020503050405090304" charset="0"/>
                          <a:ea typeface="楷体" panose="02010609060101010101" pitchFamily="49" charset="-122"/>
                          <a:cs typeface="Times New Roman Regular" panose="02020503050405090304" charset="0"/>
                        </a:rPr>
                        <a:t>-12%</a:t>
                      </a:r>
                      <a:endParaRPr lang="en-US" altLang="en-US" sz="1000" b="0">
                        <a:solidFill>
                          <a:srgbClr val="000000"/>
                        </a:solidFill>
                        <a:latin typeface="Times New Roman Regular" panose="02020503050405090304" charset="0"/>
                        <a:ea typeface="楷体" panose="02010609060101010101" pitchFamily="49" charset="-122"/>
                        <a:cs typeface="Times New Roman Regular" panose="02020503050405090304" charset="0"/>
                      </a:endParaRPr>
                    </a:p>
                  </a:txBody>
                  <a:tcPr marL="12700" marR="12700" marT="12700"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a:txBody>
                    <a:bodyPr/>
                    <a:lstStyle/>
                    <a:p>
                      <a:pPr indent="0" algn="ctr">
                        <a:buNone/>
                      </a:pPr>
                      <a:r>
                        <a:rPr lang="en-US" sz="1000" b="0">
                          <a:solidFill>
                            <a:srgbClr val="000000"/>
                          </a:solidFill>
                          <a:latin typeface="Times New Roman Regular" panose="02020503050405090304" charset="0"/>
                          <a:ea typeface="楷体" panose="02010609060101010101" pitchFamily="49" charset="-122"/>
                          <a:cs typeface="Times New Roman Regular" panose="02020503050405090304" charset="0"/>
                        </a:rPr>
                        <a:t>53%</a:t>
                      </a:r>
                      <a:endParaRPr lang="en-US" altLang="en-US" sz="1000" b="0">
                        <a:solidFill>
                          <a:srgbClr val="000000"/>
                        </a:solidFill>
                        <a:latin typeface="Times New Roman Regular" panose="02020503050405090304" charset="0"/>
                        <a:ea typeface="楷体" panose="02010609060101010101" pitchFamily="49" charset="-122"/>
                        <a:cs typeface="Times New Roman Regular" panose="02020503050405090304" charset="0"/>
                      </a:endParaRPr>
                    </a:p>
                  </a:txBody>
                  <a:tcPr marL="12700" marR="12700" marT="12700"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a:txBody>
                    <a:bodyPr/>
                    <a:lstStyle/>
                    <a:p>
                      <a:pPr indent="0" algn="ctr">
                        <a:buNone/>
                      </a:pPr>
                      <a:r>
                        <a:rPr lang="en-US" sz="1000" b="0">
                          <a:solidFill>
                            <a:srgbClr val="000000"/>
                          </a:solidFill>
                          <a:latin typeface="Times New Roman Regular" panose="02020503050405090304" charset="0"/>
                          <a:ea typeface="楷体" panose="02010609060101010101" pitchFamily="49" charset="-122"/>
                          <a:cs typeface="Times New Roman Regular" panose="02020503050405090304" charset="0"/>
                        </a:rPr>
                        <a:t>19%</a:t>
                      </a:r>
                      <a:endParaRPr lang="en-US" altLang="en-US" sz="1000" b="0">
                        <a:solidFill>
                          <a:srgbClr val="000000"/>
                        </a:solidFill>
                        <a:latin typeface="Times New Roman Regular" panose="02020503050405090304" charset="0"/>
                        <a:ea typeface="楷体" panose="02010609060101010101" pitchFamily="49" charset="-122"/>
                        <a:cs typeface="Times New Roman Regular" panose="02020503050405090304" charset="0"/>
                      </a:endParaRPr>
                    </a:p>
                  </a:txBody>
                  <a:tcPr marL="12700" marR="12700" marT="12700"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a:txBody>
                    <a:bodyPr/>
                    <a:lstStyle/>
                    <a:p>
                      <a:pPr indent="0" algn="ctr">
                        <a:buNone/>
                      </a:pPr>
                      <a:r>
                        <a:rPr lang="en-US" sz="1000" b="0">
                          <a:solidFill>
                            <a:srgbClr val="000000"/>
                          </a:solidFill>
                          <a:latin typeface="Times New Roman Regular" panose="02020503050405090304" charset="0"/>
                          <a:ea typeface="楷体" panose="02010609060101010101" pitchFamily="49" charset="-122"/>
                          <a:cs typeface="Times New Roman Regular" panose="02020503050405090304" charset="0"/>
                        </a:rPr>
                        <a:t>15%</a:t>
                      </a:r>
                      <a:endParaRPr lang="en-US" altLang="en-US" sz="1000" b="0">
                        <a:solidFill>
                          <a:srgbClr val="000000"/>
                        </a:solidFill>
                        <a:latin typeface="Times New Roman Regular" panose="02020503050405090304" charset="0"/>
                        <a:ea typeface="楷体" panose="02010609060101010101" pitchFamily="49" charset="-122"/>
                        <a:cs typeface="Times New Roman Regular" panose="02020503050405090304" charset="0"/>
                      </a:endParaRPr>
                    </a:p>
                  </a:txBody>
                  <a:tcPr marL="12700" marR="12700" marT="12700" anchor="ctr">
                    <a:lnL w="12700">
                      <a:solidFill>
                        <a:schemeClr val="tx1"/>
                      </a:solidFill>
                      <a:prstDash val="solid"/>
                    </a:lnL>
                    <a:lnR w="12700" cap="flat">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extLst>
                  <a:ext uri="{0D108BD9-81ED-4DB2-BD59-A6C34878D82A}">
                    <a16:rowId xmlns:a16="http://schemas.microsoft.com/office/drawing/2014/main" val="10006"/>
                  </a:ext>
                </a:extLst>
              </a:tr>
              <a:tr h="215900">
                <a:tc gridSpan="7">
                  <a:txBody>
                    <a:bodyPr/>
                    <a:lstStyle/>
                    <a:p>
                      <a:pPr indent="0" algn="l">
                        <a:buNone/>
                      </a:pPr>
                      <a:r>
                        <a:rPr lang="zh-CN" sz="1000" b="0">
                          <a:solidFill>
                            <a:srgbClr val="000000"/>
                          </a:solidFill>
                          <a:latin typeface="Times New Roman Regular" panose="02020503050405090304" charset="0"/>
                          <a:ea typeface="楷体" panose="02010609060101010101" pitchFamily="49" charset="-122"/>
                        </a:rPr>
                        <a:t>新城控股（吾悦广场）</a:t>
                      </a:r>
                      <a:endParaRPr lang="zh-CN" altLang="en-US" sz="1000" b="0">
                        <a:solidFill>
                          <a:srgbClr val="000000"/>
                        </a:solidFill>
                        <a:latin typeface="Times New Roman Regular" panose="02020503050405090304" charset="0"/>
                        <a:ea typeface="楷体" panose="02010609060101010101" pitchFamily="49" charset="-122"/>
                      </a:endParaRPr>
                    </a:p>
                  </a:txBody>
                  <a:tcPr marL="12700" marR="12700" marT="12700" anchor="ctr">
                    <a:lnL w="12700">
                      <a:solidFill>
                        <a:schemeClr val="tx1"/>
                      </a:solidFill>
                      <a:prstDash val="solid"/>
                    </a:lnL>
                    <a:lnR w="12700" cap="flat">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hMerge="1">
                  <a:txBody>
                    <a:bodyPr/>
                    <a:lstStyle/>
                    <a:p>
                      <a:endParaRPr lang="zh-CN"/>
                    </a:p>
                  </a:txBody>
                  <a:tcPr marL="12700" marR="12700" marT="12700"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hMerge="1">
                  <a:txBody>
                    <a:bodyPr/>
                    <a:lstStyle/>
                    <a:p>
                      <a:endParaRPr lang="zh-CN"/>
                    </a:p>
                  </a:txBody>
                  <a:tcPr marL="12700" marR="12700" marT="12700"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hMerge="1">
                  <a:txBody>
                    <a:bodyPr/>
                    <a:lstStyle/>
                    <a:p>
                      <a:endParaRPr lang="zh-CN"/>
                    </a:p>
                  </a:txBody>
                  <a:tcPr marL="12700" marR="12700" marT="12700"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hMerge="1">
                  <a:txBody>
                    <a:bodyPr/>
                    <a:lstStyle/>
                    <a:p>
                      <a:endParaRPr lang="zh-CN"/>
                    </a:p>
                  </a:txBody>
                  <a:tcPr marL="12700" marR="12700" marT="12700"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hMerge="1">
                  <a:txBody>
                    <a:bodyPr/>
                    <a:lstStyle/>
                    <a:p>
                      <a:endParaRPr lang="zh-CN"/>
                    </a:p>
                  </a:txBody>
                  <a:tcPr marL="12700" marR="12700" marT="12700"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hMerge="1">
                  <a:txBody>
                    <a:bodyPr/>
                    <a:lstStyle/>
                    <a:p>
                      <a:endParaRPr lang="zh-CN"/>
                    </a:p>
                  </a:txBody>
                  <a:tcPr marL="12700" marR="12700" marT="12700" anchor="ctr">
                    <a:lnL w="12700">
                      <a:solidFill>
                        <a:schemeClr val="tx1"/>
                      </a:solidFill>
                      <a:prstDash val="solid"/>
                    </a:lnL>
                    <a:lnR w="12700" cap="flat">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extLst>
                  <a:ext uri="{0D108BD9-81ED-4DB2-BD59-A6C34878D82A}">
                    <a16:rowId xmlns:a16="http://schemas.microsoft.com/office/drawing/2014/main" val="10007"/>
                  </a:ext>
                </a:extLst>
              </a:tr>
              <a:tr h="215900">
                <a:tc>
                  <a:txBody>
                    <a:bodyPr/>
                    <a:lstStyle/>
                    <a:p>
                      <a:pPr indent="0" algn="ctr">
                        <a:buNone/>
                      </a:pPr>
                      <a:r>
                        <a:rPr lang="zh-CN" sz="1000" b="0">
                          <a:solidFill>
                            <a:srgbClr val="000000"/>
                          </a:solidFill>
                          <a:latin typeface="Times New Roman Regular" panose="02020503050405090304" charset="0"/>
                          <a:ea typeface="楷体" panose="02010609060101010101" pitchFamily="49" charset="-122"/>
                          <a:cs typeface="Times New Roman Regular" panose="02020503050405090304" charset="0"/>
                        </a:rPr>
                        <a:t>同店销售额</a:t>
                      </a:r>
                    </a:p>
                    <a:p>
                      <a:pPr indent="0" algn="ctr">
                        <a:buNone/>
                      </a:pPr>
                      <a:r>
                        <a:rPr lang="zh-CN" sz="1000" b="0">
                          <a:solidFill>
                            <a:srgbClr val="000000"/>
                          </a:solidFill>
                          <a:latin typeface="Times New Roman Regular" panose="02020503050405090304" charset="0"/>
                          <a:ea typeface="楷体" panose="02010609060101010101" pitchFamily="49" charset="-122"/>
                          <a:cs typeface="Times New Roman Regular" panose="02020503050405090304" charset="0"/>
                        </a:rPr>
                        <a:t>yoy*</a:t>
                      </a:r>
                      <a:endParaRPr lang="zh-CN" altLang="en-US" sz="1000" b="0">
                        <a:solidFill>
                          <a:srgbClr val="000000"/>
                        </a:solidFill>
                        <a:latin typeface="Times New Roman Regular" panose="02020503050405090304" charset="0"/>
                        <a:ea typeface="楷体" panose="02010609060101010101" pitchFamily="49" charset="-122"/>
                        <a:cs typeface="Times New Roman Regular" panose="02020503050405090304" charset="0"/>
                      </a:endParaRPr>
                    </a:p>
                  </a:txBody>
                  <a:tcPr marL="12700" marR="12700" marT="12700"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a:txBody>
                    <a:bodyPr/>
                    <a:lstStyle/>
                    <a:p>
                      <a:pPr indent="0" algn="ctr">
                        <a:buNone/>
                      </a:pPr>
                      <a:endParaRPr lang="zh-CN" altLang="en-US" sz="1000">
                        <a:latin typeface="Times New Roman Regular" panose="02020503050405090304" charset="0"/>
                        <a:ea typeface="楷体" panose="02010609060101010101" pitchFamily="49" charset="-122"/>
                        <a:cs typeface="Times New Roman Regular" panose="02020503050405090304" charset="0"/>
                      </a:endParaRPr>
                    </a:p>
                  </a:txBody>
                  <a:tcPr marL="12700" marR="12700" marT="12700"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a:txBody>
                    <a:bodyPr/>
                    <a:lstStyle/>
                    <a:p>
                      <a:pPr indent="0" algn="ctr">
                        <a:buNone/>
                      </a:pPr>
                      <a:endParaRPr lang="zh-CN" altLang="en-US" sz="1000">
                        <a:latin typeface="Times New Roman Regular" panose="02020503050405090304" charset="0"/>
                        <a:ea typeface="楷体" panose="02010609060101010101" pitchFamily="49" charset="-122"/>
                        <a:cs typeface="Times New Roman Regular" panose="02020503050405090304" charset="0"/>
                      </a:endParaRPr>
                    </a:p>
                  </a:txBody>
                  <a:tcPr marL="12700" marR="12700" marT="12700"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a:txBody>
                    <a:bodyPr/>
                    <a:lstStyle/>
                    <a:p>
                      <a:pPr indent="0" algn="ctr">
                        <a:buNone/>
                      </a:pPr>
                      <a:r>
                        <a:rPr lang="en-US" sz="1000" b="0">
                          <a:solidFill>
                            <a:srgbClr val="000000"/>
                          </a:solidFill>
                          <a:latin typeface="Times New Roman Regular" panose="02020503050405090304" charset="0"/>
                          <a:ea typeface="楷体" panose="02010609060101010101" pitchFamily="49" charset="-122"/>
                          <a:cs typeface="Times New Roman Regular" panose="02020503050405090304" charset="0"/>
                        </a:rPr>
                        <a:t>-4%</a:t>
                      </a:r>
                      <a:endParaRPr lang="en-US" altLang="en-US" sz="1000" b="0">
                        <a:solidFill>
                          <a:srgbClr val="000000"/>
                        </a:solidFill>
                        <a:latin typeface="Times New Roman Regular" panose="02020503050405090304" charset="0"/>
                        <a:ea typeface="楷体" panose="02010609060101010101" pitchFamily="49" charset="-122"/>
                        <a:cs typeface="Times New Roman Regular" panose="02020503050405090304" charset="0"/>
                      </a:endParaRPr>
                    </a:p>
                  </a:txBody>
                  <a:tcPr marL="12700" marR="12700" marT="12700"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a:txBody>
                    <a:bodyPr/>
                    <a:lstStyle/>
                    <a:p>
                      <a:pPr indent="0" algn="ctr">
                        <a:buNone/>
                      </a:pPr>
                      <a:r>
                        <a:rPr lang="en-US" sz="1000" b="0">
                          <a:solidFill>
                            <a:srgbClr val="000000"/>
                          </a:solidFill>
                          <a:latin typeface="Times New Roman Regular" panose="02020503050405090304" charset="0"/>
                          <a:ea typeface="楷体" panose="02010609060101010101" pitchFamily="49" charset="-122"/>
                          <a:cs typeface="Times New Roman Regular" panose="02020503050405090304" charset="0"/>
                        </a:rPr>
                        <a:t>31%</a:t>
                      </a:r>
                      <a:endParaRPr lang="en-US" altLang="en-US" sz="1000" b="0">
                        <a:solidFill>
                          <a:srgbClr val="000000"/>
                        </a:solidFill>
                        <a:latin typeface="Times New Roman Regular" panose="02020503050405090304" charset="0"/>
                        <a:ea typeface="楷体" panose="02010609060101010101" pitchFamily="49" charset="-122"/>
                        <a:cs typeface="Times New Roman Regular" panose="02020503050405090304" charset="0"/>
                      </a:endParaRPr>
                    </a:p>
                  </a:txBody>
                  <a:tcPr marL="12700" marR="12700" marT="12700"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a:txBody>
                    <a:bodyPr/>
                    <a:lstStyle/>
                    <a:p>
                      <a:pPr indent="0" algn="ctr">
                        <a:buNone/>
                      </a:pPr>
                      <a:r>
                        <a:rPr lang="en-US" sz="1000" b="0">
                          <a:solidFill>
                            <a:srgbClr val="000000"/>
                          </a:solidFill>
                          <a:latin typeface="Times New Roman Regular" panose="02020503050405090304" charset="0"/>
                          <a:ea typeface="楷体" panose="02010609060101010101" pitchFamily="49" charset="-122"/>
                          <a:cs typeface="Times New Roman Regular" panose="02020503050405090304" charset="0"/>
                        </a:rPr>
                        <a:t>16%</a:t>
                      </a:r>
                      <a:endParaRPr lang="en-US" altLang="en-US" sz="1000" b="0">
                        <a:solidFill>
                          <a:srgbClr val="000000"/>
                        </a:solidFill>
                        <a:latin typeface="Times New Roman Regular" panose="02020503050405090304" charset="0"/>
                        <a:ea typeface="楷体" panose="02010609060101010101" pitchFamily="49" charset="-122"/>
                        <a:cs typeface="Times New Roman Regular" panose="02020503050405090304" charset="0"/>
                      </a:endParaRPr>
                    </a:p>
                  </a:txBody>
                  <a:tcPr marL="12700" marR="12700" marT="12700" anchor="ctr">
                    <a:lnL w="12700">
                      <a:solidFill>
                        <a:schemeClr val="tx1"/>
                      </a:solidFill>
                      <a:prstDash val="solid"/>
                    </a:lnL>
                    <a:lnR w="12700">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tc>
                  <a:txBody>
                    <a:bodyPr/>
                    <a:lstStyle/>
                    <a:p>
                      <a:pPr indent="0" algn="ctr">
                        <a:buNone/>
                      </a:pPr>
                      <a:r>
                        <a:rPr lang="zh-CN" sz="1000" b="0">
                          <a:solidFill>
                            <a:srgbClr val="000000"/>
                          </a:solidFill>
                          <a:latin typeface="Times New Roman Regular" panose="02020503050405090304" charset="0"/>
                          <a:ea typeface="楷体" panose="02010609060101010101" pitchFamily="49" charset="-122"/>
                        </a:rPr>
                        <a:t>增长</a:t>
                      </a:r>
                      <a:endParaRPr lang="zh-CN" altLang="en-US" sz="1000" b="0">
                        <a:solidFill>
                          <a:srgbClr val="000000"/>
                        </a:solidFill>
                        <a:latin typeface="Times New Roman Regular" panose="02020503050405090304" charset="0"/>
                        <a:ea typeface="楷体" panose="02010609060101010101" pitchFamily="49" charset="-122"/>
                      </a:endParaRPr>
                    </a:p>
                  </a:txBody>
                  <a:tcPr marL="12700" marR="12700" marT="12700" anchor="ctr">
                    <a:lnL w="12700">
                      <a:solidFill>
                        <a:schemeClr val="tx1"/>
                      </a:solidFill>
                      <a:prstDash val="solid"/>
                    </a:lnL>
                    <a:lnR w="12700" cap="flat">
                      <a:solidFill>
                        <a:schemeClr val="tx1"/>
                      </a:solidFill>
                      <a:prstDash val="solid"/>
                    </a:lnR>
                    <a:lnT w="12700" cap="flat">
                      <a:solidFill>
                        <a:schemeClr val="tx1"/>
                      </a:solidFill>
                      <a:prstDash val="solid"/>
                    </a:lnT>
                    <a:lnB w="12700" cap="flat">
                      <a:solidFill>
                        <a:schemeClr val="tx1"/>
                      </a:solidFill>
                      <a:prstDash val="soli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6" name="文本框 5"/>
          <p:cNvSpPr txBox="1"/>
          <p:nvPr/>
        </p:nvSpPr>
        <p:spPr>
          <a:xfrm>
            <a:off x="1778069" y="4573477"/>
            <a:ext cx="3207812" cy="213995"/>
          </a:xfrm>
          <a:prstGeom prst="rect">
            <a:avLst/>
          </a:prstGeom>
          <a:noFill/>
        </p:spPr>
        <p:txBody>
          <a:bodyPr wrap="square" rtlCol="0">
            <a:spAutoFit/>
          </a:bodyPr>
          <a:lstStyle/>
          <a:p>
            <a:pPr marR="0" indent="0" defTabSz="457200" fontAlgn="auto">
              <a:lnSpc>
                <a:spcPct val="100000"/>
              </a:lnSpc>
              <a:spcBef>
                <a:spcPts val="0"/>
              </a:spcBef>
              <a:spcAft>
                <a:spcPts val="0"/>
              </a:spcAft>
              <a:buClrTx/>
              <a:buSzTx/>
              <a:buFontTx/>
              <a:buNone/>
              <a:defRPr/>
            </a:pPr>
            <a:r>
              <a:rPr kumimoji="0" lang="en-US" altLang="zh-CN" sz="800" b="0" i="0" kern="1200" cap="none" spc="0" normalizeH="0" baseline="0" noProof="0" dirty="0">
                <a:solidFill>
                  <a:prstClr val="black"/>
                </a:solidFill>
                <a:latin typeface="Arial" panose="020B0604020202090204" pitchFamily="34" charset="0"/>
                <a:ea typeface="楷体_GB2312" panose="02010609030101010101" pitchFamily="49" charset="-122"/>
                <a:cs typeface="Arial" panose="020B0604020202090204" pitchFamily="34" charset="0"/>
              </a:rPr>
              <a:t>*</a:t>
            </a:r>
            <a:r>
              <a:rPr kumimoji="0" lang="zh-CN" altLang="en-US" sz="800" b="0" i="0" kern="1200" cap="none" spc="0" normalizeH="0" baseline="0" noProof="0" dirty="0">
                <a:solidFill>
                  <a:prstClr val="black"/>
                </a:solidFill>
                <a:latin typeface="Arial" panose="020B0604020202090204" pitchFamily="34" charset="0"/>
                <a:ea typeface="楷体_GB2312" panose="02010609030101010101" pitchFamily="49" charset="-122"/>
                <a:cs typeface="Arial" panose="020B0604020202090204" pitchFamily="34" charset="0"/>
              </a:rPr>
              <a:t>系剔除门店数量增长后计算得出</a:t>
            </a:r>
          </a:p>
        </p:txBody>
      </p:sp>
      <p:sp>
        <p:nvSpPr>
          <p:cNvPr id="7" name="矩形 6"/>
          <p:cNvSpPr/>
          <p:nvPr/>
        </p:nvSpPr>
        <p:spPr>
          <a:xfrm>
            <a:off x="4617831" y="1999989"/>
            <a:ext cx="4048788" cy="194438"/>
          </a:xfrm>
          <a:prstGeom prst="rect">
            <a:avLst/>
          </a:prstGeom>
          <a:solidFill>
            <a:srgbClr val="403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sz="1200" b="0" i="0" u="none" strike="noStrike" kern="1200" cap="none" spc="0" normalizeH="0" baseline="0" noProof="0" dirty="0">
                <a:ln>
                  <a:noFill/>
                </a:ln>
                <a:solidFill>
                  <a:prstClr val="white"/>
                </a:solidFill>
                <a:effectLst/>
                <a:uLnTx/>
                <a:uFillTx/>
                <a:latin typeface="楷体_GB2312" panose="02010609030101010101" pitchFamily="49" charset="-122"/>
                <a:ea typeface="楷体_GB2312" panose="02010609030101010101" pitchFamily="49" charset="-122"/>
                <a:cs typeface="+mn-cs"/>
              </a:rPr>
              <a:t>社零同比与蓝领用工量（滞后一期）同比增减</a:t>
            </a:r>
          </a:p>
        </p:txBody>
      </p:sp>
      <p:graphicFrame>
        <p:nvGraphicFramePr>
          <p:cNvPr id="8" name="图表 7"/>
          <p:cNvGraphicFramePr/>
          <p:nvPr/>
        </p:nvGraphicFramePr>
        <p:xfrm>
          <a:off x="4329430" y="2294255"/>
          <a:ext cx="4624705" cy="2580005"/>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NjRlNmU1YmFmMjE3YWQ4YWFhNmI1NmExMWY2MDljOTEifQ=="/>
</p:tagLst>
</file>

<file path=ppt/tags/tag2.xml><?xml version="1.0" encoding="utf-8"?>
<p:tagLst xmlns:a="http://schemas.openxmlformats.org/drawingml/2006/main" xmlns:r="http://schemas.openxmlformats.org/officeDocument/2006/relationships" xmlns:p="http://schemas.openxmlformats.org/presentationml/2006/main">
  <p:tag name="TABLE_ENDDRAG_ORIGIN_RECT" val="426*218"/>
  <p:tag name="TABLE_ENDDRAG_RECT" val="146*183*426*218"/>
</p:tagLst>
</file>

<file path=ppt/tags/tag3.xml><?xml version="1.0" encoding="utf-8"?>
<p:tagLst xmlns:a="http://schemas.openxmlformats.org/drawingml/2006/main" xmlns:r="http://schemas.openxmlformats.org/officeDocument/2006/relationships" xmlns:p="http://schemas.openxmlformats.org/presentationml/2006/main">
  <p:tag name="TABLE_ENDDRAG_ORIGIN_RECT" val="318*152"/>
  <p:tag name="TABLE_ENDDRAG_RECT" val="5*207*318*152"/>
</p:tagLst>
</file>

<file path=ppt/theme/theme1.xml><?xml version="1.0" encoding="utf-8"?>
<a:theme xmlns:a="http://schemas.openxmlformats.org/drawingml/2006/main" name="Office 主题">
  <a:themeElements>
    <a:clrScheme name="办公室">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办公室">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办公室">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Narrow"/>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Narrow"/>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6.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7.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Narrow"/>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8.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9.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10.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otalTime>68</TotalTime>
  <Words>2264</Words>
  <Application>Microsoft Office PowerPoint</Application>
  <PresentationFormat>全屏显示(16:9)</PresentationFormat>
  <Paragraphs>118</Paragraphs>
  <Slides>14</Slides>
  <Notes>1</Notes>
  <HiddenSlides>0</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1</vt:i4>
      </vt:variant>
      <vt:variant>
        <vt:lpstr>幻灯片标题</vt:lpstr>
      </vt:variant>
      <vt:variant>
        <vt:i4>14</vt:i4>
      </vt:variant>
    </vt:vector>
  </HeadingPairs>
  <TitlesOfParts>
    <vt:vector size="22" baseType="lpstr">
      <vt:lpstr>Times New Roman Regular</vt:lpstr>
      <vt:lpstr>楷体_GB2312</vt:lpstr>
      <vt:lpstr>微软雅黑</vt:lpstr>
      <vt:lpstr>Arial</vt:lpstr>
      <vt:lpstr>Calibri</vt:lpstr>
      <vt:lpstr>Wingdings</vt:lpstr>
      <vt:lpstr>Office 主题</vt:lpstr>
      <vt:lpstr>Worksheet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深圳抑语科技</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cheng bi</dc:creator>
  <cp:lastModifiedBy>jing yao</cp:lastModifiedBy>
  <cp:revision>251</cp:revision>
  <dcterms:created xsi:type="dcterms:W3CDTF">2025-11-24T15:51:53Z</dcterms:created>
  <dcterms:modified xsi:type="dcterms:W3CDTF">2025-11-24T17:29:23Z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2052-6.2.0.8299</vt:lpwstr>
  </property>
  <property fmtid="{D5CDD505-2E9C-101B-9397-08002B2CF9AE}" pid="3" name="ICV">
    <vt:lpwstr>DFC15DC638994DF99E7FC59D4DB5B44C</vt:lpwstr>
  </property>
</Properties>
</file>